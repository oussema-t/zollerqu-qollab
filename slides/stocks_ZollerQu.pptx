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Hi, we are team ZollerQu. Which stocks should a fund buy? We turn this into an Ising problem, one qubit per asset, and sample it with QAOA on the IonQ Forte 1 noise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Banks and funds build portfolios every day. They want low risk and a good return. Risk comes from assets that fall together. Twelve assets give 4,096 portfolios; twenty-nine give over five hundred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asset is one qubit: zero means buy, one means skip. Risk minus return becomes an Ising energy with one coupling per pair. Checking every portfolio, the best is Apple plus Treasury bonds.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circuit is QAOA: Hadamards, a cost layer with one ZZ gate per pair, then a mixer. At twelve qubits the best is CVaR-QAOA; at twenty-nine, linear-ramp QAOA with angles from twelve.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tested eight circuit types, six kinds of QAOA and two imaginary-time methods. Five settings made the difference: the mixer sign, a CVaR objective, more layers, a wider ramp range, and choosing angles by CVaR.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Trapped ions link every pair of qubits directly. One layer needs 66 two-qubit gates; on a heavy-hex grid it needs 285: 4.3 times more, and 6.5 times at twenty-nine qubits.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IonQ Forte 1 noise model, 7 of 1,000 shots were the exact best portfolio, 29 times more than random guessing. The noiseless simulation gives 58, so noise costs a factor of 8. Greedy search is in the same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 twenty-nine assets the three-layer circuit finds the best portfolio in 7 percent of runs, classical methods in 61. With more layers, the noiseless circuit reaches 90 percent at sixteen. That needs six and a half thousand two-qubit gates, far beyond today's noise. No advantage is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protected the circuit with the Iceberg error-detection code: twelve logical qubits on 17. Every state-preparation, check and readout fault is caught, and four in five gate faults. The price is more gates; how it does under the IonQ noise model is our next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[CUT TO LIVE QOLLAB DEMO] Here is our Qollab project; the code is in main.py. We press Run, choose the IonQ Forte 1 noise model, and get counts and plots. [BACK TO SLIDE] Limits: a noisy simulator and strong classical baselines. Next: Iceberg under real noise, and shorter circuits.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attention. This effort is supported by Qollab and IonQ.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Portfolio Selection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with QAOA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Which stocks to buy? One qubit per asset,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9B4C6"/>
                </a:solidFill>
                <a:latin typeface="Arial"/>
              </a:rPr>
              <a:t>sampled on the IonQ Forte 1 noise model.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64820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Network picture of the 12 assets: 12 dots on a circle, every pair joined by a line; thicker lines mean the two assets move more strongly togeth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Which assets should a fund buy?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80898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Banks and funds build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portfolios every day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7538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3652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They want low risk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and a good return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69874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81400"/>
            <a:ext cx="448056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Risk comes from assets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Arial"/>
              </a:rPr>
              <a:t>that fall together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90288"/>
            <a:ext cx="4754880" cy="670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Every extra asset</a:t>
            </a:r>
          </a:p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doubles the choices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4243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AAPL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Apple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5119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5119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GLD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5995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995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XOM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68712" y="1645920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8712" y="1737360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JPM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bank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4243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243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TLT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US bonds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5119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JNJ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5995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95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PG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consumer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8712" y="2551176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2642616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XLU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utilities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4243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4243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VNQ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real estate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5119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FCX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copper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5995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5995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MSFT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Microsoft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68712" y="3456432"/>
            <a:ext cx="1371600" cy="768096"/>
          </a:xfrm>
          <a:prstGeom prst="roundRect">
            <a:avLst>
              <a:gd name="adj" fmla="val 14285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68712" y="3547872"/>
            <a:ext cx="1371600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SLV</a:t>
            </a:r>
          </a:p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silver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42432" y="4480560"/>
            <a:ext cx="228600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4,096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42432" y="51247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12 assets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4480560"/>
            <a:ext cx="3383280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536,870,912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1247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portfolios, 29 assets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PROBLEM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Data: weekly prices of 12 US stocks and funds, 2006-2014 (Kaggle Huge Stock Market Dataset, CC0)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One qubit per asset, one Ising energy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Score to minimise: risk minus return</a:t>
            </a:r>
          </a:p>
        </p:txBody>
      </p:sp>
      <p:pic>
        <p:nvPicPr>
          <p:cNvPr id="4" name="Picture 3" descr="Formula: J of x equals x transposed C x over n squared V ref (the risk), minus eta times mu transposed x over n sigma ref (the return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20"/>
            <a:ext cx="5669280" cy="1325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7355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The same score as an Ising energy</a:t>
            </a:r>
          </a:p>
        </p:txBody>
      </p:sp>
      <p:pic>
        <p:nvPicPr>
          <p:cNvPr id="6" name="Picture 5" descr="Formula: E of s equals the sum over pairs of J i j times s i s j, plus the sum of h i times s i, plus a constan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566928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17720"/>
            <a:ext cx="5852160" cy="655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 qubit = 1 asset:  </a:t>
            </a:r>
            <a:r>
              <a:rPr sz="2000" b="0">
                <a:solidFill>
                  <a:srgbClr val="FFFFFF"/>
                </a:solidFill>
                <a:latin typeface="Arial"/>
              </a:rPr>
              <a:t>|0&gt; buy,  |1&gt; skip</a:t>
            </a:r>
          </a:p>
          <a:p>
            <a:pPr algn="l">
              <a:lnSpc>
                <a:spcPts val="2400"/>
              </a:lnSpc>
              <a:spcBef>
                <a:spcPts val="36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12 qubits  ·  66 couplings  ·  4,096 states</a:t>
            </a:r>
          </a:p>
        </p:txBody>
      </p:sp>
      <p:pic>
        <p:nvPicPr>
          <p:cNvPr id="8" name="Picture 7" descr="Network of the 12 assets with every pair linked. Two filled dots mark the exact best portfolio: buy AAPL and TLT; the other ten are skipped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463040"/>
            <a:ext cx="5029200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Exact best portfolio found by checking all 4,096 portfolios (classical); risk and return from 2006-2014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QAOA circuits, trained offline, one IonQ job</a:t>
            </a:r>
          </a:p>
        </p:txBody>
      </p:sp>
      <p:pic>
        <p:nvPicPr>
          <p:cNvPr id="3" name="Picture 2" descr="Circuit sketch: four of the twelve qubit lines. Each starts with an H gate, passes a cost layer block (one ZZ gate per pair, 66, and one Z rotation per qubit) and a mixer block (RX on every qubit), repeated three times, then is measured; 1,000 shots give 1,000 portfolio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11094415" cy="2377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COMPARED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8 circuit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58 circuits, trained offline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classical simulator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5858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BEST AT 12 QUBITS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9791A"/>
                </a:solidFill>
                <a:latin typeface="Arial"/>
              </a:rPr>
              <a:t>CVaR-QAOA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5858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layers, 198 two-qubit gates,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sent to IonQ as one job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7" y="4023360"/>
            <a:ext cx="3545738" cy="1572768"/>
          </a:xfrm>
          <a:prstGeom prst="roundRect">
            <a:avLst>
              <a:gd name="adj" fmla="val 697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7" y="4169664"/>
            <a:ext cx="317997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AT 16, 20, 29 QUBITS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0197" y="4471416"/>
            <a:ext cx="3179978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7" y="4843272"/>
            <a:ext cx="31799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Angles reused from 12 qubits,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no new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QUANTUM 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78815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qubits: 58 circuits + a random-guess control, noiseless simulation · 16-29 qubits: server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8 circuit types, 5 settings that mattered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663440" cy="3749040"/>
          </a:xfrm>
          <a:prstGeom prst="roundRect">
            <a:avLst>
              <a:gd name="adj" fmla="val 2926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429768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58 circuits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57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6 kinds of QAOA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56184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7497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Linear-ramp QAOA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5445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7675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Free-angle QAOA, 5 optimisers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147060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0601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CVaR-QAOA (α = 0.1, 0.25)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4396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35280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Multi-angle QAOA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73227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4540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Counterdiabatic QAOA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40248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93801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XY-mixer QAOA (keeps balance)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035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2 imaginary-time methods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7564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6695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VarQITE on the QAOA angles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504901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621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varQITE ansatz (IonQ + ORNL)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1554480"/>
            <a:ext cx="61081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Settings we changed (noiseless)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1962912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15000" y="1999488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Mixer sign (12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as written → opposite sign: 0.004 % → 1.8 % per shot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2120" y="2639568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15000" y="2676144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Objective (12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mean energy → CVaR 0.1: 1.8 % → 5.8 % per shot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2120" y="3316224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5000" y="3352800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Layers (29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3 → 16: 6.6 % → 90 % of runs (noiseless)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3992880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15000" y="4029456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Ramp range (29 assets)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up to 1.5 → 3.0: 45 % → 90 % of runs at 16 layers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32120" y="4669536"/>
            <a:ext cx="6108192" cy="621792"/>
          </a:xfrm>
          <a:prstGeom prst="roundRect">
            <a:avLst>
              <a:gd name="adj" fmla="val 11764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15000" y="4706112"/>
            <a:ext cx="5806440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Angle choice (29 assets, 3 layers)</a:t>
            </a:r>
          </a:p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by energy → by CVaR: 9.9 % → 17.9 % of runs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WHAT WE TRIED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12 assets: noiseless simulation, 10 Oct 2026 · 29 assets: noiseless server simulation, 11 Oct 2026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per shot = chance that one shot is the best portfolio · runs = 1,000-shot runs that contain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All-to-all links: 4.3× fewer two-qubit gates</a:t>
            </a:r>
          </a:p>
        </p:txBody>
      </p:sp>
      <p:pic>
        <p:nvPicPr>
          <p:cNvPr id="3" name="Picture 2" descr="Column chart of two-qubit gates in one QAOA layer. At 12 qubits: 66 on all-to-all against 285 on a heavy-hex grid. At 29 qubits: 244 against 1,576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400800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43800" y="1554480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4.3×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43800" y="2426208"/>
            <a:ext cx="406908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two-qubit gates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at 12 qubits (66 vs 285)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0" y="3236976"/>
            <a:ext cx="4069080" cy="853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17A2B8"/>
                </a:solidFill>
                <a:latin typeface="Arial"/>
              </a:rPr>
              <a:t>6.5×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4108704"/>
            <a:ext cx="406908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fewer at 29 qubits (244 vs 1,576)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61467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66 pairs = 66 gates, no SWAPs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WHY IONQ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Gate counts from transpiling only (Qiskit 2.5.2, level 1); heavy-hex = median of 5 routing seeds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on a generic heavy-hex map. No circuit was run on a heavy-hex device.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IonQ noise model: 29× random guessing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406908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5564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84832"/>
            <a:ext cx="3566160" cy="768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48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9791A"/>
                </a:solidFill>
                <a:latin typeface="Arial"/>
              </a:rPr>
              <a:t>7 / 1,000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71216"/>
            <a:ext cx="35661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shots are the exact best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of 4,096 portfolios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1984"/>
            <a:ext cx="3566160" cy="890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29×  </a:t>
            </a:r>
            <a:r>
              <a:rPr sz="1800" b="0">
                <a:solidFill>
                  <a:srgbClr val="A9B4C6"/>
                </a:solidFill>
                <a:latin typeface="Arial"/>
              </a:rPr>
              <a:t>random guessing</a:t>
            </a:r>
          </a:p>
          <a:p>
            <a:pPr algn="l">
              <a:lnSpc>
                <a:spcPts val="3360"/>
              </a:lnSpc>
              <a:spcBef>
                <a:spcPts val="288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58 / 1,000  </a:t>
            </a:r>
            <a:r>
              <a:rPr sz="1800" b="0">
                <a:solidFill>
                  <a:srgbClr val="A9B4C6"/>
                </a:solidFill>
                <a:latin typeface="Arial"/>
              </a:rPr>
              <a:t>noiseless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95 % interval: 3-14 per 1,000</a:t>
            </a:r>
          </a:p>
        </p:txBody>
      </p:sp>
      <p:pic>
        <p:nvPicPr>
          <p:cNvPr id="9" name="Picture 8" descr="Dot chart on a log scale: evaluations until the best portfolio is first found, median, fewer is better. Noiseless simulation of the same circuit 12; greedy descent 73; IonQ Forte 1 noise model 99 with a 95 % interval from 48 to 246; simulated annealing 1,516; random guessing 2,839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192" y="1554480"/>
            <a:ext cx="6675120" cy="3794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MAIN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IonQ Forte 1 noise model (Qollab): 1 job, 1,000 shots, 11 Oct 2026 · noiseless simulation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median of 50 runs. Sampler medians come from the hit rate per shot. Training not counted.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29 qubits: more layers help, only without noise</a:t>
            </a:r>
          </a:p>
        </p:txBody>
      </p:sp>
      <p:pic>
        <p:nvPicPr>
          <p:cNvPr id="3" name="Picture 2" descr="Line chart for 29 assets: share of 1,000-shot runs that contain the exact best portfolio, against the number of layers, in noiseless simulation. With the ramp tuned on a wider grid: 6.6 % at 3 layers, 62 % at 12, 90 % at 16, 99.6 % at 24 and 100 % at 32. With the ramp as in the paper: 45 % at 16 layers. Classical methods with 1,000 evaluations: 61 %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72768"/>
            <a:ext cx="405079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Read with care</a:t>
            </a:r>
          </a:p>
        </p:txBody>
      </p:sp>
      <p:sp>
        <p:nvSpPr>
          <p:cNvPr id="5" name="Oval 4"/>
          <p:cNvSpPr/>
          <p:nvPr/>
        </p:nvSpPr>
        <p:spPr>
          <a:xfrm>
            <a:off x="7589520" y="215950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2072640"/>
            <a:ext cx="377647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Noiseless simulation only</a:t>
            </a:r>
          </a:p>
        </p:txBody>
      </p:sp>
      <p:sp>
        <p:nvSpPr>
          <p:cNvPr id="7" name="Oval 6"/>
          <p:cNvSpPr/>
          <p:nvPr/>
        </p:nvSpPr>
        <p:spPr>
          <a:xfrm>
            <a:off x="7589520" y="258927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502408"/>
            <a:ext cx="377647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16 layers = 6,496 two-qubit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gates; our 198-gate IonQ run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lost a factor 8 to noise</a:t>
            </a:r>
          </a:p>
        </p:txBody>
      </p:sp>
      <p:sp>
        <p:nvSpPr>
          <p:cNvPr id="9" name="Oval 8"/>
          <p:cNvSpPr/>
          <p:nvPr/>
        </p:nvSpPr>
        <p:spPr>
          <a:xfrm>
            <a:off x="7589520" y="35676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480816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Classical: 100 % with 10,000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evaluations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0" y="427177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4184904"/>
            <a:ext cx="3776472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shot is not the same work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as a classical 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SCALING AND HONEST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Server simulation of all 536,870,912 states, 11 Oct 2026; ramp tuned at 12 assets, no tuning at 29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Classical: greedy descent and annealing, 200 runs, the same 1,000 evaluations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Iceberg code: verified, but it costs gates</a:t>
            </a:r>
          </a:p>
        </p:txBody>
      </p:sp>
      <p:pic>
        <p:nvPicPr>
          <p:cNvPr id="3" name="Picture 2" descr="Bar chart: share of single faults that are caught or harmless, from injecting every single fault (5,904) in exact simulation. Start state and flag 100 %, syndrome checks 100 %, readout bit flips 100 %, QAOA gates 80 %; the rest are XX, YY and ZZ errors on a gate's own pair, which a distance-2 code cannot se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667512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54480"/>
            <a:ext cx="4050792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17 qubits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198624"/>
            <a:ext cx="4050792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12 logical on 14, + 1 flag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+ 2 helpers per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991104"/>
            <a:ext cx="4050792" cy="6258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928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17A2B8"/>
                </a:solidFill>
                <a:latin typeface="Arial"/>
              </a:rPr>
              <a:t>+58 %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635248"/>
            <a:ext cx="4050792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two-qubit gates at 3 layers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(313 vs 198)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453288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4446016"/>
            <a:ext cx="377647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Under the IonQ noise model: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not run yet (Qollab runs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one IonQ job at a time)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ERROR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13832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Faults: exact simulation of every single fault (1, 2 layers), 11 Oct 2026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Detection, not correction: shots that fail a check are discarded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94415" cy="46736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3679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Try it on Qollab: one click, one IonQ job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120640" cy="3794760"/>
          </a:xfrm>
          <a:prstGeom prst="roundRect">
            <a:avLst>
              <a:gd name="adj" fmla="val 2891"/>
            </a:avLst>
          </a:prstGeom>
          <a:solidFill>
            <a:srgbClr val="13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Live demo on Qollab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52374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44144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Open the project: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the code is in main.py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49910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5814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41680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Run → Select QPU →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IonQ Forte 1 (29q) noise model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474464"/>
            <a:ext cx="457200" cy="457200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5567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392168"/>
            <a:ext cx="402336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Each job returns counts,</a:t>
            </a:r>
          </a:p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 table and plots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554480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Honest limits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212293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3606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A noisy simulator: one job of 1,000 shots</a:t>
            </a:r>
          </a:p>
        </p:txBody>
      </p:sp>
      <p:sp>
        <p:nvSpPr>
          <p:cNvPr id="17" name="Oval 16"/>
          <p:cNvSpPr/>
          <p:nvPr/>
        </p:nvSpPr>
        <p:spPr>
          <a:xfrm>
            <a:off x="6172200" y="252526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43840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Noise cuts the hits from 58 to 7 per 1,000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927604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840736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Classical heuristics match or beat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499104"/>
            <a:ext cx="5468112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4067556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3980688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Iceberg on the Forte 1 noise model</a:t>
            </a:r>
          </a:p>
        </p:txBody>
      </p:sp>
      <p:sp>
        <p:nvSpPr>
          <p:cNvPr id="24" name="Oval 23"/>
          <p:cNvSpPr/>
          <p:nvPr/>
        </p:nvSpPr>
        <p:spPr>
          <a:xfrm>
            <a:off x="6172200" y="4469892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383024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Shorter circuits: 66 instead of 198 gates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72228"/>
            <a:ext cx="100584" cy="100584"/>
          </a:xfrm>
          <a:prstGeom prst="ellipse">
            <a:avLst/>
          </a:prstGeom>
          <a:solidFill>
            <a:srgbClr val="17A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785360"/>
            <a:ext cx="51937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Find how many layers the noise allows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DEMO, LIMITS,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572768"/>
            <a:ext cx="6309360" cy="1518920"/>
          </a:xfrm>
        </p:spPr>
        <p:txBody>
          <a:bodyPr lIns="0" rIns="0" tIns="0" bIns="0" wrap="square" anchor="t">
            <a:noAutofit/>
          </a:bodyPr>
          <a:lstStyle/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Thank you for</a:t>
            </a:r>
          </a:p>
          <a:p>
            <a:pPr algn="l">
              <a:lnSpc>
                <a:spcPts val="598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Arial"/>
              </a:rPr>
              <a:t>your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611880"/>
            <a:ext cx="6309360" cy="33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Oussama Turki  ·  Tushar Pandey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30040"/>
            <a:ext cx="630936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A9B4C6"/>
                </a:solidFill>
                <a:latin typeface="Arial"/>
              </a:rPr>
              <a:t>Portfolio Selection with QAOA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5120640" cy="566928"/>
          </a:xfrm>
          <a:prstGeom prst="roundRect">
            <a:avLst>
              <a:gd name="adj" fmla="val 50000"/>
            </a:avLst>
          </a:prstGeom>
          <a:solidFill>
            <a:srgbClr val="131B2E"/>
          </a:solidFill>
          <a:ln w="15875">
            <a:solidFill>
              <a:srgbClr val="17A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379720"/>
            <a:ext cx="512064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This effort is supported by Qollab &amp; IonQ</a:t>
            </a:r>
          </a:p>
        </p:txBody>
      </p:sp>
      <p:pic>
        <p:nvPicPr>
          <p:cNvPr id="7" name="Picture 6" descr="The network picture of the 12 assets from the title slide: 12 dots on a circle, every pair joined by a li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14400"/>
            <a:ext cx="4754880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7A2B8"/>
                </a:solidFill>
                <a:latin typeface="Arial"/>
              </a:rPr>
              <a:t>TEAM ZOLLERQU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276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ZollerQu - Qollab x IonQ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71455" y="63276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16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A9B4C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Selection with QAOA - ZollerQu</dc:title>
  <dc:subject>Qollab x IonQ Hackathon 2026</dc:subject>
  <dc:creator>Oussama Turki, Tushar Pandey (Team ZollerQu)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