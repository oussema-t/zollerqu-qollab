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team ZollerQu. Our question is simple: which stocks should a fund buy? We turn it into an Ising problem, one qubit per asset, and sample it with QAOA on the IonQ Forte 1 noise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and funds build portfolios every day. They want low risk and a good return. Risk comes from assets that fall together, so the choices interact. Twelve assets give 4,096 possible portfolios; twenty-nine give more than five hundred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asset becomes one qubit: zero means buy, one means skip. Risk minus return becomes an Ising energy with one coupling for every pair of assets, 66 couplings. For twelve assets we can check every portfolio, so we know the exact best one: Apple plus long-term Treasury bonds.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circuit is QAOA: Hadamard gates, a cost layer with one ZZ gate per pair, then a mixer, repeated three times. We compared 58 circuits from seven method families, all trained offline on a classical simulator. The best one, CVaR-QAOA, went to IonQ as a single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IonQ? Every pair of assets is coupled, and trapped ions link every pair of qubits directly. One layer needs 66 two-qubit gates. The same layer routed on a heavy-hex grid needs 285: 4.3 times more, and 6.5 times at twenty-nine qubits.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result, on the IonQ Forte 1 noise model: 7 of 1,000 shots were the exact best portfolio, 29 times more than random guessing. The noiseless simulation gives 58, so noise costs a factor of 8. Greedy search, a classical method, is in the same range as our noisy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it scale? In noiseless simulation up to twenty-nine qubits the circuit stays far above random guessing, but classical heuristics win: they find the best portfolio in 61 percent of runs, the circuit in 7 percent. And our circuit first needed about 4,900 training circuits. We claim no quantum advantage.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 TO LIVE QOLLAB DEMO] On Qollab, press Run, select the IonQ Forte 1 noise model, and one job returns the counts and the plots. [BACK TO SLIDE] Our limits: a noisy simulator, one job, and strong classical baselines. Next: the other selected circuits, shorter circuits, and twenty-nine assets. Thank you. This effort is supported by Qollab and IonQ.</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spoken. The same pipeline (graph, Ising energy, circuits trained offline, one IonQ job, grading against the exact optimum) was used for both ZollerQu projects.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1572768"/>
            <a:ext cx="6309360" cy="1518920"/>
          </a:xfrm>
        </p:spPr>
        <p:txBody>
          <a:bodyPr lIns="0" rIns="0" tIns="0" bIns="0" wrap="square" anchor="t">
            <a:noAutofit/>
          </a:bodyPr>
          <a:lstStyle/>
          <a:p>
            <a:pPr algn="l">
              <a:lnSpc>
                <a:spcPts val="5980"/>
              </a:lnSpc>
              <a:spcBef>
                <a:spcPts val="0"/>
              </a:spcBef>
              <a:spcAft>
                <a:spcPts val="0"/>
              </a:spcAft>
            </a:pPr>
            <a:r>
              <a:rPr sz="5200" b="1">
                <a:solidFill>
                  <a:srgbClr val="FFFFFF"/>
                </a:solidFill>
                <a:latin typeface="Arial"/>
              </a:rPr>
              <a:t>Portfolio Selection</a:t>
            </a:r>
          </a:p>
          <a:p>
            <a:pPr algn="l">
              <a:lnSpc>
                <a:spcPts val="5980"/>
              </a:lnSpc>
              <a:spcBef>
                <a:spcPts val="0"/>
              </a:spcBef>
              <a:spcAft>
                <a:spcPts val="0"/>
              </a:spcAft>
            </a:pPr>
            <a:r>
              <a:rPr sz="5200" b="1">
                <a:solidFill>
                  <a:srgbClr val="FFFFFF"/>
                </a:solidFill>
                <a:latin typeface="Arial"/>
              </a:rPr>
              <a:t>with QAOA</a:t>
            </a:r>
          </a:p>
        </p:txBody>
      </p:sp>
      <p:sp>
        <p:nvSpPr>
          <p:cNvPr id="3" name="TextBox 2"/>
          <p:cNvSpPr txBox="1"/>
          <p:nvPr/>
        </p:nvSpPr>
        <p:spPr>
          <a:xfrm>
            <a:off x="548640" y="3611880"/>
            <a:ext cx="63093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A9B4C6"/>
                </a:solidFill>
                <a:latin typeface="Arial"/>
              </a:rPr>
              <a:t>Which stocks to buy? One qubit per asset,</a:t>
            </a:r>
          </a:p>
          <a:p>
            <a:pPr algn="l">
              <a:lnSpc>
                <a:spcPts val="2640"/>
              </a:lnSpc>
              <a:spcBef>
                <a:spcPts val="0"/>
              </a:spcBef>
              <a:spcAft>
                <a:spcPts val="0"/>
              </a:spcAft>
            </a:pPr>
            <a:r>
              <a:rPr sz="2200" b="0">
                <a:solidFill>
                  <a:srgbClr val="A9B4C6"/>
                </a:solidFill>
                <a:latin typeface="Arial"/>
              </a:rPr>
              <a:t>sampled on the IonQ Forte 1 noise model.</a:t>
            </a:r>
          </a:p>
        </p:txBody>
      </p:sp>
      <p:sp>
        <p:nvSpPr>
          <p:cNvPr id="4" name="TextBox 3"/>
          <p:cNvSpPr txBox="1"/>
          <p:nvPr/>
        </p:nvSpPr>
        <p:spPr>
          <a:xfrm>
            <a:off x="548640" y="4648200"/>
            <a:ext cx="630936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Oussama Turki  ·  Tushar Pandey</a:t>
            </a:r>
          </a:p>
        </p:txBody>
      </p:sp>
      <p:sp>
        <p:nvSpPr>
          <p:cNvPr id="5" name="Rounded Rectangle 4"/>
          <p:cNvSpPr/>
          <p:nvPr/>
        </p:nvSpPr>
        <p:spPr>
          <a:xfrm>
            <a:off x="548640" y="5257800"/>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379720"/>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pic>
        <p:nvPicPr>
          <p:cNvPr id="7" name="Picture 6" descr="Network picture of the 12 assets: 12 dots on a circle, every pair joined by a line; thicker lines mean the two assets move more strongly together."/>
          <p:cNvPicPr>
            <a:picLocks noChangeAspect="1"/>
          </p:cNvPicPr>
          <p:nvPr/>
        </p:nvPicPr>
        <p:blipFill>
          <a:blip r:embed="rId2"/>
          <a:stretch>
            <a:fillRect/>
          </a:stretch>
        </p:blipFill>
        <p:spPr>
          <a:xfrm>
            <a:off x="6903720" y="914400"/>
            <a:ext cx="4754880" cy="4754880"/>
          </a:xfrm>
          <a:prstGeom prst="rect">
            <a:avLst/>
          </a:prstGeom>
        </p:spPr>
      </p:pic>
      <p:sp>
        <p:nvSpPr>
          <p:cNvPr id="8" name="TextBox 7"/>
          <p:cNvSpPr txBox="1"/>
          <p:nvPr/>
        </p:nvSpPr>
        <p:spPr>
          <a:xfrm>
            <a:off x="548640" y="1188720"/>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TEAM ZOLLERQU</a:t>
            </a:r>
          </a:p>
        </p:txBody>
      </p:sp>
      <p:sp>
        <p:nvSpPr>
          <p:cNvPr id="9" name="TextBox 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0" name="TextBox 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Which assets should a fund buy?</a:t>
            </a:r>
          </a:p>
        </p:txBody>
      </p:sp>
      <p:sp>
        <p:nvSpPr>
          <p:cNvPr id="3" name="Oval 2"/>
          <p:cNvSpPr/>
          <p:nvPr/>
        </p:nvSpPr>
        <p:spPr>
          <a:xfrm>
            <a:off x="548640" y="180898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Banks and funds build</a:t>
            </a:r>
          </a:p>
          <a:p>
            <a:pPr algn="l">
              <a:lnSpc>
                <a:spcPts val="2640"/>
              </a:lnSpc>
              <a:spcBef>
                <a:spcPts val="0"/>
              </a:spcBef>
              <a:spcAft>
                <a:spcPts val="0"/>
              </a:spcAft>
            </a:pPr>
            <a:r>
              <a:rPr sz="2200" b="0">
                <a:solidFill>
                  <a:srgbClr val="FFFFFF"/>
                </a:solidFill>
                <a:latin typeface="Arial"/>
              </a:rPr>
              <a:t>portfolios every day</a:t>
            </a:r>
          </a:p>
        </p:txBody>
      </p:sp>
      <p:sp>
        <p:nvSpPr>
          <p:cNvPr id="5" name="Oval 4"/>
          <p:cNvSpPr/>
          <p:nvPr/>
        </p:nvSpPr>
        <p:spPr>
          <a:xfrm>
            <a:off x="548640" y="27538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63652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They want low risk</a:t>
            </a:r>
          </a:p>
          <a:p>
            <a:pPr algn="l">
              <a:lnSpc>
                <a:spcPts val="2640"/>
              </a:lnSpc>
              <a:spcBef>
                <a:spcPts val="0"/>
              </a:spcBef>
              <a:spcAft>
                <a:spcPts val="0"/>
              </a:spcAft>
            </a:pPr>
            <a:r>
              <a:rPr sz="2200" b="0">
                <a:solidFill>
                  <a:srgbClr val="FFFFFF"/>
                </a:solidFill>
                <a:latin typeface="Arial"/>
              </a:rPr>
              <a:t>and a good return</a:t>
            </a:r>
          </a:p>
        </p:txBody>
      </p:sp>
      <p:sp>
        <p:nvSpPr>
          <p:cNvPr id="7" name="Oval 6"/>
          <p:cNvSpPr/>
          <p:nvPr/>
        </p:nvSpPr>
        <p:spPr>
          <a:xfrm>
            <a:off x="548640" y="369874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8140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Risk comes from assets</a:t>
            </a:r>
          </a:p>
          <a:p>
            <a:pPr algn="l">
              <a:lnSpc>
                <a:spcPts val="2640"/>
              </a:lnSpc>
              <a:spcBef>
                <a:spcPts val="0"/>
              </a:spcBef>
              <a:spcAft>
                <a:spcPts val="0"/>
              </a:spcAft>
            </a:pPr>
            <a:r>
              <a:rPr sz="2200" b="0">
                <a:solidFill>
                  <a:srgbClr val="FFFFFF"/>
                </a:solidFill>
                <a:latin typeface="Arial"/>
              </a:rPr>
              <a:t>that fall together</a:t>
            </a:r>
          </a:p>
        </p:txBody>
      </p:sp>
      <p:sp>
        <p:nvSpPr>
          <p:cNvPr id="9" name="TextBox 8"/>
          <p:cNvSpPr txBox="1"/>
          <p:nvPr/>
        </p:nvSpPr>
        <p:spPr>
          <a:xfrm>
            <a:off x="548640" y="4590288"/>
            <a:ext cx="4754880" cy="67056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Every extra asset</a:t>
            </a:r>
          </a:p>
          <a:p>
            <a:pPr algn="l">
              <a:lnSpc>
                <a:spcPts val="2640"/>
              </a:lnSpc>
              <a:spcBef>
                <a:spcPts val="0"/>
              </a:spcBef>
              <a:spcAft>
                <a:spcPts val="0"/>
              </a:spcAft>
            </a:pPr>
            <a:r>
              <a:rPr sz="2200" b="1">
                <a:solidFill>
                  <a:srgbClr val="FFFFFF"/>
                </a:solidFill>
                <a:latin typeface="Arial"/>
              </a:rPr>
              <a:t>doubles the choices</a:t>
            </a:r>
          </a:p>
        </p:txBody>
      </p:sp>
      <p:sp>
        <p:nvSpPr>
          <p:cNvPr id="10" name="Rounded Rectangle 9"/>
          <p:cNvSpPr/>
          <p:nvPr/>
        </p:nvSpPr>
        <p:spPr>
          <a:xfrm>
            <a:off x="574243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4243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AAPL</a:t>
            </a:r>
          </a:p>
          <a:p>
            <a:pPr algn="ctr">
              <a:lnSpc>
                <a:spcPts val="2160"/>
              </a:lnSpc>
              <a:spcBef>
                <a:spcPts val="0"/>
              </a:spcBef>
              <a:spcAft>
                <a:spcPts val="0"/>
              </a:spcAft>
            </a:pPr>
            <a:r>
              <a:rPr sz="1800" b="0">
                <a:solidFill>
                  <a:srgbClr val="A9B4C6"/>
                </a:solidFill>
                <a:latin typeface="Arial"/>
              </a:rPr>
              <a:t>Apple</a:t>
            </a:r>
          </a:p>
        </p:txBody>
      </p:sp>
      <p:sp>
        <p:nvSpPr>
          <p:cNvPr id="12" name="Rounded Rectangle 11"/>
          <p:cNvSpPr/>
          <p:nvPr/>
        </p:nvSpPr>
        <p:spPr>
          <a:xfrm>
            <a:off x="725119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GLD</a:t>
            </a:r>
          </a:p>
          <a:p>
            <a:pPr algn="ctr">
              <a:lnSpc>
                <a:spcPts val="2160"/>
              </a:lnSpc>
              <a:spcBef>
                <a:spcPts val="0"/>
              </a:spcBef>
              <a:spcAft>
                <a:spcPts val="0"/>
              </a:spcAft>
            </a:pPr>
            <a:r>
              <a:rPr sz="1800" b="0">
                <a:solidFill>
                  <a:srgbClr val="A9B4C6"/>
                </a:solidFill>
                <a:latin typeface="Arial"/>
              </a:rPr>
              <a:t>gold</a:t>
            </a:r>
          </a:p>
        </p:txBody>
      </p:sp>
      <p:sp>
        <p:nvSpPr>
          <p:cNvPr id="14" name="Rounded Rectangle 13"/>
          <p:cNvSpPr/>
          <p:nvPr/>
        </p:nvSpPr>
        <p:spPr>
          <a:xfrm>
            <a:off x="875995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995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XOM</a:t>
            </a:r>
          </a:p>
          <a:p>
            <a:pPr algn="ctr">
              <a:lnSpc>
                <a:spcPts val="2160"/>
              </a:lnSpc>
              <a:spcBef>
                <a:spcPts val="0"/>
              </a:spcBef>
              <a:spcAft>
                <a:spcPts val="0"/>
              </a:spcAft>
            </a:pPr>
            <a:r>
              <a:rPr sz="1800" b="0">
                <a:solidFill>
                  <a:srgbClr val="A9B4C6"/>
                </a:solidFill>
                <a:latin typeface="Arial"/>
              </a:rPr>
              <a:t>oil</a:t>
            </a:r>
          </a:p>
        </p:txBody>
      </p:sp>
      <p:sp>
        <p:nvSpPr>
          <p:cNvPr id="16" name="Rounded Rectangle 15"/>
          <p:cNvSpPr/>
          <p:nvPr/>
        </p:nvSpPr>
        <p:spPr>
          <a:xfrm>
            <a:off x="1026871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JPM</a:t>
            </a:r>
          </a:p>
          <a:p>
            <a:pPr algn="ctr">
              <a:lnSpc>
                <a:spcPts val="2160"/>
              </a:lnSpc>
              <a:spcBef>
                <a:spcPts val="0"/>
              </a:spcBef>
              <a:spcAft>
                <a:spcPts val="0"/>
              </a:spcAft>
            </a:pPr>
            <a:r>
              <a:rPr sz="1800" b="0">
                <a:solidFill>
                  <a:srgbClr val="A9B4C6"/>
                </a:solidFill>
                <a:latin typeface="Arial"/>
              </a:rPr>
              <a:t>bank</a:t>
            </a:r>
          </a:p>
        </p:txBody>
      </p:sp>
      <p:sp>
        <p:nvSpPr>
          <p:cNvPr id="18" name="Rounded Rectangle 17"/>
          <p:cNvSpPr/>
          <p:nvPr/>
        </p:nvSpPr>
        <p:spPr>
          <a:xfrm>
            <a:off x="574243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243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TLT</a:t>
            </a:r>
          </a:p>
          <a:p>
            <a:pPr algn="ctr">
              <a:lnSpc>
                <a:spcPts val="2160"/>
              </a:lnSpc>
              <a:spcBef>
                <a:spcPts val="0"/>
              </a:spcBef>
              <a:spcAft>
                <a:spcPts val="0"/>
              </a:spcAft>
            </a:pPr>
            <a:r>
              <a:rPr sz="1800" b="0">
                <a:solidFill>
                  <a:srgbClr val="A9B4C6"/>
                </a:solidFill>
                <a:latin typeface="Arial"/>
              </a:rPr>
              <a:t>US bonds</a:t>
            </a:r>
          </a:p>
        </p:txBody>
      </p:sp>
      <p:sp>
        <p:nvSpPr>
          <p:cNvPr id="20" name="Rounded Rectangle 19"/>
          <p:cNvSpPr/>
          <p:nvPr/>
        </p:nvSpPr>
        <p:spPr>
          <a:xfrm>
            <a:off x="725119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JNJ</a:t>
            </a:r>
          </a:p>
          <a:p>
            <a:pPr algn="ctr">
              <a:lnSpc>
                <a:spcPts val="2160"/>
              </a:lnSpc>
              <a:spcBef>
                <a:spcPts val="0"/>
              </a:spcBef>
              <a:spcAft>
                <a:spcPts val="0"/>
              </a:spcAft>
            </a:pPr>
            <a:r>
              <a:rPr sz="1800" b="0">
                <a:solidFill>
                  <a:srgbClr val="A9B4C6"/>
                </a:solidFill>
                <a:latin typeface="Arial"/>
              </a:rPr>
              <a:t>health</a:t>
            </a:r>
          </a:p>
        </p:txBody>
      </p:sp>
      <p:sp>
        <p:nvSpPr>
          <p:cNvPr id="22" name="Rounded Rectangle 21"/>
          <p:cNvSpPr/>
          <p:nvPr/>
        </p:nvSpPr>
        <p:spPr>
          <a:xfrm>
            <a:off x="875995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5995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PG</a:t>
            </a:r>
          </a:p>
          <a:p>
            <a:pPr algn="ctr">
              <a:lnSpc>
                <a:spcPts val="2160"/>
              </a:lnSpc>
              <a:spcBef>
                <a:spcPts val="0"/>
              </a:spcBef>
              <a:spcAft>
                <a:spcPts val="0"/>
              </a:spcAft>
            </a:pPr>
            <a:r>
              <a:rPr sz="1800" b="0">
                <a:solidFill>
                  <a:srgbClr val="A9B4C6"/>
                </a:solidFill>
                <a:latin typeface="Arial"/>
              </a:rPr>
              <a:t>consumer</a:t>
            </a:r>
          </a:p>
        </p:txBody>
      </p:sp>
      <p:sp>
        <p:nvSpPr>
          <p:cNvPr id="24" name="Rounded Rectangle 23"/>
          <p:cNvSpPr/>
          <p:nvPr/>
        </p:nvSpPr>
        <p:spPr>
          <a:xfrm>
            <a:off x="1026871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XLU</a:t>
            </a:r>
          </a:p>
          <a:p>
            <a:pPr algn="ctr">
              <a:lnSpc>
                <a:spcPts val="2160"/>
              </a:lnSpc>
              <a:spcBef>
                <a:spcPts val="0"/>
              </a:spcBef>
              <a:spcAft>
                <a:spcPts val="0"/>
              </a:spcAft>
            </a:pPr>
            <a:r>
              <a:rPr sz="1800" b="0">
                <a:solidFill>
                  <a:srgbClr val="A9B4C6"/>
                </a:solidFill>
                <a:latin typeface="Arial"/>
              </a:rPr>
              <a:t>utilities</a:t>
            </a:r>
          </a:p>
        </p:txBody>
      </p:sp>
      <p:sp>
        <p:nvSpPr>
          <p:cNvPr id="26" name="Rounded Rectangle 25"/>
          <p:cNvSpPr/>
          <p:nvPr/>
        </p:nvSpPr>
        <p:spPr>
          <a:xfrm>
            <a:off x="574243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VNQ</a:t>
            </a:r>
          </a:p>
          <a:p>
            <a:pPr algn="ctr">
              <a:lnSpc>
                <a:spcPts val="2160"/>
              </a:lnSpc>
              <a:spcBef>
                <a:spcPts val="0"/>
              </a:spcBef>
              <a:spcAft>
                <a:spcPts val="0"/>
              </a:spcAft>
            </a:pPr>
            <a:r>
              <a:rPr sz="1800" b="0">
                <a:solidFill>
                  <a:srgbClr val="A9B4C6"/>
                </a:solidFill>
                <a:latin typeface="Arial"/>
              </a:rPr>
              <a:t>real estate</a:t>
            </a:r>
          </a:p>
        </p:txBody>
      </p:sp>
      <p:sp>
        <p:nvSpPr>
          <p:cNvPr id="28" name="Rounded Rectangle 27"/>
          <p:cNvSpPr/>
          <p:nvPr/>
        </p:nvSpPr>
        <p:spPr>
          <a:xfrm>
            <a:off x="725119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5119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FCX</a:t>
            </a:r>
          </a:p>
          <a:p>
            <a:pPr algn="ctr">
              <a:lnSpc>
                <a:spcPts val="2160"/>
              </a:lnSpc>
              <a:spcBef>
                <a:spcPts val="0"/>
              </a:spcBef>
              <a:spcAft>
                <a:spcPts val="0"/>
              </a:spcAft>
            </a:pPr>
            <a:r>
              <a:rPr sz="1800" b="0">
                <a:solidFill>
                  <a:srgbClr val="A9B4C6"/>
                </a:solidFill>
                <a:latin typeface="Arial"/>
              </a:rPr>
              <a:t>copper</a:t>
            </a:r>
          </a:p>
        </p:txBody>
      </p:sp>
      <p:sp>
        <p:nvSpPr>
          <p:cNvPr id="30" name="Rounded Rectangle 29"/>
          <p:cNvSpPr/>
          <p:nvPr/>
        </p:nvSpPr>
        <p:spPr>
          <a:xfrm>
            <a:off x="875995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995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MSFT</a:t>
            </a:r>
          </a:p>
          <a:p>
            <a:pPr algn="ctr">
              <a:lnSpc>
                <a:spcPts val="2160"/>
              </a:lnSpc>
              <a:spcBef>
                <a:spcPts val="0"/>
              </a:spcBef>
              <a:spcAft>
                <a:spcPts val="0"/>
              </a:spcAft>
            </a:pPr>
            <a:r>
              <a:rPr sz="1800" b="0">
                <a:solidFill>
                  <a:srgbClr val="A9B4C6"/>
                </a:solidFill>
                <a:latin typeface="Arial"/>
              </a:rPr>
              <a:t>Microsoft</a:t>
            </a:r>
          </a:p>
        </p:txBody>
      </p:sp>
      <p:sp>
        <p:nvSpPr>
          <p:cNvPr id="32" name="Rounded Rectangle 31"/>
          <p:cNvSpPr/>
          <p:nvPr/>
        </p:nvSpPr>
        <p:spPr>
          <a:xfrm>
            <a:off x="1026871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SLV</a:t>
            </a:r>
          </a:p>
          <a:p>
            <a:pPr algn="ctr">
              <a:lnSpc>
                <a:spcPts val="2160"/>
              </a:lnSpc>
              <a:spcBef>
                <a:spcPts val="0"/>
              </a:spcBef>
              <a:spcAft>
                <a:spcPts val="0"/>
              </a:spcAft>
            </a:pPr>
            <a:r>
              <a:rPr sz="1800" b="0">
                <a:solidFill>
                  <a:srgbClr val="A9B4C6"/>
                </a:solidFill>
                <a:latin typeface="Arial"/>
              </a:rPr>
              <a:t>silver</a:t>
            </a:r>
          </a:p>
        </p:txBody>
      </p:sp>
      <p:sp>
        <p:nvSpPr>
          <p:cNvPr id="34" name="TextBox 33"/>
          <p:cNvSpPr txBox="1"/>
          <p:nvPr/>
        </p:nvSpPr>
        <p:spPr>
          <a:xfrm>
            <a:off x="5742432" y="4480560"/>
            <a:ext cx="228600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4,096</a:t>
            </a:r>
          </a:p>
        </p:txBody>
      </p:sp>
      <p:sp>
        <p:nvSpPr>
          <p:cNvPr id="35" name="TextBox 34"/>
          <p:cNvSpPr txBox="1"/>
          <p:nvPr/>
        </p:nvSpPr>
        <p:spPr>
          <a:xfrm>
            <a:off x="5742432" y="5124704"/>
            <a:ext cx="22860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12 assets</a:t>
            </a:r>
          </a:p>
        </p:txBody>
      </p:sp>
      <p:sp>
        <p:nvSpPr>
          <p:cNvPr id="36" name="TextBox 35"/>
          <p:cNvSpPr txBox="1"/>
          <p:nvPr/>
        </p:nvSpPr>
        <p:spPr>
          <a:xfrm>
            <a:off x="8257032" y="4480560"/>
            <a:ext cx="338328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536,870,912</a:t>
            </a:r>
          </a:p>
        </p:txBody>
      </p:sp>
      <p:sp>
        <p:nvSpPr>
          <p:cNvPr id="37" name="TextBox 36"/>
          <p:cNvSpPr txBox="1"/>
          <p:nvPr/>
        </p:nvSpPr>
        <p:spPr>
          <a:xfrm>
            <a:off x="8257032" y="5124704"/>
            <a:ext cx="33832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29 assets</a:t>
            </a:r>
          </a:p>
        </p:txBody>
      </p:sp>
      <p:sp>
        <p:nvSpPr>
          <p:cNvPr id="38" name="TextBox 37"/>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PROBLEM</a:t>
            </a:r>
          </a:p>
        </p:txBody>
      </p:sp>
      <p:sp>
        <p:nvSpPr>
          <p:cNvPr id="39" name="TextBox 38"/>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Data: weekly prices of 12 US stocks and funds, 2006-2014 (Kaggle Huge Stock Market Dataset, CC0)</a:t>
            </a:r>
          </a:p>
        </p:txBody>
      </p:sp>
      <p:sp>
        <p:nvSpPr>
          <p:cNvPr id="40" name="TextBox 39"/>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41" name="TextBox 40"/>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One qubit per asset, one Ising energy</a:t>
            </a:r>
          </a:p>
        </p:txBody>
      </p:sp>
      <p:sp>
        <p:nvSpPr>
          <p:cNvPr id="3" name="TextBox 2"/>
          <p:cNvSpPr txBox="1"/>
          <p:nvPr/>
        </p:nvSpPr>
        <p:spPr>
          <a:xfrm>
            <a:off x="548640" y="1600200"/>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Score to minimise: risk minus return</a:t>
            </a:r>
          </a:p>
        </p:txBody>
      </p:sp>
      <p:pic>
        <p:nvPicPr>
          <p:cNvPr id="4" name="Picture 3" descr="Formula: J of x equals x transposed C x over n squared V ref (the risk), minus eta times mu transposed x over n sigma ref (the return)."/>
          <p:cNvPicPr>
            <a:picLocks noChangeAspect="1"/>
          </p:cNvPicPr>
          <p:nvPr/>
        </p:nvPicPr>
        <p:blipFill>
          <a:blip r:embed="rId2"/>
          <a:stretch>
            <a:fillRect/>
          </a:stretch>
        </p:blipFill>
        <p:spPr>
          <a:xfrm>
            <a:off x="548640" y="1874520"/>
            <a:ext cx="5669280" cy="1325880"/>
          </a:xfrm>
          <a:prstGeom prst="rect">
            <a:avLst/>
          </a:prstGeom>
        </p:spPr>
      </p:pic>
      <p:sp>
        <p:nvSpPr>
          <p:cNvPr id="5" name="TextBox 4"/>
          <p:cNvSpPr txBox="1"/>
          <p:nvPr/>
        </p:nvSpPr>
        <p:spPr>
          <a:xfrm>
            <a:off x="548640" y="3273552"/>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The same score as an Ising energy</a:t>
            </a:r>
          </a:p>
        </p:txBody>
      </p:sp>
      <p:pic>
        <p:nvPicPr>
          <p:cNvPr id="6" name="Picture 5" descr="Formula: E of s equals the sum over pairs of J i j times s i s j, plus the sum of h i times s i, plus a constant."/>
          <p:cNvPicPr>
            <a:picLocks noChangeAspect="1"/>
          </p:cNvPicPr>
          <p:nvPr/>
        </p:nvPicPr>
        <p:blipFill>
          <a:blip r:embed="rId3"/>
          <a:stretch>
            <a:fillRect/>
          </a:stretch>
        </p:blipFill>
        <p:spPr>
          <a:xfrm>
            <a:off x="548640" y="3566160"/>
            <a:ext cx="5669280" cy="914400"/>
          </a:xfrm>
          <a:prstGeom prst="rect">
            <a:avLst/>
          </a:prstGeom>
        </p:spPr>
      </p:pic>
      <p:sp>
        <p:nvSpPr>
          <p:cNvPr id="7" name="TextBox 6"/>
          <p:cNvSpPr txBox="1"/>
          <p:nvPr/>
        </p:nvSpPr>
        <p:spPr>
          <a:xfrm>
            <a:off x="548640" y="4617720"/>
            <a:ext cx="5852160" cy="655320"/>
          </a:xfrm>
          <a:prstGeom prst="rect">
            <a:avLst/>
          </a:prstGeom>
          <a:noFill/>
        </p:spPr>
        <p:txBody>
          <a:bodyPr wrap="square" lIns="0" rIns="0" tIns="0" bIns="0" anchor="t">
            <a:noAutofit/>
          </a:bodyPr>
          <a:lstStyle/>
          <a:p>
            <a:pPr algn="l">
              <a:lnSpc>
                <a:spcPts val="2400"/>
              </a:lnSpc>
              <a:spcBef>
                <a:spcPts val="0"/>
              </a:spcBef>
              <a:spcAft>
                <a:spcPts val="0"/>
              </a:spcAft>
            </a:pPr>
            <a:r>
              <a:rPr sz="2000" b="1">
                <a:solidFill>
                  <a:srgbClr val="FFFFFF"/>
                </a:solidFill>
                <a:latin typeface="Arial"/>
              </a:rPr>
              <a:t>1 qubit = 1 asset:  </a:t>
            </a:r>
            <a:r>
              <a:rPr sz="2000" b="0">
                <a:solidFill>
                  <a:srgbClr val="FFFFFF"/>
                </a:solidFill>
                <a:latin typeface="Arial"/>
              </a:rPr>
              <a:t>|0&gt; buy,  |1&gt; skip</a:t>
            </a:r>
          </a:p>
          <a:p>
            <a:pPr algn="l">
              <a:lnSpc>
                <a:spcPts val="2400"/>
              </a:lnSpc>
              <a:spcBef>
                <a:spcPts val="360"/>
              </a:spcBef>
              <a:spcAft>
                <a:spcPts val="0"/>
              </a:spcAft>
            </a:pPr>
            <a:r>
              <a:rPr sz="2000" b="0">
                <a:solidFill>
                  <a:srgbClr val="A9B4C6"/>
                </a:solidFill>
                <a:latin typeface="Arial"/>
              </a:rPr>
              <a:t>12 qubits  ·  66 couplings  ·  4,096 states</a:t>
            </a:r>
          </a:p>
        </p:txBody>
      </p:sp>
      <p:pic>
        <p:nvPicPr>
          <p:cNvPr id="8" name="Picture 7" descr="Network of the 12 assets with every pair linked. Two filled dots mark the exact best portfolio: buy AAPL and TLT; the other ten are skipped."/>
          <p:cNvPicPr>
            <a:picLocks noChangeAspect="1"/>
          </p:cNvPicPr>
          <p:nvPr/>
        </p:nvPicPr>
        <p:blipFill>
          <a:blip r:embed="rId4"/>
          <a:stretch>
            <a:fillRect/>
          </a:stretch>
        </p:blipFill>
        <p:spPr>
          <a:xfrm>
            <a:off x="6629400" y="1463040"/>
            <a:ext cx="5029200" cy="3840480"/>
          </a:xfrm>
          <a:prstGeom prst="rect">
            <a:avLst/>
          </a:prstGeom>
        </p:spPr>
      </p:pic>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FORMULATION</a:t>
            </a:r>
          </a:p>
        </p:txBody>
      </p:sp>
      <p:sp>
        <p:nvSpPr>
          <p:cNvPr id="10" name="TextBox 9"/>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Exact best portfolio found by checking all 4,096 portfolios (classical); risk and return from 2006-2014 data</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QAOA circuits, trained offline, one IonQ job</a:t>
            </a:r>
          </a:p>
        </p:txBody>
      </p:sp>
      <p:pic>
        <p:nvPicPr>
          <p:cNvPr id="3" name="Picture 2" descr="Circuit sketch: four of the twelve qubit lines. Each starts with an H gate, passes a cost layer block (one ZZ gate per pair, 66, and one Z rotation per qubit) and a mixer block (RX on every qubit), repeated three times, then is measured; 1,000 shots give 1,000 portfolios."/>
          <p:cNvPicPr>
            <a:picLocks noChangeAspect="1"/>
          </p:cNvPicPr>
          <p:nvPr/>
        </p:nvPicPr>
        <p:blipFill>
          <a:blip r:embed="rId2"/>
          <a:stretch>
            <a:fillRect/>
          </a:stretch>
        </p:blipFill>
        <p:spPr>
          <a:xfrm>
            <a:off x="548640" y="1481328"/>
            <a:ext cx="11094415" cy="2377440"/>
          </a:xfrm>
          <a:prstGeom prst="rect">
            <a:avLst/>
          </a:prstGeom>
        </p:spPr>
      </p:pic>
      <p:sp>
        <p:nvSpPr>
          <p:cNvPr id="4" name="Rounded Rectangle 3"/>
          <p:cNvSpPr/>
          <p:nvPr/>
        </p:nvSpPr>
        <p:spPr>
          <a:xfrm>
            <a:off x="548640"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7 method families</a:t>
            </a:r>
          </a:p>
        </p:txBody>
      </p:sp>
      <p:sp>
        <p:nvSpPr>
          <p:cNvPr id="6" name="TextBox 5"/>
          <p:cNvSpPr txBox="1"/>
          <p:nvPr/>
        </p:nvSpPr>
        <p:spPr>
          <a:xfrm>
            <a:off x="731520"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58 circuits compared, from</a:t>
            </a:r>
          </a:p>
          <a:p>
            <a:pPr algn="l">
              <a:lnSpc>
                <a:spcPts val="2160"/>
              </a:lnSpc>
              <a:spcBef>
                <a:spcPts val="0"/>
              </a:spcBef>
              <a:spcAft>
                <a:spcPts val="0"/>
              </a:spcAft>
            </a:pPr>
            <a:r>
              <a:rPr sz="1800" b="0">
                <a:solidFill>
                  <a:srgbClr val="A9B4C6"/>
                </a:solidFill>
                <a:latin typeface="Arial"/>
              </a:rPr>
              <a:t>linear-ramp and CVaR QAOA</a:t>
            </a:r>
          </a:p>
          <a:p>
            <a:pPr algn="l">
              <a:lnSpc>
                <a:spcPts val="2160"/>
              </a:lnSpc>
              <a:spcBef>
                <a:spcPts val="0"/>
              </a:spcBef>
              <a:spcAft>
                <a:spcPts val="0"/>
              </a:spcAft>
            </a:pPr>
            <a:r>
              <a:rPr sz="1800" b="0">
                <a:solidFill>
                  <a:srgbClr val="A9B4C6"/>
                </a:solidFill>
                <a:latin typeface="Arial"/>
              </a:rPr>
              <a:t>to imaginary-time evolution</a:t>
            </a:r>
          </a:p>
        </p:txBody>
      </p:sp>
      <p:sp>
        <p:nvSpPr>
          <p:cNvPr id="7" name="Rounded Rectangle 6"/>
          <p:cNvSpPr/>
          <p:nvPr/>
        </p:nvSpPr>
        <p:spPr>
          <a:xfrm>
            <a:off x="4322978"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5858"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Trained offline</a:t>
            </a:r>
          </a:p>
        </p:txBody>
      </p:sp>
      <p:sp>
        <p:nvSpPr>
          <p:cNvPr id="9" name="TextBox 8"/>
          <p:cNvSpPr txBox="1"/>
          <p:nvPr/>
        </p:nvSpPr>
        <p:spPr>
          <a:xfrm>
            <a:off x="4505858"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Angles tuned on an exact</a:t>
            </a:r>
          </a:p>
          <a:p>
            <a:pPr algn="l">
              <a:lnSpc>
                <a:spcPts val="2160"/>
              </a:lnSpc>
              <a:spcBef>
                <a:spcPts val="0"/>
              </a:spcBef>
              <a:spcAft>
                <a:spcPts val="0"/>
              </a:spcAft>
            </a:pPr>
            <a:r>
              <a:rPr sz="1800" b="0">
                <a:solidFill>
                  <a:srgbClr val="A9B4C6"/>
                </a:solidFill>
                <a:latin typeface="Arial"/>
              </a:rPr>
              <a:t>classical simulator, never</a:t>
            </a:r>
          </a:p>
          <a:p>
            <a:pPr algn="l">
              <a:lnSpc>
                <a:spcPts val="2160"/>
              </a:lnSpc>
              <a:spcBef>
                <a:spcPts val="0"/>
              </a:spcBef>
              <a:spcAft>
                <a:spcPts val="0"/>
              </a:spcAft>
            </a:pPr>
            <a:r>
              <a:rPr sz="1800" b="0">
                <a:solidFill>
                  <a:srgbClr val="A9B4C6"/>
                </a:solidFill>
                <a:latin typeface="Arial"/>
              </a:rPr>
              <a:t>on the IonQ backend</a:t>
            </a:r>
          </a:p>
        </p:txBody>
      </p:sp>
      <p:sp>
        <p:nvSpPr>
          <p:cNvPr id="10" name="Rounded Rectangle 9"/>
          <p:cNvSpPr/>
          <p:nvPr/>
        </p:nvSpPr>
        <p:spPr>
          <a:xfrm>
            <a:off x="8097317"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0197" y="4178808"/>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D9791A"/>
                </a:solidFill>
                <a:latin typeface="Arial"/>
              </a:rPr>
              <a:t>One circuit per job</a:t>
            </a:r>
          </a:p>
        </p:txBody>
      </p:sp>
      <p:sp>
        <p:nvSpPr>
          <p:cNvPr id="12" name="TextBox 11"/>
          <p:cNvSpPr txBox="1"/>
          <p:nvPr/>
        </p:nvSpPr>
        <p:spPr>
          <a:xfrm>
            <a:off x="8280197" y="4559808"/>
            <a:ext cx="3179978"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CVaR-QAOA, 3 layers:</a:t>
            </a:r>
          </a:p>
          <a:p>
            <a:pPr algn="l">
              <a:lnSpc>
                <a:spcPts val="2160"/>
              </a:lnSpc>
              <a:spcBef>
                <a:spcPts val="0"/>
              </a:spcBef>
              <a:spcAft>
                <a:spcPts val="0"/>
              </a:spcAft>
            </a:pPr>
            <a:r>
              <a:rPr sz="1800" b="0">
                <a:solidFill>
                  <a:srgbClr val="A9B4C6"/>
                </a:solidFill>
                <a:latin typeface="Arial"/>
              </a:rPr>
              <a:t>12 qubits, 198 two-qubit</a:t>
            </a:r>
          </a:p>
          <a:p>
            <a:pPr algn="l">
              <a:lnSpc>
                <a:spcPts val="2160"/>
              </a:lnSpc>
              <a:spcBef>
                <a:spcPts val="0"/>
              </a:spcBef>
              <a:spcAft>
                <a:spcPts val="0"/>
              </a:spcAft>
            </a:pPr>
            <a:r>
              <a:rPr sz="1800" b="0">
                <a:solidFill>
                  <a:srgbClr val="A9B4C6"/>
                </a:solidFill>
                <a:latin typeface="Arial"/>
              </a:rPr>
              <a:t>gates, 1,000 shots</a:t>
            </a:r>
          </a:p>
        </p:txBody>
      </p:sp>
      <p:sp>
        <p:nvSpPr>
          <p:cNvPr id="13" name="TextBox 12"/>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QUANTUM METHOD</a:t>
            </a:r>
          </a:p>
        </p:txBody>
      </p:sp>
      <p:sp>
        <p:nvSpPr>
          <p:cNvPr id="14" name="TextBox 13"/>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58 circuits and a random-guess control scored by noiseless simulation (server), 12 qubits</a:t>
            </a:r>
          </a:p>
        </p:txBody>
      </p:sp>
      <p:sp>
        <p:nvSpPr>
          <p:cNvPr id="15" name="TextBox 14"/>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6" name="TextBox 15"/>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All-to-all links: 4.3× fewer two-qubit gates</a:t>
            </a:r>
          </a:p>
        </p:txBody>
      </p:sp>
      <p:pic>
        <p:nvPicPr>
          <p:cNvPr id="3" name="Picture 2" descr="Column chart of two-qubit gates in one QAOA layer. At 12 qubits: 66 on all-to-all against 285 on a heavy-hex grid. At 29 qubits: 244 against 1,576."/>
          <p:cNvPicPr>
            <a:picLocks noChangeAspect="1"/>
          </p:cNvPicPr>
          <p:nvPr/>
        </p:nvPicPr>
        <p:blipFill>
          <a:blip r:embed="rId2"/>
          <a:stretch>
            <a:fillRect/>
          </a:stretch>
        </p:blipFill>
        <p:spPr>
          <a:xfrm>
            <a:off x="548640" y="1508760"/>
            <a:ext cx="6400800" cy="3794760"/>
          </a:xfrm>
          <a:prstGeom prst="rect">
            <a:avLst/>
          </a:prstGeom>
        </p:spPr>
      </p:pic>
      <p:sp>
        <p:nvSpPr>
          <p:cNvPr id="4" name="TextBox 3"/>
          <p:cNvSpPr txBox="1"/>
          <p:nvPr/>
        </p:nvSpPr>
        <p:spPr>
          <a:xfrm>
            <a:off x="7543800" y="1554480"/>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4.3×</a:t>
            </a:r>
          </a:p>
        </p:txBody>
      </p:sp>
      <p:sp>
        <p:nvSpPr>
          <p:cNvPr id="5" name="TextBox 4"/>
          <p:cNvSpPr txBox="1"/>
          <p:nvPr/>
        </p:nvSpPr>
        <p:spPr>
          <a:xfrm>
            <a:off x="7543800" y="2426208"/>
            <a:ext cx="406908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two-qubit gates</a:t>
            </a:r>
          </a:p>
          <a:p>
            <a:pPr algn="l">
              <a:lnSpc>
                <a:spcPts val="2400"/>
              </a:lnSpc>
              <a:spcBef>
                <a:spcPts val="0"/>
              </a:spcBef>
              <a:spcAft>
                <a:spcPts val="0"/>
              </a:spcAft>
            </a:pPr>
            <a:r>
              <a:rPr sz="2000" b="0">
                <a:solidFill>
                  <a:srgbClr val="FFFFFF"/>
                </a:solidFill>
                <a:latin typeface="Arial"/>
              </a:rPr>
              <a:t>at 12 qubits (66 vs 285)</a:t>
            </a:r>
          </a:p>
        </p:txBody>
      </p:sp>
      <p:sp>
        <p:nvSpPr>
          <p:cNvPr id="6" name="TextBox 5"/>
          <p:cNvSpPr txBox="1"/>
          <p:nvPr/>
        </p:nvSpPr>
        <p:spPr>
          <a:xfrm>
            <a:off x="7543800" y="3236976"/>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6.5×</a:t>
            </a:r>
          </a:p>
        </p:txBody>
      </p:sp>
      <p:sp>
        <p:nvSpPr>
          <p:cNvPr id="7" name="TextBox 6"/>
          <p:cNvSpPr txBox="1"/>
          <p:nvPr/>
        </p:nvSpPr>
        <p:spPr>
          <a:xfrm>
            <a:off x="7543800" y="4108704"/>
            <a:ext cx="4069080" cy="3048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at 29 qubits (244 vs 1,576)</a:t>
            </a:r>
          </a:p>
        </p:txBody>
      </p:sp>
      <p:sp>
        <p:nvSpPr>
          <p:cNvPr id="8" name="TextBox 7"/>
          <p:cNvSpPr txBox="1"/>
          <p:nvPr/>
        </p:nvSpPr>
        <p:spPr>
          <a:xfrm>
            <a:off x="7543800" y="4614672"/>
            <a:ext cx="40690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66 pairs = 66 gates, no SWAPs</a:t>
            </a:r>
          </a:p>
        </p:txBody>
      </p:sp>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WHY IONQ</a:t>
            </a:r>
          </a:p>
        </p:txBody>
      </p:sp>
      <p:sp>
        <p:nvSpPr>
          <p:cNvPr id="10" name="TextBox 9"/>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Gate counts from transpiling only (Qiskit 2.5.2, level 1); heavy-hex = median of 5 routing seeds</a:t>
            </a:r>
          </a:p>
          <a:p>
            <a:pPr algn="l">
              <a:lnSpc>
                <a:spcPts val="2160"/>
              </a:lnSpc>
              <a:spcBef>
                <a:spcPts val="0"/>
              </a:spcBef>
              <a:spcAft>
                <a:spcPts val="0"/>
              </a:spcAft>
            </a:pPr>
            <a:r>
              <a:rPr sz="1800" b="0">
                <a:solidFill>
                  <a:srgbClr val="A9B4C6"/>
                </a:solidFill>
                <a:latin typeface="Arial"/>
              </a:rPr>
              <a:t>on a generic heavy-hex map. No circuit was run on a heavy-hex device.</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IonQ noise model: 29× random guessing</a:t>
            </a:r>
          </a:p>
        </p:txBody>
      </p:sp>
      <p:sp>
        <p:nvSpPr>
          <p:cNvPr id="3" name="Rounded Rectangle 2"/>
          <p:cNvSpPr/>
          <p:nvPr/>
        </p:nvSpPr>
        <p:spPr>
          <a:xfrm>
            <a:off x="548640" y="1554480"/>
            <a:ext cx="4069080" cy="3794760"/>
          </a:xfrm>
          <a:prstGeom prst="roundRect">
            <a:avLst>
              <a:gd name="adj" fmla="val 28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55648"/>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a:t>
            </a:r>
          </a:p>
        </p:txBody>
      </p:sp>
      <p:sp>
        <p:nvSpPr>
          <p:cNvPr id="5" name="TextBox 4"/>
          <p:cNvSpPr txBox="1"/>
          <p:nvPr/>
        </p:nvSpPr>
        <p:spPr>
          <a:xfrm>
            <a:off x="822960" y="2084832"/>
            <a:ext cx="3566160" cy="768096"/>
          </a:xfrm>
          <a:prstGeom prst="rect">
            <a:avLst/>
          </a:prstGeom>
          <a:noFill/>
        </p:spPr>
        <p:txBody>
          <a:bodyPr wrap="square" lIns="0" rIns="0" tIns="0" bIns="0" anchor="t">
            <a:noAutofit/>
          </a:bodyPr>
          <a:lstStyle/>
          <a:p>
            <a:pPr algn="l">
              <a:lnSpc>
                <a:spcPts val="6048"/>
              </a:lnSpc>
              <a:spcBef>
                <a:spcPts val="0"/>
              </a:spcBef>
              <a:spcAft>
                <a:spcPts val="0"/>
              </a:spcAft>
            </a:pPr>
            <a:r>
              <a:rPr sz="5400" b="1">
                <a:solidFill>
                  <a:srgbClr val="D9791A"/>
                </a:solidFill>
                <a:latin typeface="Arial"/>
              </a:rPr>
              <a:t>7 / 1,000</a:t>
            </a:r>
          </a:p>
        </p:txBody>
      </p:sp>
      <p:sp>
        <p:nvSpPr>
          <p:cNvPr id="6" name="TextBox 5"/>
          <p:cNvSpPr txBox="1"/>
          <p:nvPr/>
        </p:nvSpPr>
        <p:spPr>
          <a:xfrm>
            <a:off x="822960" y="2871216"/>
            <a:ext cx="35661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shots are the exact best</a:t>
            </a:r>
          </a:p>
          <a:p>
            <a:pPr algn="l">
              <a:lnSpc>
                <a:spcPts val="2400"/>
              </a:lnSpc>
              <a:spcBef>
                <a:spcPts val="0"/>
              </a:spcBef>
              <a:spcAft>
                <a:spcPts val="0"/>
              </a:spcAft>
            </a:pPr>
            <a:r>
              <a:rPr sz="2000" b="0">
                <a:solidFill>
                  <a:srgbClr val="FFFFFF"/>
                </a:solidFill>
                <a:latin typeface="Arial"/>
              </a:rPr>
              <a:t>of 4,096 portfolios</a:t>
            </a:r>
          </a:p>
        </p:txBody>
      </p:sp>
      <p:sp>
        <p:nvSpPr>
          <p:cNvPr id="7" name="TextBox 6"/>
          <p:cNvSpPr txBox="1"/>
          <p:nvPr/>
        </p:nvSpPr>
        <p:spPr>
          <a:xfrm>
            <a:off x="822960" y="3681984"/>
            <a:ext cx="3566160" cy="890016"/>
          </a:xfrm>
          <a:prstGeom prst="rect">
            <a:avLst/>
          </a:prstGeom>
          <a:noFill/>
        </p:spPr>
        <p:txBody>
          <a:bodyPr wrap="square" lIns="0" rIns="0" tIns="0" bIns="0" anchor="t">
            <a:noAutofit/>
          </a:bodyPr>
          <a:lstStyle/>
          <a:p>
            <a:pPr algn="l">
              <a:lnSpc>
                <a:spcPts val="3360"/>
              </a:lnSpc>
              <a:spcBef>
                <a:spcPts val="0"/>
              </a:spcBef>
              <a:spcAft>
                <a:spcPts val="0"/>
              </a:spcAft>
            </a:pPr>
            <a:r>
              <a:rPr sz="2800" b="1">
                <a:solidFill>
                  <a:srgbClr val="FFFFFF"/>
                </a:solidFill>
                <a:latin typeface="Arial"/>
              </a:rPr>
              <a:t>29×  </a:t>
            </a:r>
            <a:r>
              <a:rPr sz="1800" b="0">
                <a:solidFill>
                  <a:srgbClr val="A9B4C6"/>
                </a:solidFill>
                <a:latin typeface="Arial"/>
              </a:rPr>
              <a:t>random guessing</a:t>
            </a:r>
          </a:p>
          <a:p>
            <a:pPr algn="l">
              <a:lnSpc>
                <a:spcPts val="3360"/>
              </a:lnSpc>
              <a:spcBef>
                <a:spcPts val="288"/>
              </a:spcBef>
              <a:spcAft>
                <a:spcPts val="0"/>
              </a:spcAft>
            </a:pPr>
            <a:r>
              <a:rPr sz="2800" b="1">
                <a:solidFill>
                  <a:srgbClr val="FFFFFF"/>
                </a:solidFill>
                <a:latin typeface="Arial"/>
              </a:rPr>
              <a:t>58 / 1,000  </a:t>
            </a:r>
            <a:r>
              <a:rPr sz="1800" b="0">
                <a:solidFill>
                  <a:srgbClr val="A9B4C6"/>
                </a:solidFill>
                <a:latin typeface="Arial"/>
              </a:rPr>
              <a:t>noiseless</a:t>
            </a:r>
          </a:p>
        </p:txBody>
      </p:sp>
      <p:sp>
        <p:nvSpPr>
          <p:cNvPr id="8" name="TextBox 7"/>
          <p:cNvSpPr txBox="1"/>
          <p:nvPr/>
        </p:nvSpPr>
        <p:spPr>
          <a:xfrm>
            <a:off x="822960" y="4663440"/>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95 % interval: 3-14 per 1,000</a:t>
            </a:r>
          </a:p>
        </p:txBody>
      </p:sp>
      <p:pic>
        <p:nvPicPr>
          <p:cNvPr id="9" name="Picture 8" descr="Dot chart on a log scale: evaluations until the best portfolio is first found, median, fewer is better. Noiseless simulation of the same circuit 12; greedy descent 73; IonQ Forte 1 noise model 99 with a 95 % interval from 48 to 246; simulated annealing 1,516; random guessing 2,839."/>
          <p:cNvPicPr>
            <a:picLocks noChangeAspect="1"/>
          </p:cNvPicPr>
          <p:nvPr/>
        </p:nvPicPr>
        <p:blipFill>
          <a:blip r:embed="rId2"/>
          <a:stretch>
            <a:fillRect/>
          </a:stretch>
        </p:blipFill>
        <p:spPr>
          <a:xfrm>
            <a:off x="4965192" y="1554480"/>
            <a:ext cx="6675120" cy="3794760"/>
          </a:xfrm>
          <a:prstGeom prst="rect">
            <a:avLst/>
          </a:prstGeom>
        </p:spPr>
      </p:pic>
      <p:sp>
        <p:nvSpPr>
          <p:cNvPr id="10" name="TextBox 9"/>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MAIN RESULT</a:t>
            </a:r>
          </a:p>
        </p:txBody>
      </p:sp>
      <p:sp>
        <p:nvSpPr>
          <p:cNvPr id="11" name="TextBox 10"/>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 (Qollab): 1 job, 1,000 shots, 11 Oct 2026 · noiseless simulation</a:t>
            </a:r>
          </a:p>
          <a:p>
            <a:pPr algn="l">
              <a:lnSpc>
                <a:spcPts val="2160"/>
              </a:lnSpc>
              <a:spcBef>
                <a:spcPts val="0"/>
              </a:spcBef>
              <a:spcAft>
                <a:spcPts val="0"/>
              </a:spcAft>
            </a:pPr>
            <a:r>
              <a:rPr sz="1800" b="0">
                <a:solidFill>
                  <a:srgbClr val="A9B4C6"/>
                </a:solidFill>
                <a:latin typeface="Arial"/>
              </a:rPr>
              <a:t>Classical: median of 50 runs. Sampler medians come from the hit rate per shot. Training not counted.</a:t>
            </a:r>
          </a:p>
        </p:txBody>
      </p:sp>
      <p:sp>
        <p:nvSpPr>
          <p:cNvPr id="12" name="TextBox 11"/>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3" name="TextBox 12"/>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Up to 29 qubits, classical heuristics win</a:t>
            </a:r>
          </a:p>
        </p:txBody>
      </p:sp>
      <p:pic>
        <p:nvPicPr>
          <p:cNvPr id="3" name="Picture 2" descr="Line chart: share of runs that find the best portfolio within 1,000 evaluations, against the number of assets. QAOA in noiseless simulation: 100 % at 12, 89 % at 16, 66 % at 20 and 6.6 % at 29 qubits. Classical methods: 100 % at 12 and 61 % at 29. Random guessing: 22 % at 12 and about 0 % from 20 on."/>
          <p:cNvPicPr>
            <a:picLocks noChangeAspect="1"/>
          </p:cNvPicPr>
          <p:nvPr/>
        </p:nvPicPr>
        <p:blipFill>
          <a:blip r:embed="rId2"/>
          <a:stretch>
            <a:fillRect/>
          </a:stretch>
        </p:blipFill>
        <p:spPr>
          <a:xfrm>
            <a:off x="548640" y="1508760"/>
            <a:ext cx="6675120" cy="3840480"/>
          </a:xfrm>
          <a:prstGeom prst="rect">
            <a:avLst/>
          </a:prstGeom>
        </p:spPr>
      </p:pic>
      <p:sp>
        <p:nvSpPr>
          <p:cNvPr id="4" name="TextBox 3"/>
          <p:cNvSpPr txBox="1"/>
          <p:nvPr/>
        </p:nvSpPr>
        <p:spPr>
          <a:xfrm>
            <a:off x="7589520" y="1572768"/>
            <a:ext cx="405079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Read with care</a:t>
            </a:r>
          </a:p>
        </p:txBody>
      </p:sp>
      <p:sp>
        <p:nvSpPr>
          <p:cNvPr id="5" name="Oval 4"/>
          <p:cNvSpPr/>
          <p:nvPr/>
        </p:nvSpPr>
        <p:spPr>
          <a:xfrm>
            <a:off x="7589520" y="215950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0" y="2072640"/>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Training came first: 4,860</a:t>
            </a:r>
          </a:p>
          <a:p>
            <a:pPr algn="l">
              <a:lnSpc>
                <a:spcPts val="2160"/>
              </a:lnSpc>
              <a:spcBef>
                <a:spcPts val="0"/>
              </a:spcBef>
              <a:spcAft>
                <a:spcPts val="0"/>
              </a:spcAft>
            </a:pPr>
            <a:r>
              <a:rPr sz="1800" b="0">
                <a:solidFill>
                  <a:srgbClr val="FFFFFF"/>
                </a:solidFill>
                <a:latin typeface="Arial"/>
              </a:rPr>
              <a:t>simulated circuits</a:t>
            </a:r>
          </a:p>
        </p:txBody>
      </p:sp>
      <p:sp>
        <p:nvSpPr>
          <p:cNvPr id="7" name="Oval 6"/>
          <p:cNvSpPr/>
          <p:nvPr/>
        </p:nvSpPr>
        <p:spPr>
          <a:xfrm>
            <a:off x="7589520" y="286359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776728"/>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shot is not the same work</a:t>
            </a:r>
          </a:p>
          <a:p>
            <a:pPr algn="l">
              <a:lnSpc>
                <a:spcPts val="2160"/>
              </a:lnSpc>
              <a:spcBef>
                <a:spcPts val="0"/>
              </a:spcBef>
              <a:spcAft>
                <a:spcPts val="0"/>
              </a:spcAft>
            </a:pPr>
            <a:r>
              <a:rPr sz="1800" b="0">
                <a:solidFill>
                  <a:srgbClr val="FFFFFF"/>
                </a:solidFill>
                <a:latin typeface="Arial"/>
              </a:rPr>
              <a:t>as a classical evaluation</a:t>
            </a:r>
          </a:p>
        </p:txBody>
      </p:sp>
      <p:sp>
        <p:nvSpPr>
          <p:cNvPr id="9" name="Oval 8"/>
          <p:cNvSpPr/>
          <p:nvPr/>
        </p:nvSpPr>
        <p:spPr>
          <a:xfrm>
            <a:off x="7589520" y="356768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3480816"/>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12 assets: greedy needs 73</a:t>
            </a:r>
          </a:p>
          <a:p>
            <a:pPr algn="l">
              <a:lnSpc>
                <a:spcPts val="2160"/>
              </a:lnSpc>
              <a:spcBef>
                <a:spcPts val="0"/>
              </a:spcBef>
              <a:spcAft>
                <a:spcPts val="0"/>
              </a:spcAft>
            </a:pPr>
            <a:r>
              <a:rPr sz="1800" b="0">
                <a:solidFill>
                  <a:srgbClr val="FFFFFF"/>
                </a:solidFill>
                <a:latin typeface="Arial"/>
              </a:rPr>
              <a:t>evaluations, our noisy run 99</a:t>
            </a:r>
          </a:p>
        </p:txBody>
      </p:sp>
      <p:sp>
        <p:nvSpPr>
          <p:cNvPr id="11" name="Oval 10"/>
          <p:cNvSpPr/>
          <p:nvPr/>
        </p:nvSpPr>
        <p:spPr>
          <a:xfrm>
            <a:off x="7589520" y="427177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184904"/>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29 qubits: noiseless simulation</a:t>
            </a:r>
          </a:p>
          <a:p>
            <a:pPr algn="l">
              <a:lnSpc>
                <a:spcPts val="2160"/>
              </a:lnSpc>
              <a:spcBef>
                <a:spcPts val="0"/>
              </a:spcBef>
              <a:spcAft>
                <a:spcPts val="0"/>
              </a:spcAft>
            </a:pPr>
            <a:r>
              <a:rPr sz="1800" b="0">
                <a:solidFill>
                  <a:srgbClr val="FFFFFF"/>
                </a:solidFill>
                <a:latin typeface="Arial"/>
              </a:rPr>
              <a:t>only, angles reused from 12</a:t>
            </a:r>
          </a:p>
        </p:txBody>
      </p:sp>
      <p:sp>
        <p:nvSpPr>
          <p:cNvPr id="13" name="TextBox 12"/>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SCALING AND HONEST COMPARISON</a:t>
            </a:r>
          </a:p>
        </p:txBody>
      </p:sp>
      <p:sp>
        <p:nvSpPr>
          <p:cNvPr id="14" name="TextBox 13"/>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12-20 qubits: server simulation, 10 Oct 2026 · 29 qubits: server simulation of all 536,870,912 states,</a:t>
            </a:r>
          </a:p>
          <a:p>
            <a:pPr algn="l">
              <a:lnSpc>
                <a:spcPts val="2160"/>
              </a:lnSpc>
              <a:spcBef>
                <a:spcPts val="0"/>
              </a:spcBef>
              <a:spcAft>
                <a:spcPts val="0"/>
              </a:spcAft>
            </a:pPr>
            <a:r>
              <a:rPr sz="1800" b="0">
                <a:solidFill>
                  <a:srgbClr val="A9B4C6"/>
                </a:solidFill>
                <a:latin typeface="Arial"/>
              </a:rPr>
              <a:t>11 Oct 2026 · classical: 200 runs · the same 1,000 evaluations for every method</a:t>
            </a:r>
          </a:p>
        </p:txBody>
      </p:sp>
      <p:sp>
        <p:nvSpPr>
          <p:cNvPr id="15" name="TextBox 14"/>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6" name="TextBox 15"/>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Try it on Qollab: one click, one IonQ job</a:t>
            </a:r>
          </a:p>
        </p:txBody>
      </p:sp>
      <p:sp>
        <p:nvSpPr>
          <p:cNvPr id="3" name="Rounded Rectangle 2"/>
          <p:cNvSpPr/>
          <p:nvPr/>
        </p:nvSpPr>
        <p:spPr>
          <a:xfrm>
            <a:off x="548640" y="1554480"/>
            <a:ext cx="5120640" cy="2651760"/>
          </a:xfrm>
          <a:prstGeom prst="roundRect">
            <a:avLst>
              <a:gd name="adj" fmla="val 4137"/>
            </a:avLst>
          </a:prstGeom>
          <a:noFill/>
          <a:ln w="19050">
            <a:solidFill>
              <a:srgbClr val="D979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331720"/>
            <a:ext cx="5120640" cy="993648"/>
          </a:xfrm>
          <a:prstGeom prst="rect">
            <a:avLst/>
          </a:prstGeom>
          <a:noFill/>
        </p:spPr>
        <p:txBody>
          <a:bodyPr wrap="square" lIns="0" rIns="0" tIns="0" bIns="0" anchor="t">
            <a:noAutofit/>
          </a:bodyPr>
          <a:lstStyle/>
          <a:p>
            <a:pPr algn="ctr">
              <a:lnSpc>
                <a:spcPts val="2640"/>
              </a:lnSpc>
              <a:spcBef>
                <a:spcPts val="0"/>
              </a:spcBef>
              <a:spcAft>
                <a:spcPts val="0"/>
              </a:spcAft>
            </a:pPr>
            <a:r>
              <a:rPr sz="2200" b="1">
                <a:solidFill>
                  <a:srgbClr val="D9791A"/>
                </a:solidFill>
                <a:latin typeface="Arial"/>
              </a:rPr>
              <a:t>[pending] screenshot</a:t>
            </a:r>
          </a:p>
          <a:p>
            <a:pPr algn="ctr">
              <a:lnSpc>
                <a:spcPts val="2160"/>
              </a:lnSpc>
              <a:spcBef>
                <a:spcPts val="432"/>
              </a:spcBef>
              <a:spcAft>
                <a:spcPts val="0"/>
              </a:spcAft>
            </a:pPr>
            <a:r>
              <a:rPr sz="1800" b="0">
                <a:solidFill>
                  <a:srgbClr val="A9B4C6"/>
                </a:solidFill>
                <a:latin typeface="Arial"/>
              </a:rPr>
              <a:t>Qollab → Run → Select QPU →</a:t>
            </a:r>
          </a:p>
          <a:p>
            <a:pPr algn="ctr">
              <a:lnSpc>
                <a:spcPts val="2160"/>
              </a:lnSpc>
              <a:spcBef>
                <a:spcPts val="432"/>
              </a:spcBef>
              <a:spcAft>
                <a:spcPts val="0"/>
              </a:spcAft>
            </a:pPr>
            <a:r>
              <a:rPr sz="1800" b="0">
                <a:solidFill>
                  <a:srgbClr val="A9B4C6"/>
                </a:solidFill>
                <a:latin typeface="Arial"/>
              </a:rPr>
              <a:t>IonQ Forte 1 (29q) noise model</a:t>
            </a:r>
          </a:p>
        </p:txBody>
      </p:sp>
      <p:sp>
        <p:nvSpPr>
          <p:cNvPr id="5" name="TextBox 4"/>
          <p:cNvSpPr txBox="1"/>
          <p:nvPr/>
        </p:nvSpPr>
        <p:spPr>
          <a:xfrm>
            <a:off x="548640" y="4389120"/>
            <a:ext cx="5120640" cy="82296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Qollab project:  </a:t>
            </a:r>
            <a:r>
              <a:rPr sz="1800" b="0">
                <a:solidFill>
                  <a:srgbClr val="D9791A"/>
                </a:solidFill>
                <a:latin typeface="Arial"/>
              </a:rPr>
              <a:t>[pending]</a:t>
            </a:r>
          </a:p>
          <a:p>
            <a:pPr algn="l">
              <a:lnSpc>
                <a:spcPts val="2160"/>
              </a:lnSpc>
              <a:spcBef>
                <a:spcPts val="0"/>
              </a:spcBef>
              <a:spcAft>
                <a:spcPts val="0"/>
              </a:spcAft>
            </a:pPr>
            <a:r>
              <a:rPr sz="1800" b="1">
                <a:solidFill>
                  <a:srgbClr val="FFFFFF"/>
                </a:solidFill>
                <a:latin typeface="Arial"/>
              </a:rPr>
              <a:t>GitHub:  </a:t>
            </a:r>
            <a:r>
              <a:rPr sz="1800" b="0">
                <a:solidFill>
                  <a:srgbClr val="D9791A"/>
                </a:solidFill>
                <a:latin typeface="Arial"/>
              </a:rPr>
              <a:t>[pending]</a:t>
            </a:r>
          </a:p>
          <a:p>
            <a:pPr algn="l">
              <a:lnSpc>
                <a:spcPts val="2160"/>
              </a:lnSpc>
              <a:spcBef>
                <a:spcPts val="0"/>
              </a:spcBef>
              <a:spcAft>
                <a:spcPts val="0"/>
              </a:spcAft>
            </a:pPr>
            <a:r>
              <a:rPr sz="1800" b="1">
                <a:solidFill>
                  <a:srgbClr val="FFFFFF"/>
                </a:solidFill>
                <a:latin typeface="Arial"/>
              </a:rPr>
              <a:t>Video:  </a:t>
            </a:r>
            <a:r>
              <a:rPr sz="1800" b="0">
                <a:solidFill>
                  <a:srgbClr val="D9791A"/>
                </a:solidFill>
                <a:latin typeface="Arial"/>
              </a:rPr>
              <a:t>[pending]</a:t>
            </a:r>
          </a:p>
        </p:txBody>
      </p:sp>
      <p:sp>
        <p:nvSpPr>
          <p:cNvPr id="6" name="TextBox 5"/>
          <p:cNvSpPr txBox="1"/>
          <p:nvPr/>
        </p:nvSpPr>
        <p:spPr>
          <a:xfrm>
            <a:off x="6172200" y="1554480"/>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Honest limits</a:t>
            </a:r>
          </a:p>
        </p:txBody>
      </p:sp>
      <p:sp>
        <p:nvSpPr>
          <p:cNvPr id="7" name="Oval 6"/>
          <p:cNvSpPr/>
          <p:nvPr/>
        </p:nvSpPr>
        <p:spPr>
          <a:xfrm>
            <a:off x="6172200" y="212293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203606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noisy simulator: one job of 1,000 shots</a:t>
            </a:r>
          </a:p>
        </p:txBody>
      </p:sp>
      <p:sp>
        <p:nvSpPr>
          <p:cNvPr id="9" name="Oval 8"/>
          <p:cNvSpPr/>
          <p:nvPr/>
        </p:nvSpPr>
        <p:spPr>
          <a:xfrm>
            <a:off x="6172200" y="25252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3840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Noise cuts the hits from 58 to 7 per 1,000</a:t>
            </a:r>
          </a:p>
        </p:txBody>
      </p:sp>
      <p:sp>
        <p:nvSpPr>
          <p:cNvPr id="11" name="Oval 10"/>
          <p:cNvSpPr/>
          <p:nvPr/>
        </p:nvSpPr>
        <p:spPr>
          <a:xfrm>
            <a:off x="6172200" y="292760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840736"/>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Classical heuristics match or beat it</a:t>
            </a:r>
          </a:p>
        </p:txBody>
      </p:sp>
      <p:sp>
        <p:nvSpPr>
          <p:cNvPr id="13" name="TextBox 12"/>
          <p:cNvSpPr txBox="1"/>
          <p:nvPr/>
        </p:nvSpPr>
        <p:spPr>
          <a:xfrm>
            <a:off x="6172200" y="3499104"/>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Next steps</a:t>
            </a:r>
          </a:p>
        </p:txBody>
      </p:sp>
      <p:sp>
        <p:nvSpPr>
          <p:cNvPr id="14" name="Oval 13"/>
          <p:cNvSpPr/>
          <p:nvPr/>
        </p:nvSpPr>
        <p:spPr>
          <a:xfrm>
            <a:off x="6172200" y="406755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3980688"/>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Run the other 4 selected circuits</a:t>
            </a:r>
          </a:p>
        </p:txBody>
      </p:sp>
      <p:sp>
        <p:nvSpPr>
          <p:cNvPr id="16" name="Oval 15"/>
          <p:cNvSpPr/>
          <p:nvPr/>
        </p:nvSpPr>
        <p:spPr>
          <a:xfrm>
            <a:off x="6172200" y="446989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38302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Shorter circuits: 66 instead of 198 gates</a:t>
            </a:r>
          </a:p>
        </p:txBody>
      </p:sp>
      <p:sp>
        <p:nvSpPr>
          <p:cNvPr id="18" name="Oval 17"/>
          <p:cNvSpPr/>
          <p:nvPr/>
        </p:nvSpPr>
        <p:spPr>
          <a:xfrm>
            <a:off x="6172200" y="487222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78536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29 assets on the IonQ Forte 1 noise model</a:t>
            </a:r>
          </a:p>
        </p:txBody>
      </p:sp>
      <p:sp>
        <p:nvSpPr>
          <p:cNvPr id="20" name="Rounded Rectangle 19"/>
          <p:cNvSpPr/>
          <p:nvPr/>
        </p:nvSpPr>
        <p:spPr>
          <a:xfrm>
            <a:off x="548640" y="5468112"/>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590032"/>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sp>
        <p:nvSpPr>
          <p:cNvPr id="22" name="TextBox 21"/>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DEMO, LIMITS, NEXT STEPS</a:t>
            </a:r>
          </a:p>
        </p:txBody>
      </p:sp>
      <p:sp>
        <p:nvSpPr>
          <p:cNvPr id="23" name="TextBox 22"/>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24" name="TextBox 23"/>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One engine, two problems</a:t>
            </a:r>
          </a:p>
        </p:txBody>
      </p:sp>
      <p:sp>
        <p:nvSpPr>
          <p:cNvPr id="3" name="Rounded Rectangle 2"/>
          <p:cNvSpPr/>
          <p:nvPr/>
        </p:nvSpPr>
        <p:spPr>
          <a:xfrm>
            <a:off x="548640" y="1572768"/>
            <a:ext cx="11094415" cy="420624"/>
          </a:xfrm>
          <a:prstGeom prst="roundRect">
            <a:avLst>
              <a:gd name="adj" fmla="val 17391"/>
            </a:avLst>
          </a:prstGeom>
          <a:solidFill>
            <a:srgbClr val="0F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1636776"/>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
            </a:r>
          </a:p>
        </p:txBody>
      </p:sp>
      <p:sp>
        <p:nvSpPr>
          <p:cNvPr id="5" name="TextBox 4"/>
          <p:cNvSpPr txBox="1"/>
          <p:nvPr/>
        </p:nvSpPr>
        <p:spPr>
          <a:xfrm>
            <a:off x="4773168" y="1636776"/>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Stocks: portfolio selection</a:t>
            </a:r>
          </a:p>
        </p:txBody>
      </p:sp>
      <p:sp>
        <p:nvSpPr>
          <p:cNvPr id="6" name="TextBox 5"/>
          <p:cNvSpPr txBox="1"/>
          <p:nvPr/>
        </p:nvSpPr>
        <p:spPr>
          <a:xfrm>
            <a:off x="8311896" y="1636776"/>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Mesh: split for 2 devices</a:t>
            </a:r>
          </a:p>
        </p:txBody>
      </p:sp>
      <p:sp>
        <p:nvSpPr>
          <p:cNvPr id="7" name="Rounded Rectangle 6"/>
          <p:cNvSpPr/>
          <p:nvPr/>
        </p:nvSpPr>
        <p:spPr>
          <a:xfrm>
            <a:off x="548640" y="2039112"/>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103120"/>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Qubits</a:t>
            </a:r>
          </a:p>
        </p:txBody>
      </p:sp>
      <p:sp>
        <p:nvSpPr>
          <p:cNvPr id="9" name="TextBox 8"/>
          <p:cNvSpPr txBox="1"/>
          <p:nvPr/>
        </p:nvSpPr>
        <p:spPr>
          <a:xfrm>
            <a:off x="4773168" y="2103120"/>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12</a:t>
            </a:r>
          </a:p>
        </p:txBody>
      </p:sp>
      <p:sp>
        <p:nvSpPr>
          <p:cNvPr id="10" name="TextBox 9"/>
          <p:cNvSpPr txBox="1"/>
          <p:nvPr/>
        </p:nvSpPr>
        <p:spPr>
          <a:xfrm>
            <a:off x="8311896" y="2103120"/>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12</a:t>
            </a:r>
          </a:p>
        </p:txBody>
      </p:sp>
      <p:sp>
        <p:nvSpPr>
          <p:cNvPr id="11" name="Rounded Rectangle 10"/>
          <p:cNvSpPr/>
          <p:nvPr/>
        </p:nvSpPr>
        <p:spPr>
          <a:xfrm>
            <a:off x="548640" y="2505456"/>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9464"/>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Circuit sent to IonQ</a:t>
            </a:r>
          </a:p>
        </p:txBody>
      </p:sp>
      <p:sp>
        <p:nvSpPr>
          <p:cNvPr id="13" name="TextBox 12"/>
          <p:cNvSpPr txBox="1"/>
          <p:nvPr/>
        </p:nvSpPr>
        <p:spPr>
          <a:xfrm>
            <a:off x="4773168" y="2569464"/>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CVaR-QAOA, 198 gates</a:t>
            </a:r>
          </a:p>
        </p:txBody>
      </p:sp>
      <p:sp>
        <p:nvSpPr>
          <p:cNvPr id="14" name="TextBox 13"/>
          <p:cNvSpPr txBox="1"/>
          <p:nvPr/>
        </p:nvSpPr>
        <p:spPr>
          <a:xfrm>
            <a:off x="8311896" y="2569464"/>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varQITE ZY, 66 gates</a:t>
            </a:r>
          </a:p>
        </p:txBody>
      </p:sp>
      <p:sp>
        <p:nvSpPr>
          <p:cNvPr id="15" name="Rounded Rectangle 14"/>
          <p:cNvSpPr/>
          <p:nvPr/>
        </p:nvSpPr>
        <p:spPr>
          <a:xfrm>
            <a:off x="548640" y="2971800"/>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035808"/>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Best answer, noise model</a:t>
            </a:r>
          </a:p>
        </p:txBody>
      </p:sp>
      <p:sp>
        <p:nvSpPr>
          <p:cNvPr id="17" name="TextBox 16"/>
          <p:cNvSpPr txBox="1"/>
          <p:nvPr/>
        </p:nvSpPr>
        <p:spPr>
          <a:xfrm>
            <a:off x="4773168" y="3035808"/>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D9791A"/>
                </a:solidFill>
                <a:latin typeface="Arial"/>
              </a:rPr>
              <a:t>7 / 1,000 shots</a:t>
            </a:r>
          </a:p>
        </p:txBody>
      </p:sp>
      <p:sp>
        <p:nvSpPr>
          <p:cNvPr id="18" name="TextBox 17"/>
          <p:cNvSpPr txBox="1"/>
          <p:nvPr/>
        </p:nvSpPr>
        <p:spPr>
          <a:xfrm>
            <a:off x="8311896" y="3035808"/>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D9791A"/>
                </a:solidFill>
                <a:latin typeface="Arial"/>
              </a:rPr>
              <a:t>278 / 1,000 shots</a:t>
            </a:r>
          </a:p>
        </p:txBody>
      </p:sp>
      <p:sp>
        <p:nvSpPr>
          <p:cNvPr id="19" name="Rounded Rectangle 18"/>
          <p:cNvSpPr/>
          <p:nvPr/>
        </p:nvSpPr>
        <p:spPr>
          <a:xfrm>
            <a:off x="548640" y="3438144"/>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02152"/>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Random guessing</a:t>
            </a:r>
          </a:p>
        </p:txBody>
      </p:sp>
      <p:sp>
        <p:nvSpPr>
          <p:cNvPr id="21" name="TextBox 20"/>
          <p:cNvSpPr txBox="1"/>
          <p:nvPr/>
        </p:nvSpPr>
        <p:spPr>
          <a:xfrm>
            <a:off x="4773168" y="3502152"/>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0.24 / 1,000</a:t>
            </a:r>
          </a:p>
        </p:txBody>
      </p:sp>
      <p:sp>
        <p:nvSpPr>
          <p:cNvPr id="22" name="TextBox 21"/>
          <p:cNvSpPr txBox="1"/>
          <p:nvPr/>
        </p:nvSpPr>
        <p:spPr>
          <a:xfrm>
            <a:off x="8311896" y="3502152"/>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0.49 / 1,000</a:t>
            </a:r>
          </a:p>
        </p:txBody>
      </p:sp>
      <p:sp>
        <p:nvSpPr>
          <p:cNvPr id="23" name="Rounded Rectangle 22"/>
          <p:cNvSpPr/>
          <p:nvPr/>
        </p:nvSpPr>
        <p:spPr>
          <a:xfrm>
            <a:off x="548640" y="3904488"/>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3968496"/>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Gain over random guessing</a:t>
            </a:r>
          </a:p>
        </p:txBody>
      </p:sp>
      <p:sp>
        <p:nvSpPr>
          <p:cNvPr id="25" name="TextBox 24"/>
          <p:cNvSpPr txBox="1"/>
          <p:nvPr/>
        </p:nvSpPr>
        <p:spPr>
          <a:xfrm>
            <a:off x="4773168" y="3968496"/>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29×</a:t>
            </a:r>
          </a:p>
        </p:txBody>
      </p:sp>
      <p:sp>
        <p:nvSpPr>
          <p:cNvPr id="26" name="TextBox 25"/>
          <p:cNvSpPr txBox="1"/>
          <p:nvPr/>
        </p:nvSpPr>
        <p:spPr>
          <a:xfrm>
            <a:off x="8311896" y="3968496"/>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569×</a:t>
            </a:r>
          </a:p>
        </p:txBody>
      </p:sp>
      <p:sp>
        <p:nvSpPr>
          <p:cNvPr id="27" name="Rounded Rectangle 26"/>
          <p:cNvSpPr/>
          <p:nvPr/>
        </p:nvSpPr>
        <p:spPr>
          <a:xfrm>
            <a:off x="548640" y="4370832"/>
            <a:ext cx="11094415" cy="420624"/>
          </a:xfrm>
          <a:prstGeom prst="roundRect">
            <a:avLst>
              <a:gd name="adj" fmla="val 173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4434840"/>
            <a:ext cx="374904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Noiseless simulation</a:t>
            </a:r>
          </a:p>
        </p:txBody>
      </p:sp>
      <p:sp>
        <p:nvSpPr>
          <p:cNvPr id="29" name="TextBox 28"/>
          <p:cNvSpPr txBox="1"/>
          <p:nvPr/>
        </p:nvSpPr>
        <p:spPr>
          <a:xfrm>
            <a:off x="4773168" y="4434840"/>
            <a:ext cx="326440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58 / 1,000</a:t>
            </a:r>
          </a:p>
        </p:txBody>
      </p:sp>
      <p:sp>
        <p:nvSpPr>
          <p:cNvPr id="30" name="TextBox 29"/>
          <p:cNvSpPr txBox="1"/>
          <p:nvPr/>
        </p:nvSpPr>
        <p:spPr>
          <a:xfrm>
            <a:off x="8311896" y="4434840"/>
            <a:ext cx="3255264"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FFFFFF"/>
                </a:solidFill>
                <a:latin typeface="Arial"/>
              </a:rPr>
              <a:t>750 / 1,000</a:t>
            </a:r>
          </a:p>
        </p:txBody>
      </p:sp>
      <p:sp>
        <p:nvSpPr>
          <p:cNvPr id="31" name="TextBox 30"/>
          <p:cNvSpPr txBox="1"/>
          <p:nvPr/>
        </p:nvSpPr>
        <p:spPr>
          <a:xfrm>
            <a:off x="548640" y="4956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This effort is supported by Qollab &amp; IonQ</a:t>
            </a:r>
          </a:p>
        </p:txBody>
      </p:sp>
      <p:sp>
        <p:nvSpPr>
          <p:cNvPr id="32" name="TextBox 31"/>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APPENDIX</a:t>
            </a:r>
          </a:p>
        </p:txBody>
      </p:sp>
      <p:sp>
        <p:nvSpPr>
          <p:cNvPr id="33" name="TextBox 32"/>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 (Qollab): one 1,000-shot job per project, 11 Oct 2026 · noiseless: simulation</a:t>
            </a:r>
          </a:p>
          <a:p>
            <a:pPr algn="l">
              <a:lnSpc>
                <a:spcPts val="2160"/>
              </a:lnSpc>
              <a:spcBef>
                <a:spcPts val="0"/>
              </a:spcBef>
              <a:spcAft>
                <a:spcPts val="0"/>
              </a:spcAft>
            </a:pPr>
            <a:r>
              <a:rPr sz="1800" b="0">
                <a:solidFill>
                  <a:srgbClr val="A9B4C6"/>
                </a:solidFill>
                <a:latin typeface="Arial"/>
              </a:rPr>
              <a:t>Stocks: results/ionq_B_cvar_p3_*.json · Mesh: mesh/qollab/results_ionq/*.json on the mesh branch</a:t>
            </a:r>
          </a:p>
        </p:txBody>
      </p:sp>
      <p:sp>
        <p:nvSpPr>
          <p:cNvPr id="34" name="TextBox 33"/>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35" name="TextBox 34"/>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Portfolio Selection with QAOA - ZollerQu</dc:title>
  <dc:subject>Qollab x IonQ Hackathon 2026</dc:subject>
  <dc:creator>Oussama Turki, Tushar Pandey (Team ZollerQu)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