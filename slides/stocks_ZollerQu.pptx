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we are team ZollerQu. We pick stocks with QAOA on the IonQ noise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Funds want low risk and good return. Risk comes from assets that fall together. Twelve assets give four thousand portfolios, twenty-nine give half a billion.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asset is one qubit: zero means buy, one means skip. Risk minus return becomes an Ising energy. The exact best: Apple plus US bonds.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trained fifty-eight circuits offline. Best at twelve qubits: CVaR-QAOA, three layers. At twenty-nine qubits: linear-ramp QAOA, with the angles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compared eight circuit types. The mixer sign, the CVaR objective and more layers mattered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Trapped ions connect every pair of qubits, so one layer needs sixty-six two-qubit gates. A heavy-hex chip needs two hundred eighty-five.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result: on the IonQ noise model, seven in a thousand shots were the exact best portfolio, twenty-nine times better than random. Without noise it is fifty-eight.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twenty-nine assets, three layers find the best in seven percent of runs, classical search in sixty-one. Sixteen layers reach ninety percent, but only without noise. No quantum advantage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also tried Iceberg error detection. On the IonQ noise model it flagged three in four shots. The kept shots were not clearly better, because the code doubles the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[SWITCH TO QOLLAB] This is our project. The code is in main.py. We press Run, pick the IonQ Forte 1 noise model, and get results and plots. [BACK TO SLIDES] Classical methods still match us. Next: more Iceberg layers and shorter circuits.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attention. This effort is supported by Qollab and IonQ.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572768"/>
            <a:ext cx="6309360" cy="1518920"/>
          </a:xfrm>
        </p:spPr>
        <p:txBody>
          <a:bodyPr lIns="0" rIns="0" tIns="0" bIns="0" wrap="square" anchor="t">
            <a:noAutofit/>
          </a:bodyPr>
          <a:lstStyle/>
          <a:p>
            <a:pPr algn="l">
              <a:lnSpc>
                <a:spcPts val="598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Portfolio Selection</a:t>
            </a:r>
          </a:p>
          <a:p>
            <a:pPr algn="l">
              <a:lnSpc>
                <a:spcPts val="598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with QAOA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11880"/>
            <a:ext cx="6309360" cy="670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9B4C6"/>
                </a:solidFill>
                <a:latin typeface="Arial"/>
              </a:rPr>
              <a:t>Which stocks to buy? One qubit per asset,</a:t>
            </a:r>
          </a:p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9B4C6"/>
                </a:solidFill>
                <a:latin typeface="Arial"/>
              </a:rPr>
              <a:t>sampled on the IonQ Forte 1 noise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648200"/>
            <a:ext cx="6309360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Oussama Turki  ·  Tushar Pandey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131B2E"/>
          </a:solidFill>
          <a:ln w="15875">
            <a:solidFill>
              <a:srgbClr val="17A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79720"/>
            <a:ext cx="512064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This effort is supported by Qollab &amp; IonQ</a:t>
            </a:r>
          </a:p>
        </p:txBody>
      </p:sp>
      <p:pic>
        <p:nvPicPr>
          <p:cNvPr id="7" name="Picture 6" descr="Network picture of the 12 assets: 12 dots on a circle, every pair joined by a line; thicker lines mean the two assets move more strongly togethe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914400"/>
            <a:ext cx="47548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TEAM ZOLLERQU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ZollerQu - Qollab x IonQ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327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415" cy="467360"/>
          </a:xfrm>
        </p:spPr>
        <p:txBody>
          <a:bodyPr lIns="0" rIns="0" tIns="0" bIns="0" wrap="square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Which assets should a fund buy?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808988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4480560" cy="670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Banks and funds build</a:t>
            </a:r>
          </a:p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portfolios every day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753868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36520"/>
            <a:ext cx="4480560" cy="670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They want low risk</a:t>
            </a:r>
          </a:p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and a good return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698748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81400"/>
            <a:ext cx="4480560" cy="670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Risk comes from assets</a:t>
            </a:r>
          </a:p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that fall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90288"/>
            <a:ext cx="4754880" cy="670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Every extra asset</a:t>
            </a:r>
          </a:p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doubles the choices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42432" y="1645920"/>
            <a:ext cx="1371600" cy="768096"/>
          </a:xfrm>
          <a:prstGeom prst="roundRect">
            <a:avLst>
              <a:gd name="adj" fmla="val 14285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737360"/>
            <a:ext cx="13716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AAPL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Apple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51192" y="1645920"/>
            <a:ext cx="1371600" cy="768096"/>
          </a:xfrm>
          <a:prstGeom prst="roundRect">
            <a:avLst>
              <a:gd name="adj" fmla="val 14285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1737360"/>
            <a:ext cx="13716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GLD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gold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59952" y="1645920"/>
            <a:ext cx="1371600" cy="768096"/>
          </a:xfrm>
          <a:prstGeom prst="roundRect">
            <a:avLst>
              <a:gd name="adj" fmla="val 14285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1737360"/>
            <a:ext cx="13716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XOM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oil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68712" y="1645920"/>
            <a:ext cx="1371600" cy="768096"/>
          </a:xfrm>
          <a:prstGeom prst="roundRect">
            <a:avLst>
              <a:gd name="adj" fmla="val 14285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68712" y="1737360"/>
            <a:ext cx="13716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JPM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bank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42432" y="2551176"/>
            <a:ext cx="1371600" cy="768096"/>
          </a:xfrm>
          <a:prstGeom prst="roundRect">
            <a:avLst>
              <a:gd name="adj" fmla="val 14285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642616"/>
            <a:ext cx="13716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TLT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US bonds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51192" y="2551176"/>
            <a:ext cx="1371600" cy="768096"/>
          </a:xfrm>
          <a:prstGeom prst="roundRect">
            <a:avLst>
              <a:gd name="adj" fmla="val 14285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1192" y="2642616"/>
            <a:ext cx="13716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JNJ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59952" y="2551176"/>
            <a:ext cx="1371600" cy="768096"/>
          </a:xfrm>
          <a:prstGeom prst="roundRect">
            <a:avLst>
              <a:gd name="adj" fmla="val 14285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9952" y="2642616"/>
            <a:ext cx="13716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PG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consumer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68712" y="2551176"/>
            <a:ext cx="1371600" cy="768096"/>
          </a:xfrm>
          <a:prstGeom prst="roundRect">
            <a:avLst>
              <a:gd name="adj" fmla="val 14285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8712" y="2642616"/>
            <a:ext cx="13716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XLU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utilities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42432" y="3456432"/>
            <a:ext cx="1371600" cy="768096"/>
          </a:xfrm>
          <a:prstGeom prst="roundRect">
            <a:avLst>
              <a:gd name="adj" fmla="val 14285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547872"/>
            <a:ext cx="13716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VNQ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real estate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1192" y="3456432"/>
            <a:ext cx="1371600" cy="768096"/>
          </a:xfrm>
          <a:prstGeom prst="roundRect">
            <a:avLst>
              <a:gd name="adj" fmla="val 14285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51192" y="3547872"/>
            <a:ext cx="13716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FCX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copper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59952" y="3456432"/>
            <a:ext cx="1371600" cy="768096"/>
          </a:xfrm>
          <a:prstGeom prst="roundRect">
            <a:avLst>
              <a:gd name="adj" fmla="val 14285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9952" y="3547872"/>
            <a:ext cx="13716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MSFT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Microsoft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68712" y="3456432"/>
            <a:ext cx="1371600" cy="768096"/>
          </a:xfrm>
          <a:prstGeom prst="roundRect">
            <a:avLst>
              <a:gd name="adj" fmla="val 14285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8712" y="3547872"/>
            <a:ext cx="137160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SLV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silver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42432" y="4480560"/>
            <a:ext cx="2286000" cy="625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28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7A2B8"/>
                </a:solidFill>
                <a:latin typeface="Arial"/>
              </a:rPr>
              <a:t>4,096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2432" y="51247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portfolios, 12 assets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4480560"/>
            <a:ext cx="3383280" cy="625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28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7A2B8"/>
                </a:solidFill>
                <a:latin typeface="Arial"/>
              </a:rPr>
              <a:t>536,870,912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512470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portfolios, 29 assets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PROBLEM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7881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Data: weekly prices of 12 US stocks and funds, 2006-2014 (Kaggle Huge Stock Market Dataset, CC0)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ZollerQu - Qollab x IonQ Hackathon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1455" y="6327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415" cy="467360"/>
          </a:xfrm>
        </p:spPr>
        <p:txBody>
          <a:bodyPr lIns="0" rIns="0" tIns="0" bIns="0" wrap="square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One qubit per asset, one Ising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Score to minimise: risk minus return</a:t>
            </a:r>
          </a:p>
        </p:txBody>
      </p:sp>
      <p:pic>
        <p:nvPicPr>
          <p:cNvPr id="4" name="Picture 3" descr="Formula: J of x equals x transposed C x over n squared V ref (the risk), minus eta times mu transposed x over n sigma ref (the return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20"/>
            <a:ext cx="5669280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7355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The same score as an Ising energy</a:t>
            </a:r>
          </a:p>
        </p:txBody>
      </p:sp>
      <p:pic>
        <p:nvPicPr>
          <p:cNvPr id="6" name="Picture 5" descr="Formula: E of s equals the sum over pairs of J i j times s i s j, plus the sum of h i times s i, plus a constan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566928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617720"/>
            <a:ext cx="5852160" cy="655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 qubit = 1 asset:  </a:t>
            </a:r>
            <a:r>
              <a:rPr sz="2000" b="0">
                <a:solidFill>
                  <a:srgbClr val="FFFFFF"/>
                </a:solidFill>
                <a:latin typeface="Arial"/>
              </a:rPr>
              <a:t>|0&gt; buy,  |1&gt; skip</a:t>
            </a:r>
          </a:p>
          <a:p>
            <a:pPr algn="l">
              <a:lnSpc>
                <a:spcPts val="2400"/>
              </a:lnSpc>
              <a:spcBef>
                <a:spcPts val="360"/>
              </a:spcBef>
              <a:spcAft>
                <a:spcPts val="0"/>
              </a:spcAft>
            </a:pPr>
            <a:r>
              <a:rPr sz="2000" b="0">
                <a:solidFill>
                  <a:srgbClr val="A9B4C6"/>
                </a:solidFill>
                <a:latin typeface="Arial"/>
              </a:rPr>
              <a:t>12 qubits  ·  66 couplings  ·  4,096 states</a:t>
            </a:r>
          </a:p>
        </p:txBody>
      </p:sp>
      <p:pic>
        <p:nvPicPr>
          <p:cNvPr id="8" name="Picture 7" descr="Network of the 12 assets with every pair linked. Two filled dots mark the exact best portfolio: buy AAPL and TLT; the other ten are skipped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463040"/>
            <a:ext cx="50292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881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Exact best portfolio found by checking all 4,096 portfolios (classical); risk and return from 2006-2014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ZollerQu - Qollab x IonQ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71455" y="6327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415" cy="467360"/>
          </a:xfrm>
        </p:spPr>
        <p:txBody>
          <a:bodyPr lIns="0" rIns="0" tIns="0" bIns="0" wrap="square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QAOA circuits, trained offline, one IonQ job</a:t>
            </a:r>
          </a:p>
        </p:txBody>
      </p:sp>
      <p:pic>
        <p:nvPicPr>
          <p:cNvPr id="3" name="Picture 2" descr="Circuit sketch: four of the twelve qubit lines. Each starts with an H gate, passes a cost layer block (one ZZ gate per pair, 66, and one Z rotation per qubit) and a mixer block (RX on every qubit), repeated three times, then is measured; 1,000 shots give 1,000 portfolio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11094415" cy="2377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4023360"/>
            <a:ext cx="3545738" cy="1572768"/>
          </a:xfrm>
          <a:prstGeom prst="roundRect">
            <a:avLst>
              <a:gd name="adj" fmla="val 6976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69664"/>
            <a:ext cx="317997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COMPARED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71416"/>
            <a:ext cx="3179978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 circuit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3272"/>
            <a:ext cx="317997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58 circuits, trained offline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on a classical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4023360"/>
            <a:ext cx="3545738" cy="1572768"/>
          </a:xfrm>
          <a:prstGeom prst="roundRect">
            <a:avLst>
              <a:gd name="adj" fmla="val 6976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5858" y="4169664"/>
            <a:ext cx="317997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BEST AT 12 QUBITS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5858" y="4471416"/>
            <a:ext cx="3179978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791A"/>
                </a:solidFill>
                <a:latin typeface="Arial"/>
              </a:rPr>
              <a:t>CVaR-QAOA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5858" y="4843272"/>
            <a:ext cx="317997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3 layers, 198 two-qubit gates,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sent to IonQ as one job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7" y="4023360"/>
            <a:ext cx="3545738" cy="1572768"/>
          </a:xfrm>
          <a:prstGeom prst="roundRect">
            <a:avLst>
              <a:gd name="adj" fmla="val 6976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7" y="4169664"/>
            <a:ext cx="317997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AT 16, 20, 29 QUBITS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197" y="4471416"/>
            <a:ext cx="3179978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Linear-ramp QAOA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7" y="4843272"/>
            <a:ext cx="317997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Angles reused from 12 qubits,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no new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QUANTUM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881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12 qubits: 58 circuits + a random-guess control, noiseless simulation · 16-29 qubits: server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ZollerQu - Qollab x IonQ Hackathon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327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415" cy="467360"/>
          </a:xfrm>
        </p:spPr>
        <p:txBody>
          <a:bodyPr lIns="0" rIns="0" tIns="0" bIns="0" wrap="square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8 circuit types, 5 settings that mattered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4663440" cy="3749040"/>
          </a:xfrm>
          <a:prstGeom prst="roundRect">
            <a:avLst>
              <a:gd name="adj" fmla="val 2926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4297680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58 circuits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579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6 kinds of QAOA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561844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7497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Linear-ramp QAOA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54452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6758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Free-angle QAOA, 5 optimisers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47060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601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CVaR-QAOA (α = 0.1, 0.25)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439668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52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Multi-angle QAOA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732276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454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Counterdiabatic QAOA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024884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3801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XY-mixer QAOA (keeps balance)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035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2 imaginary-time methods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756404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6953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VarQITE on the QAOA angles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049012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96214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varQITE ansatz (IonQ + ORNL)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554480"/>
            <a:ext cx="6108192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Settings we changed (noiseless)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1962912"/>
            <a:ext cx="6108192" cy="621792"/>
          </a:xfrm>
          <a:prstGeom prst="roundRect">
            <a:avLst>
              <a:gd name="adj" fmla="val 11764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1999488"/>
            <a:ext cx="580644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Mixer sign (12 assets)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as written → opposite sign: 0.004 % → 1.8 % per shot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2120" y="2639568"/>
            <a:ext cx="6108192" cy="621792"/>
          </a:xfrm>
          <a:prstGeom prst="roundRect">
            <a:avLst>
              <a:gd name="adj" fmla="val 11764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2676144"/>
            <a:ext cx="580644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Objective (12 assets)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mean energy → CVaR 0.1: 1.8 % → 5.8 % per shot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3316224"/>
            <a:ext cx="6108192" cy="621792"/>
          </a:xfrm>
          <a:prstGeom prst="roundRect">
            <a:avLst>
              <a:gd name="adj" fmla="val 11764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3352800"/>
            <a:ext cx="580644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Layers (29 assets)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3 → 16: 6.6 % → 90 % of runs (noiseless)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3992880"/>
            <a:ext cx="6108192" cy="621792"/>
          </a:xfrm>
          <a:prstGeom prst="roundRect">
            <a:avLst>
              <a:gd name="adj" fmla="val 11764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029456"/>
            <a:ext cx="580644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Ramp range (29 assets)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up to 1.5 → 3.0: 45 % → 90 % of runs at 16 layers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32120" y="4669536"/>
            <a:ext cx="6108192" cy="621792"/>
          </a:xfrm>
          <a:prstGeom prst="roundRect">
            <a:avLst>
              <a:gd name="adj" fmla="val 11764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706112"/>
            <a:ext cx="580644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Angle choice (29 assets, 3 layers)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by energy → by CVaR: 9.9 % → 17.9 % of 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WHAT WE TRIED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51383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12 assets: noiseless simulation, 10 Oct 2026 · 29 assets: noiseless server simulation, 11 Oct 2026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per shot = chance that one shot is the best portfolio · runs = 1,000-shot runs that contain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ZollerQu - Qollab x IonQ Hackathon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71455" y="6327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415" cy="467360"/>
          </a:xfrm>
        </p:spPr>
        <p:txBody>
          <a:bodyPr lIns="0" rIns="0" tIns="0" bIns="0" wrap="square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All-to-all links: 4.3× fewer two-qubit gates</a:t>
            </a:r>
          </a:p>
        </p:txBody>
      </p:sp>
      <p:pic>
        <p:nvPicPr>
          <p:cNvPr id="3" name="Picture 2" descr="Column chart of two-qubit gates in one QAOA layer. At 12 qubits: 66 on all-to-all against 285 on a heavy-hex grid. At 29 qubits: 244 against 1,576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6400800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43800" y="1554480"/>
            <a:ext cx="4069080" cy="853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72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17A2B8"/>
                </a:solidFill>
                <a:latin typeface="Arial"/>
              </a:rPr>
              <a:t>4.3×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0" y="2426208"/>
            <a:ext cx="406908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fewer two-qubit gates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at 12 qubits (66 vs 285)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3236976"/>
            <a:ext cx="4069080" cy="853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72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17A2B8"/>
                </a:solidFill>
                <a:latin typeface="Arial"/>
              </a:rPr>
              <a:t>6.5×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4108704"/>
            <a:ext cx="406908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fewer at 29 qubits (244 vs 1,576)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614672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66 pairs = 66 gates, no SWAPs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WHY IONQ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1383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Gate counts from transpiling only (Qiskit 2.5.2, level 1); heavy-hex = median of 5 routing seeds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on a generic heavy-hex map. No circuit was run on a heavy-hex device.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ZollerQu - Qollab x IonQ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71455" y="6327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415" cy="467360"/>
          </a:xfrm>
        </p:spPr>
        <p:txBody>
          <a:bodyPr lIns="0" rIns="0" tIns="0" bIns="0" wrap="square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IonQ noise model: 29× random guessing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4069080" cy="3794760"/>
          </a:xfrm>
          <a:prstGeom prst="roundRect">
            <a:avLst>
              <a:gd name="adj" fmla="val 2891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5564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IonQ Forte 1 noise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84832"/>
            <a:ext cx="3566160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048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D9791A"/>
                </a:solidFill>
                <a:latin typeface="Arial"/>
              </a:rPr>
              <a:t>7 / 1,000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71216"/>
            <a:ext cx="35661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shots are the exact best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of 4,096 portfolios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81984"/>
            <a:ext cx="3566160" cy="890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29×  </a:t>
            </a:r>
            <a:r>
              <a:rPr sz="1800" b="0">
                <a:solidFill>
                  <a:srgbClr val="A9B4C6"/>
                </a:solidFill>
                <a:latin typeface="Arial"/>
              </a:rPr>
              <a:t>random guessing</a:t>
            </a:r>
          </a:p>
          <a:p>
            <a:pPr algn="l">
              <a:lnSpc>
                <a:spcPts val="3360"/>
              </a:lnSpc>
              <a:spcBef>
                <a:spcPts val="288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58 / 1,000  </a:t>
            </a:r>
            <a:r>
              <a:rPr sz="1800" b="0">
                <a:solidFill>
                  <a:srgbClr val="A9B4C6"/>
                </a:solidFill>
                <a:latin typeface="Arial"/>
              </a:rPr>
              <a:t>noiseless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95 % interval: 3-14 per 1,000</a:t>
            </a:r>
          </a:p>
        </p:txBody>
      </p:sp>
      <p:pic>
        <p:nvPicPr>
          <p:cNvPr id="9" name="Picture 8" descr="Dot chart on a log scale: evaluations until the best portfolio is first found, median, fewer is better. Noiseless simulation of the same circuit 12; greedy descent 73; IonQ Forte 1 noise model 99 with a 95 % interval from 48 to 246; simulated annealing 1,516; random guessing 2,839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554480"/>
            <a:ext cx="6675120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MAIN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1383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IonQ Forte 1 noise model (Qollab): 1 job, 1,000 shots, 11 Oct 2026 · noiseless simulation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Classical: median of 50 runs. Sampler medians come from the hit rate per shot. Training not counted.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ZollerQu - Qollab x IonQ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1455" y="6327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415" cy="467360"/>
          </a:xfrm>
        </p:spPr>
        <p:txBody>
          <a:bodyPr lIns="0" rIns="0" tIns="0" bIns="0" wrap="square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29 qubits: more layers help, only without noise</a:t>
            </a:r>
          </a:p>
        </p:txBody>
      </p:sp>
      <p:pic>
        <p:nvPicPr>
          <p:cNvPr id="3" name="Picture 2" descr="Line chart for 29 assets: share of 1,000-shot runs that contain the exact best portfolio, against the number of layers, in noiseless simulation. With the ramp tuned on a wider grid: 6.6 % at 3 layers, 62 % at 12, 90 % at 16, 99.6 % at 24 and 100 % at 32. With the ramp as in the paper: 45 % at 16 layers. Classical methods with 1,000 evaluations: 61 %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667512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572768"/>
            <a:ext cx="4050792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Read with care</a:t>
            </a:r>
          </a:p>
        </p:txBody>
      </p:sp>
      <p:sp>
        <p:nvSpPr>
          <p:cNvPr id="5" name="Oval 4"/>
          <p:cNvSpPr/>
          <p:nvPr/>
        </p:nvSpPr>
        <p:spPr>
          <a:xfrm>
            <a:off x="7589520" y="2159508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2072640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Noiseless simulation only</a:t>
            </a:r>
          </a:p>
        </p:txBody>
      </p:sp>
      <p:sp>
        <p:nvSpPr>
          <p:cNvPr id="7" name="Oval 6"/>
          <p:cNvSpPr/>
          <p:nvPr/>
        </p:nvSpPr>
        <p:spPr>
          <a:xfrm>
            <a:off x="7589520" y="2589276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502408"/>
            <a:ext cx="37764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16 layers = 6,496 two-qubit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gates; our 198-gate IonQ run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lost a factor 8 to noise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3567684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480816"/>
            <a:ext cx="37764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Classical: 100 % with 10,000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evaluations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0" y="4271772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184904"/>
            <a:ext cx="37764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A shot is not the same work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as a classical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SCALING AND HONEST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1383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Server simulation of all 536,870,912 states, 11 Oct 2026; ramp tuned at 12 assets, no tuning at 29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Classical: greedy descent and annealing, 200 runs, the same 1,000 evaluations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ZollerQu - Qollab x IonQ Hackathon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327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415" cy="467360"/>
          </a:xfrm>
        </p:spPr>
        <p:txBody>
          <a:bodyPr lIns="0" rIns="0" tIns="0" bIns="0" wrap="square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Iceberg catches errors, but doubles the gates</a:t>
            </a:r>
          </a:p>
        </p:txBody>
      </p:sp>
      <p:pic>
        <p:nvPicPr>
          <p:cNvPr id="3" name="Picture 2" descr="Bar chart: share of single faults that are caught or harmless, from injecting every single fault (5,904) in exact simulation. Start state and flag 100 %, syndrome checks 100 %, readout bit flips 100 %, QAOA gates 80 %; the rest are XX, YY and ZZ errors on a gate's own pair, which a distance-2 code cannot se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667512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554480"/>
            <a:ext cx="4050792" cy="625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28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7A2B8"/>
                </a:solidFill>
                <a:latin typeface="Arial"/>
              </a:rPr>
              <a:t>17 qubits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198624"/>
            <a:ext cx="4050792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12 logical on 14, + 1 flag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+ 2 helpers per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991104"/>
            <a:ext cx="4050792" cy="625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28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7A2B8"/>
                </a:solidFill>
                <a:latin typeface="Arial"/>
              </a:rPr>
              <a:t>25 % kept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635248"/>
            <a:ext cx="4050792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IonQ Forte 1 noise model,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1 layer: 3 in 4 shots flagged</a:t>
            </a:r>
          </a:p>
        </p:txBody>
      </p:sp>
      <p:sp>
        <p:nvSpPr>
          <p:cNvPr id="8" name="Oval 7"/>
          <p:cNvSpPr/>
          <p:nvPr/>
        </p:nvSpPr>
        <p:spPr>
          <a:xfrm>
            <a:off x="7589520" y="4532884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4446016"/>
            <a:ext cx="37764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Best portfolio: 2 of 246 kept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shots; plain 5-11 per 1,000</a:t>
            </a:r>
          </a:p>
        </p:txBody>
      </p:sp>
      <p:sp>
        <p:nvSpPr>
          <p:cNvPr id="10" name="Oval 9"/>
          <p:cNvSpPr/>
          <p:nvPr/>
        </p:nvSpPr>
        <p:spPr>
          <a:xfrm>
            <a:off x="7589520" y="5191252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5104384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133 vs 66 two-qubit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ERROR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1383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Faults: exact simulation of every single fault (1, 2 layers) · Run: IonQ Forte 1 noise model, 1,000 shots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Detection, not correction: shots that fail a check are discarded (Qollab, 11 Oct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ZollerQu - Qollab x IonQ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327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415" cy="467360"/>
          </a:xfrm>
        </p:spPr>
        <p:txBody>
          <a:bodyPr lIns="0" rIns="0" tIns="0" bIns="0" wrap="square" anchor="t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Try it on Qollab: one click, one IonQ job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120640" cy="3794760"/>
          </a:xfrm>
          <a:prstGeom prst="roundRect">
            <a:avLst>
              <a:gd name="adj" fmla="val 2891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Live demo on Qollab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523744"/>
            <a:ext cx="457200" cy="457200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41448"/>
            <a:ext cx="4023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Open the project: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the code is in main.py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499104"/>
            <a:ext cx="457200" cy="457200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814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416808"/>
            <a:ext cx="4023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Run → Select QPU →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IonQ Forte 1 (29q) noise model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474464"/>
            <a:ext cx="457200" cy="457200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567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392168"/>
            <a:ext cx="4023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Each job returns counts,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a table and plots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554480"/>
            <a:ext cx="5468112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Honest limits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2122932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36064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A noisy simulator: one job of 1,000 shots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2525268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438400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Noise cuts the hits from 58 to 7 per 1,000</a:t>
            </a:r>
          </a:p>
        </p:txBody>
      </p:sp>
      <p:sp>
        <p:nvSpPr>
          <p:cNvPr id="19" name="Oval 18"/>
          <p:cNvSpPr/>
          <p:nvPr/>
        </p:nvSpPr>
        <p:spPr>
          <a:xfrm>
            <a:off x="6172200" y="2927604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840736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Classical heuristics match or beat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499104"/>
            <a:ext cx="5468112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22" name="Oval 21"/>
          <p:cNvSpPr/>
          <p:nvPr/>
        </p:nvSpPr>
        <p:spPr>
          <a:xfrm>
            <a:off x="6172200" y="4067556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980688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Iceberg at more layers and checks</a:t>
            </a:r>
          </a:p>
        </p:txBody>
      </p:sp>
      <p:sp>
        <p:nvSpPr>
          <p:cNvPr id="24" name="Oval 23"/>
          <p:cNvSpPr/>
          <p:nvPr/>
        </p:nvSpPr>
        <p:spPr>
          <a:xfrm>
            <a:off x="6172200" y="4469892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383024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Shorter circuits: 66 instead of 198 gates</a:t>
            </a:r>
          </a:p>
        </p:txBody>
      </p:sp>
      <p:sp>
        <p:nvSpPr>
          <p:cNvPr id="26" name="Oval 25"/>
          <p:cNvSpPr/>
          <p:nvPr/>
        </p:nvSpPr>
        <p:spPr>
          <a:xfrm>
            <a:off x="6172200" y="4872228"/>
            <a:ext cx="100584" cy="100584"/>
          </a:xfrm>
          <a:prstGeom prst="ellipse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785360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Find how many layers the noise allows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DEMO, LIMITS, 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ZollerQu - Qollab x IonQ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1455" y="6327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572768"/>
            <a:ext cx="6309360" cy="1518920"/>
          </a:xfrm>
        </p:spPr>
        <p:txBody>
          <a:bodyPr lIns="0" rIns="0" tIns="0" bIns="0" wrap="square" anchor="t">
            <a:noAutofit/>
          </a:bodyPr>
          <a:lstStyle/>
          <a:p>
            <a:pPr algn="l">
              <a:lnSpc>
                <a:spcPts val="598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Thank you for</a:t>
            </a:r>
          </a:p>
          <a:p>
            <a:pPr algn="l">
              <a:lnSpc>
                <a:spcPts val="598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your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11880"/>
            <a:ext cx="6309360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Oussama Turki  ·  Tushar Pandey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30040"/>
            <a:ext cx="630936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9B4C6"/>
                </a:solidFill>
                <a:latin typeface="Arial"/>
              </a:rPr>
              <a:t>Portfolio Selection with QAOA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131B2E"/>
          </a:solidFill>
          <a:ln w="15875">
            <a:solidFill>
              <a:srgbClr val="17A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79720"/>
            <a:ext cx="512064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This effort is supported by Qollab &amp; IonQ</a:t>
            </a:r>
          </a:p>
        </p:txBody>
      </p:sp>
      <p:pic>
        <p:nvPicPr>
          <p:cNvPr id="7" name="Picture 6" descr="The network picture of the 12 assets from the title slide: 12 dots on a circle, every pair joined by a lin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914400"/>
            <a:ext cx="47548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A2B8"/>
                </a:solidFill>
                <a:latin typeface="Arial"/>
              </a:rPr>
              <a:t>TEAM ZOLLERQU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ZollerQu - Qollab x IonQ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327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B4C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Selection with QAOA - ZollerQu</dc:title>
  <dc:subject>Qollab x IonQ Hackathon 2026</dc:subject>
  <dc:creator>Oussama Turki, Tushar Pandey (Team ZollerQu)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