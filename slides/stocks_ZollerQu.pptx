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we are team ZollerQu. Which stocks should a fund buy? We turn this into an Ising problem, one qubit per asset, and sample it with QAOA on the IonQ Forte 1 noise model.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Banks and funds build portfolios every day. They want low risk and a good return. Risk comes from assets that fall together. Twelve assets give 4,096 portfolios; twenty-nine give over five hundred million.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asset is one qubit: zero means buy, one means skip. Risk minus return becomes an Ising energy with one coupling per pair. Checking every portfolio, the best is Apple plus Treasury bonds.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circuit is QAOA: Hadamards, a cost layer with one ZZ gate per pair, then a mixer. At twelve qubits the best is CVaR-QAOA; at twenty-nine, linear-ramp QAOA with angles from twelve.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tested eight circuit types, six kinds of QAOA and two imaginary-time methods. Five settings made the difference: the mixer sign, a CVaR objective, more layers, a wider ramp range, and choosing angles by CVaR.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Trapped ions link every pair of qubits directly. One layer needs 66 two-qubit gates; on a heavy-hex grid it needs 285: 4.3 times more, and 6.5 times at twenty-nine qubits.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IonQ Forte 1 noise model, 7 of 1,000 shots were the exact best portfolio, 29 times more than random guessing. The noiseless simulation gives 58, so noise costs a factor of 8. Greedy search is in the same range.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twenty-nine assets the three-layer circuit finds the best portfolio in 7 percent of runs, classical methods in 61. With more layers, the noiseless circuit reaches 90 percent at sixteen. That needs six and a half thousand two-qubit gates, far beyond today's noise. No advantage is claimed.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protected the circuit with the Iceberg error-detection code: twelve logical qubits on 17. In exact simulation it catches every preparation, check and readout fault. On the IonQ noise model it flagged three in four shots. The kept shots were not clearly better than plain QAOA, because the code doubles the gates.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 TO LIVE QOLLAB DEMO] Here is our Qollab project; the code is in main.py. We press Run, choose the IonQ Forte 1 noise model, and get counts and plots. [BACK TO SLIDE] Limits: a noisy simulator and strong classical baselines. Next: Iceberg under real noise, and shorter circuits.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attention. This effort is supported by Qollab and IonQ.</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1572768"/>
            <a:ext cx="6309360" cy="1518920"/>
          </a:xfrm>
        </p:spPr>
        <p:txBody>
          <a:bodyPr lIns="0" rIns="0" tIns="0" bIns="0" wrap="square" anchor="t">
            <a:noAutofit/>
          </a:bodyPr>
          <a:lstStyle/>
          <a:p>
            <a:pPr algn="l">
              <a:lnSpc>
                <a:spcPts val="5980"/>
              </a:lnSpc>
              <a:spcBef>
                <a:spcPts val="0"/>
              </a:spcBef>
              <a:spcAft>
                <a:spcPts val="0"/>
              </a:spcAft>
            </a:pPr>
            <a:r>
              <a:rPr sz="5200" b="1">
                <a:solidFill>
                  <a:srgbClr val="FFFFFF"/>
                </a:solidFill>
                <a:latin typeface="Arial"/>
              </a:rPr>
              <a:t>Portfolio Selection</a:t>
            </a:r>
          </a:p>
          <a:p>
            <a:pPr algn="l">
              <a:lnSpc>
                <a:spcPts val="5980"/>
              </a:lnSpc>
              <a:spcBef>
                <a:spcPts val="0"/>
              </a:spcBef>
              <a:spcAft>
                <a:spcPts val="0"/>
              </a:spcAft>
            </a:pPr>
            <a:r>
              <a:rPr sz="5200" b="1">
                <a:solidFill>
                  <a:srgbClr val="FFFFFF"/>
                </a:solidFill>
                <a:latin typeface="Arial"/>
              </a:rPr>
              <a:t>with QAOA</a:t>
            </a:r>
          </a:p>
        </p:txBody>
      </p:sp>
      <p:sp>
        <p:nvSpPr>
          <p:cNvPr id="3" name="TextBox 2"/>
          <p:cNvSpPr txBox="1"/>
          <p:nvPr/>
        </p:nvSpPr>
        <p:spPr>
          <a:xfrm>
            <a:off x="548640" y="3611880"/>
            <a:ext cx="6309360" cy="670560"/>
          </a:xfrm>
          <a:prstGeom prst="rect">
            <a:avLst/>
          </a:prstGeom>
          <a:noFill/>
        </p:spPr>
        <p:txBody>
          <a:bodyPr wrap="square" lIns="0" rIns="0" tIns="0" bIns="0" anchor="t">
            <a:noAutofit/>
          </a:bodyPr>
          <a:lstStyle/>
          <a:p>
            <a:pPr algn="l">
              <a:lnSpc>
                <a:spcPts val="2640"/>
              </a:lnSpc>
              <a:spcBef>
                <a:spcPts val="0"/>
              </a:spcBef>
              <a:spcAft>
                <a:spcPts val="0"/>
              </a:spcAft>
            </a:pPr>
            <a:r>
              <a:rPr sz="2200" b="0">
                <a:solidFill>
                  <a:srgbClr val="A9B4C6"/>
                </a:solidFill>
                <a:latin typeface="Arial"/>
              </a:rPr>
              <a:t>Which stocks to buy? One qubit per asset,</a:t>
            </a:r>
          </a:p>
          <a:p>
            <a:pPr algn="l">
              <a:lnSpc>
                <a:spcPts val="2640"/>
              </a:lnSpc>
              <a:spcBef>
                <a:spcPts val="0"/>
              </a:spcBef>
              <a:spcAft>
                <a:spcPts val="0"/>
              </a:spcAft>
            </a:pPr>
            <a:r>
              <a:rPr sz="2200" b="0">
                <a:solidFill>
                  <a:srgbClr val="A9B4C6"/>
                </a:solidFill>
                <a:latin typeface="Arial"/>
              </a:rPr>
              <a:t>sampled on the IonQ Forte 1 noise model.</a:t>
            </a:r>
          </a:p>
        </p:txBody>
      </p:sp>
      <p:sp>
        <p:nvSpPr>
          <p:cNvPr id="4" name="TextBox 3"/>
          <p:cNvSpPr txBox="1"/>
          <p:nvPr/>
        </p:nvSpPr>
        <p:spPr>
          <a:xfrm>
            <a:off x="548640" y="4648200"/>
            <a:ext cx="6309360" cy="335280"/>
          </a:xfrm>
          <a:prstGeom prst="rect">
            <a:avLst/>
          </a:prstGeom>
          <a:noFill/>
        </p:spPr>
        <p:txBody>
          <a:bodyPr wrap="square" lIns="0" rIns="0" tIns="0" bIns="0" anchor="t">
            <a:noAutofit/>
          </a:bodyPr>
          <a:lstStyle/>
          <a:p>
            <a:pPr algn="l">
              <a:lnSpc>
                <a:spcPts val="2640"/>
              </a:lnSpc>
              <a:spcBef>
                <a:spcPts val="0"/>
              </a:spcBef>
              <a:spcAft>
                <a:spcPts val="0"/>
              </a:spcAft>
            </a:pPr>
            <a:r>
              <a:rPr sz="2200" b="1">
                <a:solidFill>
                  <a:srgbClr val="FFFFFF"/>
                </a:solidFill>
                <a:latin typeface="Arial"/>
              </a:rPr>
              <a:t>Oussama Turki  ·  Tushar Pandey</a:t>
            </a:r>
          </a:p>
        </p:txBody>
      </p:sp>
      <p:sp>
        <p:nvSpPr>
          <p:cNvPr id="5" name="Rounded Rectangle 4"/>
          <p:cNvSpPr/>
          <p:nvPr/>
        </p:nvSpPr>
        <p:spPr>
          <a:xfrm>
            <a:off x="548640" y="5257800"/>
            <a:ext cx="5120640" cy="566928"/>
          </a:xfrm>
          <a:prstGeom prst="roundRect">
            <a:avLst>
              <a:gd name="adj" fmla="val 50000"/>
            </a:avLst>
          </a:prstGeom>
          <a:solidFill>
            <a:srgbClr val="131B2E"/>
          </a:solidFill>
          <a:ln w="15875">
            <a:solidFill>
              <a:srgbClr val="17A2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5379720"/>
            <a:ext cx="5120640" cy="304800"/>
          </a:xfrm>
          <a:prstGeom prst="rect">
            <a:avLst/>
          </a:prstGeom>
          <a:noFill/>
        </p:spPr>
        <p:txBody>
          <a:bodyPr wrap="square" lIns="0" rIns="0" tIns="0" bIns="0" anchor="t">
            <a:noAutofit/>
          </a:bodyPr>
          <a:lstStyle/>
          <a:p>
            <a:pPr algn="ctr">
              <a:lnSpc>
                <a:spcPts val="2400"/>
              </a:lnSpc>
              <a:spcBef>
                <a:spcPts val="0"/>
              </a:spcBef>
              <a:spcAft>
                <a:spcPts val="0"/>
              </a:spcAft>
            </a:pPr>
            <a:r>
              <a:rPr sz="2000" b="0">
                <a:solidFill>
                  <a:srgbClr val="FFFFFF"/>
                </a:solidFill>
                <a:latin typeface="Arial"/>
              </a:rPr>
              <a:t>This effort is supported by Qollab &amp; IonQ</a:t>
            </a:r>
          </a:p>
        </p:txBody>
      </p:sp>
      <p:pic>
        <p:nvPicPr>
          <p:cNvPr id="7" name="Picture 6" descr="Network picture of the 12 assets: 12 dots on a circle, every pair joined by a line; thicker lines mean the two assets move more strongly together."/>
          <p:cNvPicPr>
            <a:picLocks noChangeAspect="1"/>
          </p:cNvPicPr>
          <p:nvPr/>
        </p:nvPicPr>
        <p:blipFill>
          <a:blip r:embed="rId2"/>
          <a:stretch>
            <a:fillRect/>
          </a:stretch>
        </p:blipFill>
        <p:spPr>
          <a:xfrm>
            <a:off x="6903720" y="914400"/>
            <a:ext cx="4754880" cy="4754880"/>
          </a:xfrm>
          <a:prstGeom prst="rect">
            <a:avLst/>
          </a:prstGeom>
        </p:spPr>
      </p:pic>
      <p:sp>
        <p:nvSpPr>
          <p:cNvPr id="8" name="TextBox 7"/>
          <p:cNvSpPr txBox="1"/>
          <p:nvPr/>
        </p:nvSpPr>
        <p:spPr>
          <a:xfrm>
            <a:off x="548640" y="1188720"/>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TEAM ZOLLERQU</a:t>
            </a:r>
          </a:p>
        </p:txBody>
      </p:sp>
      <p:sp>
        <p:nvSpPr>
          <p:cNvPr id="9" name="TextBox 8"/>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10" name="TextBox 9"/>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731520"/>
            <a:ext cx="11094415" cy="467360"/>
          </a:xfrm>
        </p:spPr>
        <p:txBody>
          <a:bodyPr lIns="0" rIns="0" tIns="0" bIns="0" wrap="square" anchor="t">
            <a:noAutofit/>
          </a:bodyPr>
          <a:lstStyle/>
          <a:p>
            <a:pPr algn="l">
              <a:lnSpc>
                <a:spcPts val="3679"/>
              </a:lnSpc>
              <a:spcBef>
                <a:spcPts val="0"/>
              </a:spcBef>
              <a:spcAft>
                <a:spcPts val="0"/>
              </a:spcAft>
            </a:pPr>
            <a:r>
              <a:rPr sz="3200" b="1">
                <a:solidFill>
                  <a:srgbClr val="FFFFFF"/>
                </a:solidFill>
                <a:latin typeface="Arial"/>
              </a:rPr>
              <a:t>Which assets should a fund buy?</a:t>
            </a:r>
          </a:p>
        </p:txBody>
      </p:sp>
      <p:sp>
        <p:nvSpPr>
          <p:cNvPr id="3" name="Oval 2"/>
          <p:cNvSpPr/>
          <p:nvPr/>
        </p:nvSpPr>
        <p:spPr>
          <a:xfrm>
            <a:off x="548640" y="1808988"/>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4480560" cy="670560"/>
          </a:xfrm>
          <a:prstGeom prst="rect">
            <a:avLst/>
          </a:prstGeom>
          <a:noFill/>
        </p:spPr>
        <p:txBody>
          <a:bodyPr wrap="square" lIns="0" rIns="0" tIns="0" bIns="0" anchor="t">
            <a:noAutofit/>
          </a:bodyPr>
          <a:lstStyle/>
          <a:p>
            <a:pPr algn="l">
              <a:lnSpc>
                <a:spcPts val="2640"/>
              </a:lnSpc>
              <a:spcBef>
                <a:spcPts val="0"/>
              </a:spcBef>
              <a:spcAft>
                <a:spcPts val="0"/>
              </a:spcAft>
            </a:pPr>
            <a:r>
              <a:rPr sz="2200" b="0">
                <a:solidFill>
                  <a:srgbClr val="FFFFFF"/>
                </a:solidFill>
                <a:latin typeface="Arial"/>
              </a:rPr>
              <a:t>Banks and funds build</a:t>
            </a:r>
          </a:p>
          <a:p>
            <a:pPr algn="l">
              <a:lnSpc>
                <a:spcPts val="2640"/>
              </a:lnSpc>
              <a:spcBef>
                <a:spcPts val="0"/>
              </a:spcBef>
              <a:spcAft>
                <a:spcPts val="0"/>
              </a:spcAft>
            </a:pPr>
            <a:r>
              <a:rPr sz="2200" b="0">
                <a:solidFill>
                  <a:srgbClr val="FFFFFF"/>
                </a:solidFill>
                <a:latin typeface="Arial"/>
              </a:rPr>
              <a:t>portfolios every day</a:t>
            </a:r>
          </a:p>
        </p:txBody>
      </p:sp>
      <p:sp>
        <p:nvSpPr>
          <p:cNvPr id="5" name="Oval 4"/>
          <p:cNvSpPr/>
          <p:nvPr/>
        </p:nvSpPr>
        <p:spPr>
          <a:xfrm>
            <a:off x="548640" y="2753868"/>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636520"/>
            <a:ext cx="4480560" cy="670560"/>
          </a:xfrm>
          <a:prstGeom prst="rect">
            <a:avLst/>
          </a:prstGeom>
          <a:noFill/>
        </p:spPr>
        <p:txBody>
          <a:bodyPr wrap="square" lIns="0" rIns="0" tIns="0" bIns="0" anchor="t">
            <a:noAutofit/>
          </a:bodyPr>
          <a:lstStyle/>
          <a:p>
            <a:pPr algn="l">
              <a:lnSpc>
                <a:spcPts val="2640"/>
              </a:lnSpc>
              <a:spcBef>
                <a:spcPts val="0"/>
              </a:spcBef>
              <a:spcAft>
                <a:spcPts val="0"/>
              </a:spcAft>
            </a:pPr>
            <a:r>
              <a:rPr sz="2200" b="0">
                <a:solidFill>
                  <a:srgbClr val="FFFFFF"/>
                </a:solidFill>
                <a:latin typeface="Arial"/>
              </a:rPr>
              <a:t>They want low risk</a:t>
            </a:r>
          </a:p>
          <a:p>
            <a:pPr algn="l">
              <a:lnSpc>
                <a:spcPts val="2640"/>
              </a:lnSpc>
              <a:spcBef>
                <a:spcPts val="0"/>
              </a:spcBef>
              <a:spcAft>
                <a:spcPts val="0"/>
              </a:spcAft>
            </a:pPr>
            <a:r>
              <a:rPr sz="2200" b="0">
                <a:solidFill>
                  <a:srgbClr val="FFFFFF"/>
                </a:solidFill>
                <a:latin typeface="Arial"/>
              </a:rPr>
              <a:t>and a good return</a:t>
            </a:r>
          </a:p>
        </p:txBody>
      </p:sp>
      <p:sp>
        <p:nvSpPr>
          <p:cNvPr id="7" name="Oval 6"/>
          <p:cNvSpPr/>
          <p:nvPr/>
        </p:nvSpPr>
        <p:spPr>
          <a:xfrm>
            <a:off x="548640" y="3698748"/>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3581400"/>
            <a:ext cx="4480560" cy="670560"/>
          </a:xfrm>
          <a:prstGeom prst="rect">
            <a:avLst/>
          </a:prstGeom>
          <a:noFill/>
        </p:spPr>
        <p:txBody>
          <a:bodyPr wrap="square" lIns="0" rIns="0" tIns="0" bIns="0" anchor="t">
            <a:noAutofit/>
          </a:bodyPr>
          <a:lstStyle/>
          <a:p>
            <a:pPr algn="l">
              <a:lnSpc>
                <a:spcPts val="2640"/>
              </a:lnSpc>
              <a:spcBef>
                <a:spcPts val="0"/>
              </a:spcBef>
              <a:spcAft>
                <a:spcPts val="0"/>
              </a:spcAft>
            </a:pPr>
            <a:r>
              <a:rPr sz="2200" b="0">
                <a:solidFill>
                  <a:srgbClr val="FFFFFF"/>
                </a:solidFill>
                <a:latin typeface="Arial"/>
              </a:rPr>
              <a:t>Risk comes from assets</a:t>
            </a:r>
          </a:p>
          <a:p>
            <a:pPr algn="l">
              <a:lnSpc>
                <a:spcPts val="2640"/>
              </a:lnSpc>
              <a:spcBef>
                <a:spcPts val="0"/>
              </a:spcBef>
              <a:spcAft>
                <a:spcPts val="0"/>
              </a:spcAft>
            </a:pPr>
            <a:r>
              <a:rPr sz="2200" b="0">
                <a:solidFill>
                  <a:srgbClr val="FFFFFF"/>
                </a:solidFill>
                <a:latin typeface="Arial"/>
              </a:rPr>
              <a:t>that fall together</a:t>
            </a:r>
          </a:p>
        </p:txBody>
      </p:sp>
      <p:sp>
        <p:nvSpPr>
          <p:cNvPr id="9" name="TextBox 8"/>
          <p:cNvSpPr txBox="1"/>
          <p:nvPr/>
        </p:nvSpPr>
        <p:spPr>
          <a:xfrm>
            <a:off x="548640" y="4590288"/>
            <a:ext cx="4754880" cy="670560"/>
          </a:xfrm>
          <a:prstGeom prst="rect">
            <a:avLst/>
          </a:prstGeom>
          <a:noFill/>
        </p:spPr>
        <p:txBody>
          <a:bodyPr wrap="square" lIns="0" rIns="0" tIns="0" bIns="0" anchor="t">
            <a:noAutofit/>
          </a:bodyPr>
          <a:lstStyle/>
          <a:p>
            <a:pPr algn="l">
              <a:lnSpc>
                <a:spcPts val="2640"/>
              </a:lnSpc>
              <a:spcBef>
                <a:spcPts val="0"/>
              </a:spcBef>
              <a:spcAft>
                <a:spcPts val="0"/>
              </a:spcAft>
            </a:pPr>
            <a:r>
              <a:rPr sz="2200" b="1">
                <a:solidFill>
                  <a:srgbClr val="FFFFFF"/>
                </a:solidFill>
                <a:latin typeface="Arial"/>
              </a:rPr>
              <a:t>Every extra asset</a:t>
            </a:r>
          </a:p>
          <a:p>
            <a:pPr algn="l">
              <a:lnSpc>
                <a:spcPts val="2640"/>
              </a:lnSpc>
              <a:spcBef>
                <a:spcPts val="0"/>
              </a:spcBef>
              <a:spcAft>
                <a:spcPts val="0"/>
              </a:spcAft>
            </a:pPr>
            <a:r>
              <a:rPr sz="2200" b="1">
                <a:solidFill>
                  <a:srgbClr val="FFFFFF"/>
                </a:solidFill>
                <a:latin typeface="Arial"/>
              </a:rPr>
              <a:t>doubles the choices</a:t>
            </a:r>
          </a:p>
        </p:txBody>
      </p:sp>
      <p:sp>
        <p:nvSpPr>
          <p:cNvPr id="10" name="Rounded Rectangle 9"/>
          <p:cNvSpPr/>
          <p:nvPr/>
        </p:nvSpPr>
        <p:spPr>
          <a:xfrm>
            <a:off x="5742432" y="1645920"/>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42432" y="1737360"/>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AAPL</a:t>
            </a:r>
          </a:p>
          <a:p>
            <a:pPr algn="ctr">
              <a:lnSpc>
                <a:spcPts val="2160"/>
              </a:lnSpc>
              <a:spcBef>
                <a:spcPts val="0"/>
              </a:spcBef>
              <a:spcAft>
                <a:spcPts val="0"/>
              </a:spcAft>
            </a:pPr>
            <a:r>
              <a:rPr sz="1800" b="0">
                <a:solidFill>
                  <a:srgbClr val="A9B4C6"/>
                </a:solidFill>
                <a:latin typeface="Arial"/>
              </a:rPr>
              <a:t>Apple</a:t>
            </a:r>
          </a:p>
        </p:txBody>
      </p:sp>
      <p:sp>
        <p:nvSpPr>
          <p:cNvPr id="12" name="Rounded Rectangle 11"/>
          <p:cNvSpPr/>
          <p:nvPr/>
        </p:nvSpPr>
        <p:spPr>
          <a:xfrm>
            <a:off x="7251192" y="1645920"/>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51192" y="1737360"/>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GLD</a:t>
            </a:r>
          </a:p>
          <a:p>
            <a:pPr algn="ctr">
              <a:lnSpc>
                <a:spcPts val="2160"/>
              </a:lnSpc>
              <a:spcBef>
                <a:spcPts val="0"/>
              </a:spcBef>
              <a:spcAft>
                <a:spcPts val="0"/>
              </a:spcAft>
            </a:pPr>
            <a:r>
              <a:rPr sz="1800" b="0">
                <a:solidFill>
                  <a:srgbClr val="A9B4C6"/>
                </a:solidFill>
                <a:latin typeface="Arial"/>
              </a:rPr>
              <a:t>gold</a:t>
            </a:r>
          </a:p>
        </p:txBody>
      </p:sp>
      <p:sp>
        <p:nvSpPr>
          <p:cNvPr id="14" name="Rounded Rectangle 13"/>
          <p:cNvSpPr/>
          <p:nvPr/>
        </p:nvSpPr>
        <p:spPr>
          <a:xfrm>
            <a:off x="8759952" y="1645920"/>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59952" y="1737360"/>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XOM</a:t>
            </a:r>
          </a:p>
          <a:p>
            <a:pPr algn="ctr">
              <a:lnSpc>
                <a:spcPts val="2160"/>
              </a:lnSpc>
              <a:spcBef>
                <a:spcPts val="0"/>
              </a:spcBef>
              <a:spcAft>
                <a:spcPts val="0"/>
              </a:spcAft>
            </a:pPr>
            <a:r>
              <a:rPr sz="1800" b="0">
                <a:solidFill>
                  <a:srgbClr val="A9B4C6"/>
                </a:solidFill>
                <a:latin typeface="Arial"/>
              </a:rPr>
              <a:t>oil</a:t>
            </a:r>
          </a:p>
        </p:txBody>
      </p:sp>
      <p:sp>
        <p:nvSpPr>
          <p:cNvPr id="16" name="Rounded Rectangle 15"/>
          <p:cNvSpPr/>
          <p:nvPr/>
        </p:nvSpPr>
        <p:spPr>
          <a:xfrm>
            <a:off x="10268712" y="1645920"/>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68712" y="1737360"/>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JPM</a:t>
            </a:r>
          </a:p>
          <a:p>
            <a:pPr algn="ctr">
              <a:lnSpc>
                <a:spcPts val="2160"/>
              </a:lnSpc>
              <a:spcBef>
                <a:spcPts val="0"/>
              </a:spcBef>
              <a:spcAft>
                <a:spcPts val="0"/>
              </a:spcAft>
            </a:pPr>
            <a:r>
              <a:rPr sz="1800" b="0">
                <a:solidFill>
                  <a:srgbClr val="A9B4C6"/>
                </a:solidFill>
                <a:latin typeface="Arial"/>
              </a:rPr>
              <a:t>bank</a:t>
            </a:r>
          </a:p>
        </p:txBody>
      </p:sp>
      <p:sp>
        <p:nvSpPr>
          <p:cNvPr id="18" name="Rounded Rectangle 17"/>
          <p:cNvSpPr/>
          <p:nvPr/>
        </p:nvSpPr>
        <p:spPr>
          <a:xfrm>
            <a:off x="5742432" y="2551176"/>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42432" y="2642616"/>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TLT</a:t>
            </a:r>
          </a:p>
          <a:p>
            <a:pPr algn="ctr">
              <a:lnSpc>
                <a:spcPts val="2160"/>
              </a:lnSpc>
              <a:spcBef>
                <a:spcPts val="0"/>
              </a:spcBef>
              <a:spcAft>
                <a:spcPts val="0"/>
              </a:spcAft>
            </a:pPr>
            <a:r>
              <a:rPr sz="1800" b="0">
                <a:solidFill>
                  <a:srgbClr val="A9B4C6"/>
                </a:solidFill>
                <a:latin typeface="Arial"/>
              </a:rPr>
              <a:t>US bonds</a:t>
            </a:r>
          </a:p>
        </p:txBody>
      </p:sp>
      <p:sp>
        <p:nvSpPr>
          <p:cNvPr id="20" name="Rounded Rectangle 19"/>
          <p:cNvSpPr/>
          <p:nvPr/>
        </p:nvSpPr>
        <p:spPr>
          <a:xfrm>
            <a:off x="7251192" y="2551176"/>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51192" y="2642616"/>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JNJ</a:t>
            </a:r>
          </a:p>
          <a:p>
            <a:pPr algn="ctr">
              <a:lnSpc>
                <a:spcPts val="2160"/>
              </a:lnSpc>
              <a:spcBef>
                <a:spcPts val="0"/>
              </a:spcBef>
              <a:spcAft>
                <a:spcPts val="0"/>
              </a:spcAft>
            </a:pPr>
            <a:r>
              <a:rPr sz="1800" b="0">
                <a:solidFill>
                  <a:srgbClr val="A9B4C6"/>
                </a:solidFill>
                <a:latin typeface="Arial"/>
              </a:rPr>
              <a:t>health</a:t>
            </a:r>
          </a:p>
        </p:txBody>
      </p:sp>
      <p:sp>
        <p:nvSpPr>
          <p:cNvPr id="22" name="Rounded Rectangle 21"/>
          <p:cNvSpPr/>
          <p:nvPr/>
        </p:nvSpPr>
        <p:spPr>
          <a:xfrm>
            <a:off x="8759952" y="2551176"/>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59952" y="2642616"/>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PG</a:t>
            </a:r>
          </a:p>
          <a:p>
            <a:pPr algn="ctr">
              <a:lnSpc>
                <a:spcPts val="2160"/>
              </a:lnSpc>
              <a:spcBef>
                <a:spcPts val="0"/>
              </a:spcBef>
              <a:spcAft>
                <a:spcPts val="0"/>
              </a:spcAft>
            </a:pPr>
            <a:r>
              <a:rPr sz="1800" b="0">
                <a:solidFill>
                  <a:srgbClr val="A9B4C6"/>
                </a:solidFill>
                <a:latin typeface="Arial"/>
              </a:rPr>
              <a:t>consumer</a:t>
            </a:r>
          </a:p>
        </p:txBody>
      </p:sp>
      <p:sp>
        <p:nvSpPr>
          <p:cNvPr id="24" name="Rounded Rectangle 23"/>
          <p:cNvSpPr/>
          <p:nvPr/>
        </p:nvSpPr>
        <p:spPr>
          <a:xfrm>
            <a:off x="10268712" y="2551176"/>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2642616"/>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XLU</a:t>
            </a:r>
          </a:p>
          <a:p>
            <a:pPr algn="ctr">
              <a:lnSpc>
                <a:spcPts val="2160"/>
              </a:lnSpc>
              <a:spcBef>
                <a:spcPts val="0"/>
              </a:spcBef>
              <a:spcAft>
                <a:spcPts val="0"/>
              </a:spcAft>
            </a:pPr>
            <a:r>
              <a:rPr sz="1800" b="0">
                <a:solidFill>
                  <a:srgbClr val="A9B4C6"/>
                </a:solidFill>
                <a:latin typeface="Arial"/>
              </a:rPr>
              <a:t>utilities</a:t>
            </a:r>
          </a:p>
        </p:txBody>
      </p:sp>
      <p:sp>
        <p:nvSpPr>
          <p:cNvPr id="26" name="Rounded Rectangle 25"/>
          <p:cNvSpPr/>
          <p:nvPr/>
        </p:nvSpPr>
        <p:spPr>
          <a:xfrm>
            <a:off x="5742432" y="3456432"/>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42432" y="3547872"/>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VNQ</a:t>
            </a:r>
          </a:p>
          <a:p>
            <a:pPr algn="ctr">
              <a:lnSpc>
                <a:spcPts val="2160"/>
              </a:lnSpc>
              <a:spcBef>
                <a:spcPts val="0"/>
              </a:spcBef>
              <a:spcAft>
                <a:spcPts val="0"/>
              </a:spcAft>
            </a:pPr>
            <a:r>
              <a:rPr sz="1800" b="0">
                <a:solidFill>
                  <a:srgbClr val="A9B4C6"/>
                </a:solidFill>
                <a:latin typeface="Arial"/>
              </a:rPr>
              <a:t>real estate</a:t>
            </a:r>
          </a:p>
        </p:txBody>
      </p:sp>
      <p:sp>
        <p:nvSpPr>
          <p:cNvPr id="28" name="Rounded Rectangle 27"/>
          <p:cNvSpPr/>
          <p:nvPr/>
        </p:nvSpPr>
        <p:spPr>
          <a:xfrm>
            <a:off x="7251192" y="3456432"/>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51192" y="3547872"/>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FCX</a:t>
            </a:r>
          </a:p>
          <a:p>
            <a:pPr algn="ctr">
              <a:lnSpc>
                <a:spcPts val="2160"/>
              </a:lnSpc>
              <a:spcBef>
                <a:spcPts val="0"/>
              </a:spcBef>
              <a:spcAft>
                <a:spcPts val="0"/>
              </a:spcAft>
            </a:pPr>
            <a:r>
              <a:rPr sz="1800" b="0">
                <a:solidFill>
                  <a:srgbClr val="A9B4C6"/>
                </a:solidFill>
                <a:latin typeface="Arial"/>
              </a:rPr>
              <a:t>copper</a:t>
            </a:r>
          </a:p>
        </p:txBody>
      </p:sp>
      <p:sp>
        <p:nvSpPr>
          <p:cNvPr id="30" name="Rounded Rectangle 29"/>
          <p:cNvSpPr/>
          <p:nvPr/>
        </p:nvSpPr>
        <p:spPr>
          <a:xfrm>
            <a:off x="8759952" y="3456432"/>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59952" y="3547872"/>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MSFT</a:t>
            </a:r>
          </a:p>
          <a:p>
            <a:pPr algn="ctr">
              <a:lnSpc>
                <a:spcPts val="2160"/>
              </a:lnSpc>
              <a:spcBef>
                <a:spcPts val="0"/>
              </a:spcBef>
              <a:spcAft>
                <a:spcPts val="0"/>
              </a:spcAft>
            </a:pPr>
            <a:r>
              <a:rPr sz="1800" b="0">
                <a:solidFill>
                  <a:srgbClr val="A9B4C6"/>
                </a:solidFill>
                <a:latin typeface="Arial"/>
              </a:rPr>
              <a:t>Microsoft</a:t>
            </a:r>
          </a:p>
        </p:txBody>
      </p:sp>
      <p:sp>
        <p:nvSpPr>
          <p:cNvPr id="32" name="Rounded Rectangle 31"/>
          <p:cNvSpPr/>
          <p:nvPr/>
        </p:nvSpPr>
        <p:spPr>
          <a:xfrm>
            <a:off x="10268712" y="3456432"/>
            <a:ext cx="1371600" cy="768096"/>
          </a:xfrm>
          <a:prstGeom prst="roundRect">
            <a:avLst>
              <a:gd name="adj" fmla="val 14285"/>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68712" y="3547872"/>
            <a:ext cx="1371600" cy="579120"/>
          </a:xfrm>
          <a:prstGeom prst="rect">
            <a:avLst/>
          </a:prstGeom>
          <a:noFill/>
        </p:spPr>
        <p:txBody>
          <a:bodyPr wrap="square" lIns="0" rIns="0" tIns="0" bIns="0" anchor="t">
            <a:noAutofit/>
          </a:bodyPr>
          <a:lstStyle/>
          <a:p>
            <a:pPr algn="ctr">
              <a:lnSpc>
                <a:spcPts val="2400"/>
              </a:lnSpc>
              <a:spcBef>
                <a:spcPts val="0"/>
              </a:spcBef>
              <a:spcAft>
                <a:spcPts val="0"/>
              </a:spcAft>
            </a:pPr>
            <a:r>
              <a:rPr sz="2000" b="1">
                <a:solidFill>
                  <a:srgbClr val="FFFFFF"/>
                </a:solidFill>
                <a:latin typeface="Arial"/>
              </a:rPr>
              <a:t>SLV</a:t>
            </a:r>
          </a:p>
          <a:p>
            <a:pPr algn="ctr">
              <a:lnSpc>
                <a:spcPts val="2160"/>
              </a:lnSpc>
              <a:spcBef>
                <a:spcPts val="0"/>
              </a:spcBef>
              <a:spcAft>
                <a:spcPts val="0"/>
              </a:spcAft>
            </a:pPr>
            <a:r>
              <a:rPr sz="1800" b="0">
                <a:solidFill>
                  <a:srgbClr val="A9B4C6"/>
                </a:solidFill>
                <a:latin typeface="Arial"/>
              </a:rPr>
              <a:t>silver</a:t>
            </a:r>
          </a:p>
        </p:txBody>
      </p:sp>
      <p:sp>
        <p:nvSpPr>
          <p:cNvPr id="34" name="TextBox 33"/>
          <p:cNvSpPr txBox="1"/>
          <p:nvPr/>
        </p:nvSpPr>
        <p:spPr>
          <a:xfrm>
            <a:off x="5742432" y="4480560"/>
            <a:ext cx="2286000" cy="625856"/>
          </a:xfrm>
          <a:prstGeom prst="rect">
            <a:avLst/>
          </a:prstGeom>
          <a:noFill/>
        </p:spPr>
        <p:txBody>
          <a:bodyPr wrap="square" lIns="0" rIns="0" tIns="0" bIns="0" anchor="t">
            <a:noAutofit/>
          </a:bodyPr>
          <a:lstStyle/>
          <a:p>
            <a:pPr algn="l">
              <a:lnSpc>
                <a:spcPts val="4928"/>
              </a:lnSpc>
              <a:spcBef>
                <a:spcPts val="0"/>
              </a:spcBef>
              <a:spcAft>
                <a:spcPts val="0"/>
              </a:spcAft>
            </a:pPr>
            <a:r>
              <a:rPr sz="4400" b="1">
                <a:solidFill>
                  <a:srgbClr val="17A2B8"/>
                </a:solidFill>
                <a:latin typeface="Arial"/>
              </a:rPr>
              <a:t>4,096</a:t>
            </a:r>
          </a:p>
        </p:txBody>
      </p:sp>
      <p:sp>
        <p:nvSpPr>
          <p:cNvPr id="35" name="TextBox 34"/>
          <p:cNvSpPr txBox="1"/>
          <p:nvPr/>
        </p:nvSpPr>
        <p:spPr>
          <a:xfrm>
            <a:off x="5742432" y="5124704"/>
            <a:ext cx="22860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portfolios, 12 assets</a:t>
            </a:r>
          </a:p>
        </p:txBody>
      </p:sp>
      <p:sp>
        <p:nvSpPr>
          <p:cNvPr id="36" name="TextBox 35"/>
          <p:cNvSpPr txBox="1"/>
          <p:nvPr/>
        </p:nvSpPr>
        <p:spPr>
          <a:xfrm>
            <a:off x="8257032" y="4480560"/>
            <a:ext cx="3383280" cy="625856"/>
          </a:xfrm>
          <a:prstGeom prst="rect">
            <a:avLst/>
          </a:prstGeom>
          <a:noFill/>
        </p:spPr>
        <p:txBody>
          <a:bodyPr wrap="square" lIns="0" rIns="0" tIns="0" bIns="0" anchor="t">
            <a:noAutofit/>
          </a:bodyPr>
          <a:lstStyle/>
          <a:p>
            <a:pPr algn="l">
              <a:lnSpc>
                <a:spcPts val="4928"/>
              </a:lnSpc>
              <a:spcBef>
                <a:spcPts val="0"/>
              </a:spcBef>
              <a:spcAft>
                <a:spcPts val="0"/>
              </a:spcAft>
            </a:pPr>
            <a:r>
              <a:rPr sz="4400" b="1">
                <a:solidFill>
                  <a:srgbClr val="17A2B8"/>
                </a:solidFill>
                <a:latin typeface="Arial"/>
              </a:rPr>
              <a:t>536,870,912</a:t>
            </a:r>
          </a:p>
        </p:txBody>
      </p:sp>
      <p:sp>
        <p:nvSpPr>
          <p:cNvPr id="37" name="TextBox 36"/>
          <p:cNvSpPr txBox="1"/>
          <p:nvPr/>
        </p:nvSpPr>
        <p:spPr>
          <a:xfrm>
            <a:off x="8257032" y="5124704"/>
            <a:ext cx="338328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portfolios, 29 assets</a:t>
            </a:r>
          </a:p>
        </p:txBody>
      </p:sp>
      <p:sp>
        <p:nvSpPr>
          <p:cNvPr id="38" name="TextBox 37"/>
          <p:cNvSpPr txBox="1"/>
          <p:nvPr/>
        </p:nvSpPr>
        <p:spPr>
          <a:xfrm>
            <a:off x="548640" y="384048"/>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PROBLEM</a:t>
            </a:r>
          </a:p>
        </p:txBody>
      </p:sp>
      <p:sp>
        <p:nvSpPr>
          <p:cNvPr id="39" name="TextBox 38"/>
          <p:cNvSpPr txBox="1"/>
          <p:nvPr/>
        </p:nvSpPr>
        <p:spPr>
          <a:xfrm>
            <a:off x="548640" y="5788152"/>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Data: weekly prices of 12 US stocks and funds, 2006-2014 (Kaggle Huge Stock Market Dataset, CC0)</a:t>
            </a:r>
          </a:p>
        </p:txBody>
      </p:sp>
      <p:sp>
        <p:nvSpPr>
          <p:cNvPr id="40" name="TextBox 39"/>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41" name="TextBox 40"/>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731520"/>
            <a:ext cx="11094415" cy="467360"/>
          </a:xfrm>
        </p:spPr>
        <p:txBody>
          <a:bodyPr lIns="0" rIns="0" tIns="0" bIns="0" wrap="square" anchor="t">
            <a:noAutofit/>
          </a:bodyPr>
          <a:lstStyle/>
          <a:p>
            <a:pPr algn="l">
              <a:lnSpc>
                <a:spcPts val="3679"/>
              </a:lnSpc>
              <a:spcBef>
                <a:spcPts val="0"/>
              </a:spcBef>
              <a:spcAft>
                <a:spcPts val="0"/>
              </a:spcAft>
            </a:pPr>
            <a:r>
              <a:rPr sz="3200" b="1">
                <a:solidFill>
                  <a:srgbClr val="FFFFFF"/>
                </a:solidFill>
                <a:latin typeface="Arial"/>
              </a:rPr>
              <a:t>One qubit per asset, one Ising energy</a:t>
            </a:r>
          </a:p>
        </p:txBody>
      </p:sp>
      <p:sp>
        <p:nvSpPr>
          <p:cNvPr id="3" name="TextBox 2"/>
          <p:cNvSpPr txBox="1"/>
          <p:nvPr/>
        </p:nvSpPr>
        <p:spPr>
          <a:xfrm>
            <a:off x="548640" y="1600200"/>
            <a:ext cx="576072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Score to minimise: risk minus return</a:t>
            </a:r>
          </a:p>
        </p:txBody>
      </p:sp>
      <p:pic>
        <p:nvPicPr>
          <p:cNvPr id="4" name="Picture 3" descr="Formula: J of x equals x transposed C x over n squared V ref (the risk), minus eta times mu transposed x over n sigma ref (the return)."/>
          <p:cNvPicPr>
            <a:picLocks noChangeAspect="1"/>
          </p:cNvPicPr>
          <p:nvPr/>
        </p:nvPicPr>
        <p:blipFill>
          <a:blip r:embed="rId2"/>
          <a:stretch>
            <a:fillRect/>
          </a:stretch>
        </p:blipFill>
        <p:spPr>
          <a:xfrm>
            <a:off x="548640" y="1874520"/>
            <a:ext cx="5669280" cy="1325880"/>
          </a:xfrm>
          <a:prstGeom prst="rect">
            <a:avLst/>
          </a:prstGeom>
        </p:spPr>
      </p:pic>
      <p:sp>
        <p:nvSpPr>
          <p:cNvPr id="5" name="TextBox 4"/>
          <p:cNvSpPr txBox="1"/>
          <p:nvPr/>
        </p:nvSpPr>
        <p:spPr>
          <a:xfrm>
            <a:off x="548640" y="3273552"/>
            <a:ext cx="576072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The same score as an Ising energy</a:t>
            </a:r>
          </a:p>
        </p:txBody>
      </p:sp>
      <p:pic>
        <p:nvPicPr>
          <p:cNvPr id="6" name="Picture 5" descr="Formula: E of s equals the sum over pairs of J i j times s i s j, plus the sum of h i times s i, plus a constant."/>
          <p:cNvPicPr>
            <a:picLocks noChangeAspect="1"/>
          </p:cNvPicPr>
          <p:nvPr/>
        </p:nvPicPr>
        <p:blipFill>
          <a:blip r:embed="rId3"/>
          <a:stretch>
            <a:fillRect/>
          </a:stretch>
        </p:blipFill>
        <p:spPr>
          <a:xfrm>
            <a:off x="548640" y="3566160"/>
            <a:ext cx="5669280" cy="914400"/>
          </a:xfrm>
          <a:prstGeom prst="rect">
            <a:avLst/>
          </a:prstGeom>
        </p:spPr>
      </p:pic>
      <p:sp>
        <p:nvSpPr>
          <p:cNvPr id="7" name="TextBox 6"/>
          <p:cNvSpPr txBox="1"/>
          <p:nvPr/>
        </p:nvSpPr>
        <p:spPr>
          <a:xfrm>
            <a:off x="548640" y="4617720"/>
            <a:ext cx="5852160" cy="655320"/>
          </a:xfrm>
          <a:prstGeom prst="rect">
            <a:avLst/>
          </a:prstGeom>
          <a:noFill/>
        </p:spPr>
        <p:txBody>
          <a:bodyPr wrap="square" lIns="0" rIns="0" tIns="0" bIns="0" anchor="t">
            <a:noAutofit/>
          </a:bodyPr>
          <a:lstStyle/>
          <a:p>
            <a:pPr algn="l">
              <a:lnSpc>
                <a:spcPts val="2400"/>
              </a:lnSpc>
              <a:spcBef>
                <a:spcPts val="0"/>
              </a:spcBef>
              <a:spcAft>
                <a:spcPts val="0"/>
              </a:spcAft>
            </a:pPr>
            <a:r>
              <a:rPr sz="2000" b="1">
                <a:solidFill>
                  <a:srgbClr val="FFFFFF"/>
                </a:solidFill>
                <a:latin typeface="Arial"/>
              </a:rPr>
              <a:t>1 qubit = 1 asset:  </a:t>
            </a:r>
            <a:r>
              <a:rPr sz="2000" b="0">
                <a:solidFill>
                  <a:srgbClr val="FFFFFF"/>
                </a:solidFill>
                <a:latin typeface="Arial"/>
              </a:rPr>
              <a:t>|0&gt; buy,  |1&gt; skip</a:t>
            </a:r>
          </a:p>
          <a:p>
            <a:pPr algn="l">
              <a:lnSpc>
                <a:spcPts val="2400"/>
              </a:lnSpc>
              <a:spcBef>
                <a:spcPts val="360"/>
              </a:spcBef>
              <a:spcAft>
                <a:spcPts val="0"/>
              </a:spcAft>
            </a:pPr>
            <a:r>
              <a:rPr sz="2000" b="0">
                <a:solidFill>
                  <a:srgbClr val="A9B4C6"/>
                </a:solidFill>
                <a:latin typeface="Arial"/>
              </a:rPr>
              <a:t>12 qubits  ·  66 couplings  ·  4,096 states</a:t>
            </a:r>
          </a:p>
        </p:txBody>
      </p:sp>
      <p:pic>
        <p:nvPicPr>
          <p:cNvPr id="8" name="Picture 7" descr="Network of the 12 assets with every pair linked. Two filled dots mark the exact best portfolio: buy AAPL and TLT; the other ten are skipped."/>
          <p:cNvPicPr>
            <a:picLocks noChangeAspect="1"/>
          </p:cNvPicPr>
          <p:nvPr/>
        </p:nvPicPr>
        <p:blipFill>
          <a:blip r:embed="rId4"/>
          <a:stretch>
            <a:fillRect/>
          </a:stretch>
        </p:blipFill>
        <p:spPr>
          <a:xfrm>
            <a:off x="6629400" y="1463040"/>
            <a:ext cx="5029200" cy="3840480"/>
          </a:xfrm>
          <a:prstGeom prst="rect">
            <a:avLst/>
          </a:prstGeom>
        </p:spPr>
      </p:pic>
      <p:sp>
        <p:nvSpPr>
          <p:cNvPr id="9" name="TextBox 8"/>
          <p:cNvSpPr txBox="1"/>
          <p:nvPr/>
        </p:nvSpPr>
        <p:spPr>
          <a:xfrm>
            <a:off x="548640" y="384048"/>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FORMULATION</a:t>
            </a:r>
          </a:p>
        </p:txBody>
      </p:sp>
      <p:sp>
        <p:nvSpPr>
          <p:cNvPr id="10" name="TextBox 9"/>
          <p:cNvSpPr txBox="1"/>
          <p:nvPr/>
        </p:nvSpPr>
        <p:spPr>
          <a:xfrm>
            <a:off x="548640" y="5788152"/>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Exact best portfolio found by checking all 4,096 portfolios (classical); risk and return from 2006-2014 data</a:t>
            </a:r>
          </a:p>
        </p:txBody>
      </p:sp>
      <p:sp>
        <p:nvSpPr>
          <p:cNvPr id="11" name="TextBox 10"/>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12" name="TextBox 11"/>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731520"/>
            <a:ext cx="11094415" cy="467360"/>
          </a:xfrm>
        </p:spPr>
        <p:txBody>
          <a:bodyPr lIns="0" rIns="0" tIns="0" bIns="0" wrap="square" anchor="t">
            <a:noAutofit/>
          </a:bodyPr>
          <a:lstStyle/>
          <a:p>
            <a:pPr algn="l">
              <a:lnSpc>
                <a:spcPts val="3679"/>
              </a:lnSpc>
              <a:spcBef>
                <a:spcPts val="0"/>
              </a:spcBef>
              <a:spcAft>
                <a:spcPts val="0"/>
              </a:spcAft>
            </a:pPr>
            <a:r>
              <a:rPr sz="3200" b="1">
                <a:solidFill>
                  <a:srgbClr val="FFFFFF"/>
                </a:solidFill>
                <a:latin typeface="Arial"/>
              </a:rPr>
              <a:t>QAOA circuits, trained offline, one IonQ job</a:t>
            </a:r>
          </a:p>
        </p:txBody>
      </p:sp>
      <p:pic>
        <p:nvPicPr>
          <p:cNvPr id="3" name="Picture 2" descr="Circuit sketch: four of the twelve qubit lines. Each starts with an H gate, passes a cost layer block (one ZZ gate per pair, 66, and one Z rotation per qubit) and a mixer block (RX on every qubit), repeated three times, then is measured; 1,000 shots give 1,000 portfolios."/>
          <p:cNvPicPr>
            <a:picLocks noChangeAspect="1"/>
          </p:cNvPicPr>
          <p:nvPr/>
        </p:nvPicPr>
        <p:blipFill>
          <a:blip r:embed="rId2"/>
          <a:stretch>
            <a:fillRect/>
          </a:stretch>
        </p:blipFill>
        <p:spPr>
          <a:xfrm>
            <a:off x="548640" y="1481328"/>
            <a:ext cx="11094415" cy="2377440"/>
          </a:xfrm>
          <a:prstGeom prst="rect">
            <a:avLst/>
          </a:prstGeom>
        </p:spPr>
      </p:pic>
      <p:sp>
        <p:nvSpPr>
          <p:cNvPr id="4" name="Rounded Rectangle 3"/>
          <p:cNvSpPr/>
          <p:nvPr/>
        </p:nvSpPr>
        <p:spPr>
          <a:xfrm>
            <a:off x="548640" y="4023360"/>
            <a:ext cx="3545738" cy="1572768"/>
          </a:xfrm>
          <a:prstGeom prst="roundRect">
            <a:avLst>
              <a:gd name="adj" fmla="val 6976"/>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69664"/>
            <a:ext cx="3179978"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COMPARED</a:t>
            </a:r>
          </a:p>
        </p:txBody>
      </p:sp>
      <p:sp>
        <p:nvSpPr>
          <p:cNvPr id="6" name="TextBox 5"/>
          <p:cNvSpPr txBox="1"/>
          <p:nvPr/>
        </p:nvSpPr>
        <p:spPr>
          <a:xfrm>
            <a:off x="731520" y="4471416"/>
            <a:ext cx="3179978" cy="335280"/>
          </a:xfrm>
          <a:prstGeom prst="rect">
            <a:avLst/>
          </a:prstGeom>
          <a:noFill/>
        </p:spPr>
        <p:txBody>
          <a:bodyPr wrap="square" lIns="0" rIns="0" tIns="0" bIns="0" anchor="t">
            <a:noAutofit/>
          </a:bodyPr>
          <a:lstStyle/>
          <a:p>
            <a:pPr algn="l">
              <a:lnSpc>
                <a:spcPts val="2640"/>
              </a:lnSpc>
              <a:spcBef>
                <a:spcPts val="0"/>
              </a:spcBef>
              <a:spcAft>
                <a:spcPts val="0"/>
              </a:spcAft>
            </a:pPr>
            <a:r>
              <a:rPr sz="2200" b="1">
                <a:solidFill>
                  <a:srgbClr val="FFFFFF"/>
                </a:solidFill>
                <a:latin typeface="Arial"/>
              </a:rPr>
              <a:t>8 circuit types</a:t>
            </a:r>
          </a:p>
        </p:txBody>
      </p:sp>
      <p:sp>
        <p:nvSpPr>
          <p:cNvPr id="7" name="TextBox 6"/>
          <p:cNvSpPr txBox="1"/>
          <p:nvPr/>
        </p:nvSpPr>
        <p:spPr>
          <a:xfrm>
            <a:off x="731520" y="4843272"/>
            <a:ext cx="3179978" cy="54864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58 circuits, trained offline</a:t>
            </a:r>
          </a:p>
          <a:p>
            <a:pPr algn="l">
              <a:lnSpc>
                <a:spcPts val="2160"/>
              </a:lnSpc>
              <a:spcBef>
                <a:spcPts val="0"/>
              </a:spcBef>
              <a:spcAft>
                <a:spcPts val="0"/>
              </a:spcAft>
            </a:pPr>
            <a:r>
              <a:rPr sz="1800" b="0">
                <a:solidFill>
                  <a:srgbClr val="A9B4C6"/>
                </a:solidFill>
                <a:latin typeface="Arial"/>
              </a:rPr>
              <a:t>on a classical simulator</a:t>
            </a:r>
          </a:p>
        </p:txBody>
      </p:sp>
      <p:sp>
        <p:nvSpPr>
          <p:cNvPr id="8" name="Rounded Rectangle 7"/>
          <p:cNvSpPr/>
          <p:nvPr/>
        </p:nvSpPr>
        <p:spPr>
          <a:xfrm>
            <a:off x="4322978" y="4023360"/>
            <a:ext cx="3545738" cy="1572768"/>
          </a:xfrm>
          <a:prstGeom prst="roundRect">
            <a:avLst>
              <a:gd name="adj" fmla="val 6976"/>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05858" y="4169664"/>
            <a:ext cx="3179978"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BEST AT 12 QUBITS</a:t>
            </a:r>
          </a:p>
        </p:txBody>
      </p:sp>
      <p:sp>
        <p:nvSpPr>
          <p:cNvPr id="10" name="TextBox 9"/>
          <p:cNvSpPr txBox="1"/>
          <p:nvPr/>
        </p:nvSpPr>
        <p:spPr>
          <a:xfrm>
            <a:off x="4505858" y="4471416"/>
            <a:ext cx="3179978" cy="335280"/>
          </a:xfrm>
          <a:prstGeom prst="rect">
            <a:avLst/>
          </a:prstGeom>
          <a:noFill/>
        </p:spPr>
        <p:txBody>
          <a:bodyPr wrap="square" lIns="0" rIns="0" tIns="0" bIns="0" anchor="t">
            <a:noAutofit/>
          </a:bodyPr>
          <a:lstStyle/>
          <a:p>
            <a:pPr algn="l">
              <a:lnSpc>
                <a:spcPts val="2640"/>
              </a:lnSpc>
              <a:spcBef>
                <a:spcPts val="0"/>
              </a:spcBef>
              <a:spcAft>
                <a:spcPts val="0"/>
              </a:spcAft>
            </a:pPr>
            <a:r>
              <a:rPr sz="2200" b="1">
                <a:solidFill>
                  <a:srgbClr val="D9791A"/>
                </a:solidFill>
                <a:latin typeface="Arial"/>
              </a:rPr>
              <a:t>CVaR-QAOA</a:t>
            </a:r>
          </a:p>
        </p:txBody>
      </p:sp>
      <p:sp>
        <p:nvSpPr>
          <p:cNvPr id="11" name="TextBox 10"/>
          <p:cNvSpPr txBox="1"/>
          <p:nvPr/>
        </p:nvSpPr>
        <p:spPr>
          <a:xfrm>
            <a:off x="4505858" y="4843272"/>
            <a:ext cx="3179978" cy="54864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3 layers, 198 two-qubit gates,</a:t>
            </a:r>
          </a:p>
          <a:p>
            <a:pPr algn="l">
              <a:lnSpc>
                <a:spcPts val="2160"/>
              </a:lnSpc>
              <a:spcBef>
                <a:spcPts val="0"/>
              </a:spcBef>
              <a:spcAft>
                <a:spcPts val="0"/>
              </a:spcAft>
            </a:pPr>
            <a:r>
              <a:rPr sz="1800" b="0">
                <a:solidFill>
                  <a:srgbClr val="A9B4C6"/>
                </a:solidFill>
                <a:latin typeface="Arial"/>
              </a:rPr>
              <a:t>sent to IonQ as one job</a:t>
            </a:r>
          </a:p>
        </p:txBody>
      </p:sp>
      <p:sp>
        <p:nvSpPr>
          <p:cNvPr id="12" name="Rounded Rectangle 11"/>
          <p:cNvSpPr/>
          <p:nvPr/>
        </p:nvSpPr>
        <p:spPr>
          <a:xfrm>
            <a:off x="8097317" y="4023360"/>
            <a:ext cx="3545738" cy="1572768"/>
          </a:xfrm>
          <a:prstGeom prst="roundRect">
            <a:avLst>
              <a:gd name="adj" fmla="val 6976"/>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80197" y="4169664"/>
            <a:ext cx="3179978"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AT 16, 20, 29 QUBITS</a:t>
            </a:r>
          </a:p>
        </p:txBody>
      </p:sp>
      <p:sp>
        <p:nvSpPr>
          <p:cNvPr id="14" name="TextBox 13"/>
          <p:cNvSpPr txBox="1"/>
          <p:nvPr/>
        </p:nvSpPr>
        <p:spPr>
          <a:xfrm>
            <a:off x="8280197" y="4471416"/>
            <a:ext cx="3179978" cy="335280"/>
          </a:xfrm>
          <a:prstGeom prst="rect">
            <a:avLst/>
          </a:prstGeom>
          <a:noFill/>
        </p:spPr>
        <p:txBody>
          <a:bodyPr wrap="square" lIns="0" rIns="0" tIns="0" bIns="0" anchor="t">
            <a:noAutofit/>
          </a:bodyPr>
          <a:lstStyle/>
          <a:p>
            <a:pPr algn="l">
              <a:lnSpc>
                <a:spcPts val="2640"/>
              </a:lnSpc>
              <a:spcBef>
                <a:spcPts val="0"/>
              </a:spcBef>
              <a:spcAft>
                <a:spcPts val="0"/>
              </a:spcAft>
            </a:pPr>
            <a:r>
              <a:rPr sz="2200" b="1">
                <a:solidFill>
                  <a:srgbClr val="FFFFFF"/>
                </a:solidFill>
                <a:latin typeface="Arial"/>
              </a:rPr>
              <a:t>Linear-ramp QAOA</a:t>
            </a:r>
          </a:p>
        </p:txBody>
      </p:sp>
      <p:sp>
        <p:nvSpPr>
          <p:cNvPr id="15" name="TextBox 14"/>
          <p:cNvSpPr txBox="1"/>
          <p:nvPr/>
        </p:nvSpPr>
        <p:spPr>
          <a:xfrm>
            <a:off x="8280197" y="4843272"/>
            <a:ext cx="3179978" cy="54864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Angles reused from 12 qubits,</a:t>
            </a:r>
          </a:p>
          <a:p>
            <a:pPr algn="l">
              <a:lnSpc>
                <a:spcPts val="2160"/>
              </a:lnSpc>
              <a:spcBef>
                <a:spcPts val="0"/>
              </a:spcBef>
              <a:spcAft>
                <a:spcPts val="0"/>
              </a:spcAft>
            </a:pPr>
            <a:r>
              <a:rPr sz="1800" b="0">
                <a:solidFill>
                  <a:srgbClr val="A9B4C6"/>
                </a:solidFill>
                <a:latin typeface="Arial"/>
              </a:rPr>
              <a:t>no new training</a:t>
            </a:r>
          </a:p>
        </p:txBody>
      </p:sp>
      <p:sp>
        <p:nvSpPr>
          <p:cNvPr id="16" name="TextBox 15"/>
          <p:cNvSpPr txBox="1"/>
          <p:nvPr/>
        </p:nvSpPr>
        <p:spPr>
          <a:xfrm>
            <a:off x="548640" y="384048"/>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QUANTUM METHOD</a:t>
            </a:r>
          </a:p>
        </p:txBody>
      </p:sp>
      <p:sp>
        <p:nvSpPr>
          <p:cNvPr id="17" name="TextBox 16"/>
          <p:cNvSpPr txBox="1"/>
          <p:nvPr/>
        </p:nvSpPr>
        <p:spPr>
          <a:xfrm>
            <a:off x="548640" y="5788152"/>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12 qubits: 58 circuits + a random-guess control, noiseless simulation · 16-29 qubits: server simulation</a:t>
            </a:r>
          </a:p>
        </p:txBody>
      </p:sp>
      <p:sp>
        <p:nvSpPr>
          <p:cNvPr id="18" name="TextBox 17"/>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19" name="TextBox 18"/>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731520"/>
            <a:ext cx="11094415" cy="467360"/>
          </a:xfrm>
        </p:spPr>
        <p:txBody>
          <a:bodyPr lIns="0" rIns="0" tIns="0" bIns="0" wrap="square" anchor="t">
            <a:noAutofit/>
          </a:bodyPr>
          <a:lstStyle/>
          <a:p>
            <a:pPr algn="l">
              <a:lnSpc>
                <a:spcPts val="3679"/>
              </a:lnSpc>
              <a:spcBef>
                <a:spcPts val="0"/>
              </a:spcBef>
              <a:spcAft>
                <a:spcPts val="0"/>
              </a:spcAft>
            </a:pPr>
            <a:r>
              <a:rPr sz="3200" b="1">
                <a:solidFill>
                  <a:srgbClr val="FFFFFF"/>
                </a:solidFill>
                <a:latin typeface="Arial"/>
              </a:rPr>
              <a:t>8 circuit types, 5 settings that mattered</a:t>
            </a:r>
          </a:p>
        </p:txBody>
      </p:sp>
      <p:sp>
        <p:nvSpPr>
          <p:cNvPr id="3" name="Rounded Rectangle 2"/>
          <p:cNvSpPr/>
          <p:nvPr/>
        </p:nvSpPr>
        <p:spPr>
          <a:xfrm>
            <a:off x="548640" y="1554480"/>
            <a:ext cx="4663440" cy="3749040"/>
          </a:xfrm>
          <a:prstGeom prst="roundRect">
            <a:avLst>
              <a:gd name="adj" fmla="val 2926"/>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700784"/>
            <a:ext cx="4297680" cy="335280"/>
          </a:xfrm>
          <a:prstGeom prst="rect">
            <a:avLst/>
          </a:prstGeom>
          <a:noFill/>
        </p:spPr>
        <p:txBody>
          <a:bodyPr wrap="square" lIns="0" rIns="0" tIns="0" bIns="0" anchor="t">
            <a:noAutofit/>
          </a:bodyPr>
          <a:lstStyle/>
          <a:p>
            <a:pPr algn="l">
              <a:lnSpc>
                <a:spcPts val="2640"/>
              </a:lnSpc>
              <a:spcBef>
                <a:spcPts val="0"/>
              </a:spcBef>
              <a:spcAft>
                <a:spcPts val="0"/>
              </a:spcAft>
            </a:pPr>
            <a:r>
              <a:rPr sz="2200" b="1">
                <a:solidFill>
                  <a:srgbClr val="FFFFFF"/>
                </a:solidFill>
                <a:latin typeface="Arial"/>
              </a:rPr>
              <a:t>58 circuits tested</a:t>
            </a:r>
          </a:p>
        </p:txBody>
      </p:sp>
      <p:sp>
        <p:nvSpPr>
          <p:cNvPr id="5" name="TextBox 4"/>
          <p:cNvSpPr txBox="1"/>
          <p:nvPr/>
        </p:nvSpPr>
        <p:spPr>
          <a:xfrm>
            <a:off x="777240" y="2145792"/>
            <a:ext cx="4297680"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6 kinds of QAOA</a:t>
            </a:r>
          </a:p>
        </p:txBody>
      </p:sp>
      <p:sp>
        <p:nvSpPr>
          <p:cNvPr id="6" name="Oval 5"/>
          <p:cNvSpPr/>
          <p:nvPr/>
        </p:nvSpPr>
        <p:spPr>
          <a:xfrm>
            <a:off x="777240" y="2561844"/>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474976"/>
            <a:ext cx="402336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Linear-ramp QAOA</a:t>
            </a:r>
          </a:p>
        </p:txBody>
      </p:sp>
      <p:sp>
        <p:nvSpPr>
          <p:cNvPr id="8" name="Oval 7"/>
          <p:cNvSpPr/>
          <p:nvPr/>
        </p:nvSpPr>
        <p:spPr>
          <a:xfrm>
            <a:off x="777240" y="2854452"/>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767584"/>
            <a:ext cx="402336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Free-angle QAOA, 5 optimisers</a:t>
            </a:r>
          </a:p>
        </p:txBody>
      </p:sp>
      <p:sp>
        <p:nvSpPr>
          <p:cNvPr id="10" name="Oval 9"/>
          <p:cNvSpPr/>
          <p:nvPr/>
        </p:nvSpPr>
        <p:spPr>
          <a:xfrm>
            <a:off x="777240" y="3147060"/>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3060192"/>
            <a:ext cx="402336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CVaR-QAOA (α = 0.1, 0.25)</a:t>
            </a:r>
          </a:p>
        </p:txBody>
      </p:sp>
      <p:sp>
        <p:nvSpPr>
          <p:cNvPr id="12" name="Oval 11"/>
          <p:cNvSpPr/>
          <p:nvPr/>
        </p:nvSpPr>
        <p:spPr>
          <a:xfrm>
            <a:off x="777240" y="3439668"/>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352800"/>
            <a:ext cx="402336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Multi-angle QAOA</a:t>
            </a:r>
          </a:p>
        </p:txBody>
      </p:sp>
      <p:sp>
        <p:nvSpPr>
          <p:cNvPr id="14" name="Oval 13"/>
          <p:cNvSpPr/>
          <p:nvPr/>
        </p:nvSpPr>
        <p:spPr>
          <a:xfrm>
            <a:off x="777240" y="3732276"/>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3645408"/>
            <a:ext cx="402336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Counterdiabatic QAOA</a:t>
            </a:r>
          </a:p>
        </p:txBody>
      </p:sp>
      <p:sp>
        <p:nvSpPr>
          <p:cNvPr id="16" name="Oval 15"/>
          <p:cNvSpPr/>
          <p:nvPr/>
        </p:nvSpPr>
        <p:spPr>
          <a:xfrm>
            <a:off x="777240" y="4024884"/>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3938016"/>
            <a:ext cx="402336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XY-mixer QAOA (keeps balance)</a:t>
            </a:r>
          </a:p>
        </p:txBody>
      </p:sp>
      <p:sp>
        <p:nvSpPr>
          <p:cNvPr id="18" name="TextBox 17"/>
          <p:cNvSpPr txBox="1"/>
          <p:nvPr/>
        </p:nvSpPr>
        <p:spPr>
          <a:xfrm>
            <a:off x="777240" y="4340352"/>
            <a:ext cx="4297680"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2 imaginary-time methods</a:t>
            </a:r>
          </a:p>
        </p:txBody>
      </p:sp>
      <p:sp>
        <p:nvSpPr>
          <p:cNvPr id="19" name="Oval 18"/>
          <p:cNvSpPr/>
          <p:nvPr/>
        </p:nvSpPr>
        <p:spPr>
          <a:xfrm>
            <a:off x="777240" y="4756404"/>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669536"/>
            <a:ext cx="402336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VarQITE on the QAOA angles</a:t>
            </a:r>
          </a:p>
        </p:txBody>
      </p:sp>
      <p:sp>
        <p:nvSpPr>
          <p:cNvPr id="21" name="Oval 20"/>
          <p:cNvSpPr/>
          <p:nvPr/>
        </p:nvSpPr>
        <p:spPr>
          <a:xfrm>
            <a:off x="777240" y="5049012"/>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4962144"/>
            <a:ext cx="402336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varQITE ansatz (IonQ + ORNL)</a:t>
            </a:r>
          </a:p>
        </p:txBody>
      </p:sp>
      <p:sp>
        <p:nvSpPr>
          <p:cNvPr id="23" name="TextBox 22"/>
          <p:cNvSpPr txBox="1"/>
          <p:nvPr/>
        </p:nvSpPr>
        <p:spPr>
          <a:xfrm>
            <a:off x="5532120" y="1554480"/>
            <a:ext cx="6108192" cy="335280"/>
          </a:xfrm>
          <a:prstGeom prst="rect">
            <a:avLst/>
          </a:prstGeom>
          <a:noFill/>
        </p:spPr>
        <p:txBody>
          <a:bodyPr wrap="square" lIns="0" rIns="0" tIns="0" bIns="0" anchor="t">
            <a:noAutofit/>
          </a:bodyPr>
          <a:lstStyle/>
          <a:p>
            <a:pPr algn="l">
              <a:lnSpc>
                <a:spcPts val="2640"/>
              </a:lnSpc>
              <a:spcBef>
                <a:spcPts val="0"/>
              </a:spcBef>
              <a:spcAft>
                <a:spcPts val="0"/>
              </a:spcAft>
            </a:pPr>
            <a:r>
              <a:rPr sz="2200" b="1">
                <a:solidFill>
                  <a:srgbClr val="FFFFFF"/>
                </a:solidFill>
                <a:latin typeface="Arial"/>
              </a:rPr>
              <a:t>Settings we changed (noiseless)</a:t>
            </a:r>
          </a:p>
        </p:txBody>
      </p:sp>
      <p:sp>
        <p:nvSpPr>
          <p:cNvPr id="24" name="Rounded Rectangle 23"/>
          <p:cNvSpPr/>
          <p:nvPr/>
        </p:nvSpPr>
        <p:spPr>
          <a:xfrm>
            <a:off x="5532120" y="1962912"/>
            <a:ext cx="6108192" cy="621792"/>
          </a:xfrm>
          <a:prstGeom prst="roundRect">
            <a:avLst>
              <a:gd name="adj" fmla="val 11764"/>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15000" y="1999488"/>
            <a:ext cx="5806440" cy="512064"/>
          </a:xfrm>
          <a:prstGeom prst="rect">
            <a:avLst/>
          </a:prstGeom>
          <a:noFill/>
        </p:spPr>
        <p:txBody>
          <a:bodyPr wrap="square" lIns="0" rIns="0" tIns="0" bIns="0" anchor="t">
            <a:noAutofit/>
          </a:bodyPr>
          <a:lstStyle/>
          <a:p>
            <a:pPr algn="l">
              <a:lnSpc>
                <a:spcPts val="2016"/>
              </a:lnSpc>
              <a:spcBef>
                <a:spcPts val="0"/>
              </a:spcBef>
              <a:spcAft>
                <a:spcPts val="0"/>
              </a:spcAft>
            </a:pPr>
            <a:r>
              <a:rPr sz="1800" b="1">
                <a:solidFill>
                  <a:srgbClr val="FFFFFF"/>
                </a:solidFill>
                <a:latin typeface="Arial"/>
              </a:rPr>
              <a:t>Mixer sign (12 assets)</a:t>
            </a:r>
          </a:p>
          <a:p>
            <a:pPr algn="l">
              <a:lnSpc>
                <a:spcPts val="2016"/>
              </a:lnSpc>
              <a:spcBef>
                <a:spcPts val="0"/>
              </a:spcBef>
              <a:spcAft>
                <a:spcPts val="0"/>
              </a:spcAft>
            </a:pPr>
            <a:r>
              <a:rPr sz="1800" b="0">
                <a:solidFill>
                  <a:srgbClr val="A9B4C6"/>
                </a:solidFill>
                <a:latin typeface="Arial"/>
              </a:rPr>
              <a:t>as written → opposite sign: 0.004 % → 1.8 % per shot</a:t>
            </a:r>
          </a:p>
        </p:txBody>
      </p:sp>
      <p:sp>
        <p:nvSpPr>
          <p:cNvPr id="26" name="Rounded Rectangle 25"/>
          <p:cNvSpPr/>
          <p:nvPr/>
        </p:nvSpPr>
        <p:spPr>
          <a:xfrm>
            <a:off x="5532120" y="2639568"/>
            <a:ext cx="6108192" cy="621792"/>
          </a:xfrm>
          <a:prstGeom prst="roundRect">
            <a:avLst>
              <a:gd name="adj" fmla="val 11764"/>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15000" y="2676144"/>
            <a:ext cx="5806440" cy="512064"/>
          </a:xfrm>
          <a:prstGeom prst="rect">
            <a:avLst/>
          </a:prstGeom>
          <a:noFill/>
        </p:spPr>
        <p:txBody>
          <a:bodyPr wrap="square" lIns="0" rIns="0" tIns="0" bIns="0" anchor="t">
            <a:noAutofit/>
          </a:bodyPr>
          <a:lstStyle/>
          <a:p>
            <a:pPr algn="l">
              <a:lnSpc>
                <a:spcPts val="2016"/>
              </a:lnSpc>
              <a:spcBef>
                <a:spcPts val="0"/>
              </a:spcBef>
              <a:spcAft>
                <a:spcPts val="0"/>
              </a:spcAft>
            </a:pPr>
            <a:r>
              <a:rPr sz="1800" b="1">
                <a:solidFill>
                  <a:srgbClr val="FFFFFF"/>
                </a:solidFill>
                <a:latin typeface="Arial"/>
              </a:rPr>
              <a:t>Objective (12 assets)</a:t>
            </a:r>
          </a:p>
          <a:p>
            <a:pPr algn="l">
              <a:lnSpc>
                <a:spcPts val="2016"/>
              </a:lnSpc>
              <a:spcBef>
                <a:spcPts val="0"/>
              </a:spcBef>
              <a:spcAft>
                <a:spcPts val="0"/>
              </a:spcAft>
            </a:pPr>
            <a:r>
              <a:rPr sz="1800" b="0">
                <a:solidFill>
                  <a:srgbClr val="A9B4C6"/>
                </a:solidFill>
                <a:latin typeface="Arial"/>
              </a:rPr>
              <a:t>mean energy → CVaR 0.1: 1.8 % → 5.8 % per shot</a:t>
            </a:r>
          </a:p>
        </p:txBody>
      </p:sp>
      <p:sp>
        <p:nvSpPr>
          <p:cNvPr id="28" name="Rounded Rectangle 27"/>
          <p:cNvSpPr/>
          <p:nvPr/>
        </p:nvSpPr>
        <p:spPr>
          <a:xfrm>
            <a:off x="5532120" y="3316224"/>
            <a:ext cx="6108192" cy="621792"/>
          </a:xfrm>
          <a:prstGeom prst="roundRect">
            <a:avLst>
              <a:gd name="adj" fmla="val 11764"/>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15000" y="3352800"/>
            <a:ext cx="5806440" cy="512064"/>
          </a:xfrm>
          <a:prstGeom prst="rect">
            <a:avLst/>
          </a:prstGeom>
          <a:noFill/>
        </p:spPr>
        <p:txBody>
          <a:bodyPr wrap="square" lIns="0" rIns="0" tIns="0" bIns="0" anchor="t">
            <a:noAutofit/>
          </a:bodyPr>
          <a:lstStyle/>
          <a:p>
            <a:pPr algn="l">
              <a:lnSpc>
                <a:spcPts val="2016"/>
              </a:lnSpc>
              <a:spcBef>
                <a:spcPts val="0"/>
              </a:spcBef>
              <a:spcAft>
                <a:spcPts val="0"/>
              </a:spcAft>
            </a:pPr>
            <a:r>
              <a:rPr sz="1800" b="1">
                <a:solidFill>
                  <a:srgbClr val="FFFFFF"/>
                </a:solidFill>
                <a:latin typeface="Arial"/>
              </a:rPr>
              <a:t>Layers (29 assets)</a:t>
            </a:r>
          </a:p>
          <a:p>
            <a:pPr algn="l">
              <a:lnSpc>
                <a:spcPts val="2016"/>
              </a:lnSpc>
              <a:spcBef>
                <a:spcPts val="0"/>
              </a:spcBef>
              <a:spcAft>
                <a:spcPts val="0"/>
              </a:spcAft>
            </a:pPr>
            <a:r>
              <a:rPr sz="1800" b="0">
                <a:solidFill>
                  <a:srgbClr val="A9B4C6"/>
                </a:solidFill>
                <a:latin typeface="Arial"/>
              </a:rPr>
              <a:t>3 → 16: 6.6 % → 90 % of runs (noiseless)</a:t>
            </a:r>
          </a:p>
        </p:txBody>
      </p:sp>
      <p:sp>
        <p:nvSpPr>
          <p:cNvPr id="30" name="Rounded Rectangle 29"/>
          <p:cNvSpPr/>
          <p:nvPr/>
        </p:nvSpPr>
        <p:spPr>
          <a:xfrm>
            <a:off x="5532120" y="3992880"/>
            <a:ext cx="6108192" cy="621792"/>
          </a:xfrm>
          <a:prstGeom prst="roundRect">
            <a:avLst>
              <a:gd name="adj" fmla="val 11764"/>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15000" y="4029456"/>
            <a:ext cx="5806440" cy="512064"/>
          </a:xfrm>
          <a:prstGeom prst="rect">
            <a:avLst/>
          </a:prstGeom>
          <a:noFill/>
        </p:spPr>
        <p:txBody>
          <a:bodyPr wrap="square" lIns="0" rIns="0" tIns="0" bIns="0" anchor="t">
            <a:noAutofit/>
          </a:bodyPr>
          <a:lstStyle/>
          <a:p>
            <a:pPr algn="l">
              <a:lnSpc>
                <a:spcPts val="2016"/>
              </a:lnSpc>
              <a:spcBef>
                <a:spcPts val="0"/>
              </a:spcBef>
              <a:spcAft>
                <a:spcPts val="0"/>
              </a:spcAft>
            </a:pPr>
            <a:r>
              <a:rPr sz="1800" b="1">
                <a:solidFill>
                  <a:srgbClr val="FFFFFF"/>
                </a:solidFill>
                <a:latin typeface="Arial"/>
              </a:rPr>
              <a:t>Ramp range (29 assets)</a:t>
            </a:r>
          </a:p>
          <a:p>
            <a:pPr algn="l">
              <a:lnSpc>
                <a:spcPts val="2016"/>
              </a:lnSpc>
              <a:spcBef>
                <a:spcPts val="0"/>
              </a:spcBef>
              <a:spcAft>
                <a:spcPts val="0"/>
              </a:spcAft>
            </a:pPr>
            <a:r>
              <a:rPr sz="1800" b="0">
                <a:solidFill>
                  <a:srgbClr val="A9B4C6"/>
                </a:solidFill>
                <a:latin typeface="Arial"/>
              </a:rPr>
              <a:t>up to 1.5 → 3.0: 45 % → 90 % of runs at 16 layers</a:t>
            </a:r>
          </a:p>
        </p:txBody>
      </p:sp>
      <p:sp>
        <p:nvSpPr>
          <p:cNvPr id="32" name="Rounded Rectangle 31"/>
          <p:cNvSpPr/>
          <p:nvPr/>
        </p:nvSpPr>
        <p:spPr>
          <a:xfrm>
            <a:off x="5532120" y="4669536"/>
            <a:ext cx="6108192" cy="621792"/>
          </a:xfrm>
          <a:prstGeom prst="roundRect">
            <a:avLst>
              <a:gd name="adj" fmla="val 11764"/>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715000" y="4706112"/>
            <a:ext cx="5806440" cy="512064"/>
          </a:xfrm>
          <a:prstGeom prst="rect">
            <a:avLst/>
          </a:prstGeom>
          <a:noFill/>
        </p:spPr>
        <p:txBody>
          <a:bodyPr wrap="square" lIns="0" rIns="0" tIns="0" bIns="0" anchor="t">
            <a:noAutofit/>
          </a:bodyPr>
          <a:lstStyle/>
          <a:p>
            <a:pPr algn="l">
              <a:lnSpc>
                <a:spcPts val="2016"/>
              </a:lnSpc>
              <a:spcBef>
                <a:spcPts val="0"/>
              </a:spcBef>
              <a:spcAft>
                <a:spcPts val="0"/>
              </a:spcAft>
            </a:pPr>
            <a:r>
              <a:rPr sz="1800" b="1">
                <a:solidFill>
                  <a:srgbClr val="FFFFFF"/>
                </a:solidFill>
                <a:latin typeface="Arial"/>
              </a:rPr>
              <a:t>Angle choice (29 assets, 3 layers)</a:t>
            </a:r>
          </a:p>
          <a:p>
            <a:pPr algn="l">
              <a:lnSpc>
                <a:spcPts val="2016"/>
              </a:lnSpc>
              <a:spcBef>
                <a:spcPts val="0"/>
              </a:spcBef>
              <a:spcAft>
                <a:spcPts val="0"/>
              </a:spcAft>
            </a:pPr>
            <a:r>
              <a:rPr sz="1800" b="0">
                <a:solidFill>
                  <a:srgbClr val="A9B4C6"/>
                </a:solidFill>
                <a:latin typeface="Arial"/>
              </a:rPr>
              <a:t>by energy → by CVaR: 9.9 % → 17.9 % of runs</a:t>
            </a:r>
          </a:p>
        </p:txBody>
      </p:sp>
      <p:sp>
        <p:nvSpPr>
          <p:cNvPr id="34" name="TextBox 33"/>
          <p:cNvSpPr txBox="1"/>
          <p:nvPr/>
        </p:nvSpPr>
        <p:spPr>
          <a:xfrm>
            <a:off x="548640" y="384048"/>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WHAT WE TRIED</a:t>
            </a:r>
          </a:p>
        </p:txBody>
      </p:sp>
      <p:sp>
        <p:nvSpPr>
          <p:cNvPr id="35" name="TextBox 34"/>
          <p:cNvSpPr txBox="1"/>
          <p:nvPr/>
        </p:nvSpPr>
        <p:spPr>
          <a:xfrm>
            <a:off x="548640" y="5513832"/>
            <a:ext cx="11094415" cy="54864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12 assets: noiseless simulation, 10 Oct 2026 · 29 assets: noiseless server simulation, 11 Oct 2026</a:t>
            </a:r>
          </a:p>
          <a:p>
            <a:pPr algn="l">
              <a:lnSpc>
                <a:spcPts val="2160"/>
              </a:lnSpc>
              <a:spcBef>
                <a:spcPts val="0"/>
              </a:spcBef>
              <a:spcAft>
                <a:spcPts val="0"/>
              </a:spcAft>
            </a:pPr>
            <a:r>
              <a:rPr sz="1800" b="0">
                <a:solidFill>
                  <a:srgbClr val="A9B4C6"/>
                </a:solidFill>
                <a:latin typeface="Arial"/>
              </a:rPr>
              <a:t>per shot = chance that one shot is the best portfolio · runs = 1,000-shot runs that contain it</a:t>
            </a:r>
          </a:p>
        </p:txBody>
      </p:sp>
      <p:sp>
        <p:nvSpPr>
          <p:cNvPr id="36" name="TextBox 35"/>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37" name="TextBox 36"/>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731520"/>
            <a:ext cx="11094415" cy="467360"/>
          </a:xfrm>
        </p:spPr>
        <p:txBody>
          <a:bodyPr lIns="0" rIns="0" tIns="0" bIns="0" wrap="square" anchor="t">
            <a:noAutofit/>
          </a:bodyPr>
          <a:lstStyle/>
          <a:p>
            <a:pPr algn="l">
              <a:lnSpc>
                <a:spcPts val="3679"/>
              </a:lnSpc>
              <a:spcBef>
                <a:spcPts val="0"/>
              </a:spcBef>
              <a:spcAft>
                <a:spcPts val="0"/>
              </a:spcAft>
            </a:pPr>
            <a:r>
              <a:rPr sz="3200" b="1">
                <a:solidFill>
                  <a:srgbClr val="FFFFFF"/>
                </a:solidFill>
                <a:latin typeface="Arial"/>
              </a:rPr>
              <a:t>All-to-all links: 4.3× fewer two-qubit gates</a:t>
            </a:r>
          </a:p>
        </p:txBody>
      </p:sp>
      <p:pic>
        <p:nvPicPr>
          <p:cNvPr id="3" name="Picture 2" descr="Column chart of two-qubit gates in one QAOA layer. At 12 qubits: 66 on all-to-all against 285 on a heavy-hex grid. At 29 qubits: 244 against 1,576."/>
          <p:cNvPicPr>
            <a:picLocks noChangeAspect="1"/>
          </p:cNvPicPr>
          <p:nvPr/>
        </p:nvPicPr>
        <p:blipFill>
          <a:blip r:embed="rId2"/>
          <a:stretch>
            <a:fillRect/>
          </a:stretch>
        </p:blipFill>
        <p:spPr>
          <a:xfrm>
            <a:off x="548640" y="1508760"/>
            <a:ext cx="6400800" cy="3794760"/>
          </a:xfrm>
          <a:prstGeom prst="rect">
            <a:avLst/>
          </a:prstGeom>
        </p:spPr>
      </p:pic>
      <p:sp>
        <p:nvSpPr>
          <p:cNvPr id="4" name="TextBox 3"/>
          <p:cNvSpPr txBox="1"/>
          <p:nvPr/>
        </p:nvSpPr>
        <p:spPr>
          <a:xfrm>
            <a:off x="7543800" y="1554480"/>
            <a:ext cx="4069080" cy="853440"/>
          </a:xfrm>
          <a:prstGeom prst="rect">
            <a:avLst/>
          </a:prstGeom>
          <a:noFill/>
        </p:spPr>
        <p:txBody>
          <a:bodyPr wrap="square" lIns="0" rIns="0" tIns="0" bIns="0" anchor="t">
            <a:noAutofit/>
          </a:bodyPr>
          <a:lstStyle/>
          <a:p>
            <a:pPr algn="l">
              <a:lnSpc>
                <a:spcPts val="6720"/>
              </a:lnSpc>
              <a:spcBef>
                <a:spcPts val="0"/>
              </a:spcBef>
              <a:spcAft>
                <a:spcPts val="0"/>
              </a:spcAft>
            </a:pPr>
            <a:r>
              <a:rPr sz="6000" b="1">
                <a:solidFill>
                  <a:srgbClr val="17A2B8"/>
                </a:solidFill>
                <a:latin typeface="Arial"/>
              </a:rPr>
              <a:t>4.3×</a:t>
            </a:r>
          </a:p>
        </p:txBody>
      </p:sp>
      <p:sp>
        <p:nvSpPr>
          <p:cNvPr id="5" name="TextBox 4"/>
          <p:cNvSpPr txBox="1"/>
          <p:nvPr/>
        </p:nvSpPr>
        <p:spPr>
          <a:xfrm>
            <a:off x="7543800" y="2426208"/>
            <a:ext cx="4069080" cy="609600"/>
          </a:xfrm>
          <a:prstGeom prst="rect">
            <a:avLst/>
          </a:prstGeom>
          <a:noFill/>
        </p:spPr>
        <p:txBody>
          <a:bodyPr wrap="square" lIns="0" rIns="0" tIns="0" bIns="0" anchor="t">
            <a:noAutofit/>
          </a:bodyPr>
          <a:lstStyle/>
          <a:p>
            <a:pPr algn="l">
              <a:lnSpc>
                <a:spcPts val="2400"/>
              </a:lnSpc>
              <a:spcBef>
                <a:spcPts val="0"/>
              </a:spcBef>
              <a:spcAft>
                <a:spcPts val="0"/>
              </a:spcAft>
            </a:pPr>
            <a:r>
              <a:rPr sz="2000" b="0">
                <a:solidFill>
                  <a:srgbClr val="FFFFFF"/>
                </a:solidFill>
                <a:latin typeface="Arial"/>
              </a:rPr>
              <a:t>fewer two-qubit gates</a:t>
            </a:r>
          </a:p>
          <a:p>
            <a:pPr algn="l">
              <a:lnSpc>
                <a:spcPts val="2400"/>
              </a:lnSpc>
              <a:spcBef>
                <a:spcPts val="0"/>
              </a:spcBef>
              <a:spcAft>
                <a:spcPts val="0"/>
              </a:spcAft>
            </a:pPr>
            <a:r>
              <a:rPr sz="2000" b="0">
                <a:solidFill>
                  <a:srgbClr val="FFFFFF"/>
                </a:solidFill>
                <a:latin typeface="Arial"/>
              </a:rPr>
              <a:t>at 12 qubits (66 vs 285)</a:t>
            </a:r>
          </a:p>
        </p:txBody>
      </p:sp>
      <p:sp>
        <p:nvSpPr>
          <p:cNvPr id="6" name="TextBox 5"/>
          <p:cNvSpPr txBox="1"/>
          <p:nvPr/>
        </p:nvSpPr>
        <p:spPr>
          <a:xfrm>
            <a:off x="7543800" y="3236976"/>
            <a:ext cx="4069080" cy="853440"/>
          </a:xfrm>
          <a:prstGeom prst="rect">
            <a:avLst/>
          </a:prstGeom>
          <a:noFill/>
        </p:spPr>
        <p:txBody>
          <a:bodyPr wrap="square" lIns="0" rIns="0" tIns="0" bIns="0" anchor="t">
            <a:noAutofit/>
          </a:bodyPr>
          <a:lstStyle/>
          <a:p>
            <a:pPr algn="l">
              <a:lnSpc>
                <a:spcPts val="6720"/>
              </a:lnSpc>
              <a:spcBef>
                <a:spcPts val="0"/>
              </a:spcBef>
              <a:spcAft>
                <a:spcPts val="0"/>
              </a:spcAft>
            </a:pPr>
            <a:r>
              <a:rPr sz="6000" b="1">
                <a:solidFill>
                  <a:srgbClr val="17A2B8"/>
                </a:solidFill>
                <a:latin typeface="Arial"/>
              </a:rPr>
              <a:t>6.5×</a:t>
            </a:r>
          </a:p>
        </p:txBody>
      </p:sp>
      <p:sp>
        <p:nvSpPr>
          <p:cNvPr id="7" name="TextBox 6"/>
          <p:cNvSpPr txBox="1"/>
          <p:nvPr/>
        </p:nvSpPr>
        <p:spPr>
          <a:xfrm>
            <a:off x="7543800" y="4108704"/>
            <a:ext cx="4069080" cy="304800"/>
          </a:xfrm>
          <a:prstGeom prst="rect">
            <a:avLst/>
          </a:prstGeom>
          <a:noFill/>
        </p:spPr>
        <p:txBody>
          <a:bodyPr wrap="square" lIns="0" rIns="0" tIns="0" bIns="0" anchor="t">
            <a:noAutofit/>
          </a:bodyPr>
          <a:lstStyle/>
          <a:p>
            <a:pPr algn="l">
              <a:lnSpc>
                <a:spcPts val="2400"/>
              </a:lnSpc>
              <a:spcBef>
                <a:spcPts val="0"/>
              </a:spcBef>
              <a:spcAft>
                <a:spcPts val="0"/>
              </a:spcAft>
            </a:pPr>
            <a:r>
              <a:rPr sz="2000" b="0">
                <a:solidFill>
                  <a:srgbClr val="FFFFFF"/>
                </a:solidFill>
                <a:latin typeface="Arial"/>
              </a:rPr>
              <a:t>fewer at 29 qubits (244 vs 1,576)</a:t>
            </a:r>
          </a:p>
        </p:txBody>
      </p:sp>
      <p:sp>
        <p:nvSpPr>
          <p:cNvPr id="8" name="TextBox 7"/>
          <p:cNvSpPr txBox="1"/>
          <p:nvPr/>
        </p:nvSpPr>
        <p:spPr>
          <a:xfrm>
            <a:off x="7543800" y="4614672"/>
            <a:ext cx="406908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66 pairs = 66 gates, no SWAPs</a:t>
            </a:r>
          </a:p>
        </p:txBody>
      </p:sp>
      <p:sp>
        <p:nvSpPr>
          <p:cNvPr id="9" name="TextBox 8"/>
          <p:cNvSpPr txBox="1"/>
          <p:nvPr/>
        </p:nvSpPr>
        <p:spPr>
          <a:xfrm>
            <a:off x="548640" y="384048"/>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WHY IONQ</a:t>
            </a:r>
          </a:p>
        </p:txBody>
      </p:sp>
      <p:sp>
        <p:nvSpPr>
          <p:cNvPr id="10" name="TextBox 9"/>
          <p:cNvSpPr txBox="1"/>
          <p:nvPr/>
        </p:nvSpPr>
        <p:spPr>
          <a:xfrm>
            <a:off x="548640" y="5513832"/>
            <a:ext cx="11094415" cy="54864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Gate counts from transpiling only (Qiskit 2.5.2, level 1); heavy-hex = median of 5 routing seeds</a:t>
            </a:r>
          </a:p>
          <a:p>
            <a:pPr algn="l">
              <a:lnSpc>
                <a:spcPts val="2160"/>
              </a:lnSpc>
              <a:spcBef>
                <a:spcPts val="0"/>
              </a:spcBef>
              <a:spcAft>
                <a:spcPts val="0"/>
              </a:spcAft>
            </a:pPr>
            <a:r>
              <a:rPr sz="1800" b="0">
                <a:solidFill>
                  <a:srgbClr val="A9B4C6"/>
                </a:solidFill>
                <a:latin typeface="Arial"/>
              </a:rPr>
              <a:t>on a generic heavy-hex map. No circuit was run on a heavy-hex device.</a:t>
            </a:r>
          </a:p>
        </p:txBody>
      </p:sp>
      <p:sp>
        <p:nvSpPr>
          <p:cNvPr id="11" name="TextBox 10"/>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12" name="TextBox 11"/>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731520"/>
            <a:ext cx="11094415" cy="467360"/>
          </a:xfrm>
        </p:spPr>
        <p:txBody>
          <a:bodyPr lIns="0" rIns="0" tIns="0" bIns="0" wrap="square" anchor="t">
            <a:noAutofit/>
          </a:bodyPr>
          <a:lstStyle/>
          <a:p>
            <a:pPr algn="l">
              <a:lnSpc>
                <a:spcPts val="3679"/>
              </a:lnSpc>
              <a:spcBef>
                <a:spcPts val="0"/>
              </a:spcBef>
              <a:spcAft>
                <a:spcPts val="0"/>
              </a:spcAft>
            </a:pPr>
            <a:r>
              <a:rPr sz="3200" b="1">
                <a:solidFill>
                  <a:srgbClr val="FFFFFF"/>
                </a:solidFill>
                <a:latin typeface="Arial"/>
              </a:rPr>
              <a:t>IonQ noise model: 29× random guessing</a:t>
            </a:r>
          </a:p>
        </p:txBody>
      </p:sp>
      <p:sp>
        <p:nvSpPr>
          <p:cNvPr id="3" name="Rounded Rectangle 2"/>
          <p:cNvSpPr/>
          <p:nvPr/>
        </p:nvSpPr>
        <p:spPr>
          <a:xfrm>
            <a:off x="548640" y="1554480"/>
            <a:ext cx="4069080" cy="3794760"/>
          </a:xfrm>
          <a:prstGeom prst="roundRect">
            <a:avLst>
              <a:gd name="adj" fmla="val 2891"/>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755648"/>
            <a:ext cx="356616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IonQ Forte 1 noise model</a:t>
            </a:r>
          </a:p>
        </p:txBody>
      </p:sp>
      <p:sp>
        <p:nvSpPr>
          <p:cNvPr id="5" name="TextBox 4"/>
          <p:cNvSpPr txBox="1"/>
          <p:nvPr/>
        </p:nvSpPr>
        <p:spPr>
          <a:xfrm>
            <a:off x="822960" y="2084832"/>
            <a:ext cx="3566160" cy="768096"/>
          </a:xfrm>
          <a:prstGeom prst="rect">
            <a:avLst/>
          </a:prstGeom>
          <a:noFill/>
        </p:spPr>
        <p:txBody>
          <a:bodyPr wrap="square" lIns="0" rIns="0" tIns="0" bIns="0" anchor="t">
            <a:noAutofit/>
          </a:bodyPr>
          <a:lstStyle/>
          <a:p>
            <a:pPr algn="l">
              <a:lnSpc>
                <a:spcPts val="6048"/>
              </a:lnSpc>
              <a:spcBef>
                <a:spcPts val="0"/>
              </a:spcBef>
              <a:spcAft>
                <a:spcPts val="0"/>
              </a:spcAft>
            </a:pPr>
            <a:r>
              <a:rPr sz="5400" b="1">
                <a:solidFill>
                  <a:srgbClr val="D9791A"/>
                </a:solidFill>
                <a:latin typeface="Arial"/>
              </a:rPr>
              <a:t>7 / 1,000</a:t>
            </a:r>
          </a:p>
        </p:txBody>
      </p:sp>
      <p:sp>
        <p:nvSpPr>
          <p:cNvPr id="6" name="TextBox 5"/>
          <p:cNvSpPr txBox="1"/>
          <p:nvPr/>
        </p:nvSpPr>
        <p:spPr>
          <a:xfrm>
            <a:off x="822960" y="2871216"/>
            <a:ext cx="3566160" cy="609600"/>
          </a:xfrm>
          <a:prstGeom prst="rect">
            <a:avLst/>
          </a:prstGeom>
          <a:noFill/>
        </p:spPr>
        <p:txBody>
          <a:bodyPr wrap="square" lIns="0" rIns="0" tIns="0" bIns="0" anchor="t">
            <a:noAutofit/>
          </a:bodyPr>
          <a:lstStyle/>
          <a:p>
            <a:pPr algn="l">
              <a:lnSpc>
                <a:spcPts val="2400"/>
              </a:lnSpc>
              <a:spcBef>
                <a:spcPts val="0"/>
              </a:spcBef>
              <a:spcAft>
                <a:spcPts val="0"/>
              </a:spcAft>
            </a:pPr>
            <a:r>
              <a:rPr sz="2000" b="0">
                <a:solidFill>
                  <a:srgbClr val="FFFFFF"/>
                </a:solidFill>
                <a:latin typeface="Arial"/>
              </a:rPr>
              <a:t>shots are the exact best</a:t>
            </a:r>
          </a:p>
          <a:p>
            <a:pPr algn="l">
              <a:lnSpc>
                <a:spcPts val="2400"/>
              </a:lnSpc>
              <a:spcBef>
                <a:spcPts val="0"/>
              </a:spcBef>
              <a:spcAft>
                <a:spcPts val="0"/>
              </a:spcAft>
            </a:pPr>
            <a:r>
              <a:rPr sz="2000" b="0">
                <a:solidFill>
                  <a:srgbClr val="FFFFFF"/>
                </a:solidFill>
                <a:latin typeface="Arial"/>
              </a:rPr>
              <a:t>of 4,096 portfolios</a:t>
            </a:r>
          </a:p>
        </p:txBody>
      </p:sp>
      <p:sp>
        <p:nvSpPr>
          <p:cNvPr id="7" name="TextBox 6"/>
          <p:cNvSpPr txBox="1"/>
          <p:nvPr/>
        </p:nvSpPr>
        <p:spPr>
          <a:xfrm>
            <a:off x="822960" y="3681984"/>
            <a:ext cx="3566160" cy="890016"/>
          </a:xfrm>
          <a:prstGeom prst="rect">
            <a:avLst/>
          </a:prstGeom>
          <a:noFill/>
        </p:spPr>
        <p:txBody>
          <a:bodyPr wrap="square" lIns="0" rIns="0" tIns="0" bIns="0" anchor="t">
            <a:noAutofit/>
          </a:bodyPr>
          <a:lstStyle/>
          <a:p>
            <a:pPr algn="l">
              <a:lnSpc>
                <a:spcPts val="3360"/>
              </a:lnSpc>
              <a:spcBef>
                <a:spcPts val="0"/>
              </a:spcBef>
              <a:spcAft>
                <a:spcPts val="0"/>
              </a:spcAft>
            </a:pPr>
            <a:r>
              <a:rPr sz="2800" b="1">
                <a:solidFill>
                  <a:srgbClr val="FFFFFF"/>
                </a:solidFill>
                <a:latin typeface="Arial"/>
              </a:rPr>
              <a:t>29×  </a:t>
            </a:r>
            <a:r>
              <a:rPr sz="1800" b="0">
                <a:solidFill>
                  <a:srgbClr val="A9B4C6"/>
                </a:solidFill>
                <a:latin typeface="Arial"/>
              </a:rPr>
              <a:t>random guessing</a:t>
            </a:r>
          </a:p>
          <a:p>
            <a:pPr algn="l">
              <a:lnSpc>
                <a:spcPts val="3360"/>
              </a:lnSpc>
              <a:spcBef>
                <a:spcPts val="288"/>
              </a:spcBef>
              <a:spcAft>
                <a:spcPts val="0"/>
              </a:spcAft>
            </a:pPr>
            <a:r>
              <a:rPr sz="2800" b="1">
                <a:solidFill>
                  <a:srgbClr val="FFFFFF"/>
                </a:solidFill>
                <a:latin typeface="Arial"/>
              </a:rPr>
              <a:t>58 / 1,000  </a:t>
            </a:r>
            <a:r>
              <a:rPr sz="1800" b="0">
                <a:solidFill>
                  <a:srgbClr val="A9B4C6"/>
                </a:solidFill>
                <a:latin typeface="Arial"/>
              </a:rPr>
              <a:t>noiseless</a:t>
            </a:r>
          </a:p>
        </p:txBody>
      </p:sp>
      <p:sp>
        <p:nvSpPr>
          <p:cNvPr id="8" name="TextBox 7"/>
          <p:cNvSpPr txBox="1"/>
          <p:nvPr/>
        </p:nvSpPr>
        <p:spPr>
          <a:xfrm>
            <a:off x="822960" y="4663440"/>
            <a:ext cx="356616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95 % interval: 3-14 per 1,000</a:t>
            </a:r>
          </a:p>
        </p:txBody>
      </p:sp>
      <p:pic>
        <p:nvPicPr>
          <p:cNvPr id="9" name="Picture 8" descr="Dot chart on a log scale: evaluations until the best portfolio is first found, median, fewer is better. Noiseless simulation of the same circuit 12; greedy descent 73; IonQ Forte 1 noise model 99 with a 95 % interval from 48 to 246; simulated annealing 1,516; random guessing 2,839."/>
          <p:cNvPicPr>
            <a:picLocks noChangeAspect="1"/>
          </p:cNvPicPr>
          <p:nvPr/>
        </p:nvPicPr>
        <p:blipFill>
          <a:blip r:embed="rId2"/>
          <a:stretch>
            <a:fillRect/>
          </a:stretch>
        </p:blipFill>
        <p:spPr>
          <a:xfrm>
            <a:off x="4965192" y="1554480"/>
            <a:ext cx="6675120" cy="3794760"/>
          </a:xfrm>
          <a:prstGeom prst="rect">
            <a:avLst/>
          </a:prstGeom>
        </p:spPr>
      </p:pic>
      <p:sp>
        <p:nvSpPr>
          <p:cNvPr id="10" name="TextBox 9"/>
          <p:cNvSpPr txBox="1"/>
          <p:nvPr/>
        </p:nvSpPr>
        <p:spPr>
          <a:xfrm>
            <a:off x="548640" y="384048"/>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MAIN RESULT</a:t>
            </a:r>
          </a:p>
        </p:txBody>
      </p:sp>
      <p:sp>
        <p:nvSpPr>
          <p:cNvPr id="11" name="TextBox 10"/>
          <p:cNvSpPr txBox="1"/>
          <p:nvPr/>
        </p:nvSpPr>
        <p:spPr>
          <a:xfrm>
            <a:off x="548640" y="5513832"/>
            <a:ext cx="11094415" cy="54864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IonQ Forte 1 noise model (Qollab): 1 job, 1,000 shots, 11 Oct 2026 · noiseless simulation</a:t>
            </a:r>
          </a:p>
          <a:p>
            <a:pPr algn="l">
              <a:lnSpc>
                <a:spcPts val="2160"/>
              </a:lnSpc>
              <a:spcBef>
                <a:spcPts val="0"/>
              </a:spcBef>
              <a:spcAft>
                <a:spcPts val="0"/>
              </a:spcAft>
            </a:pPr>
            <a:r>
              <a:rPr sz="1800" b="0">
                <a:solidFill>
                  <a:srgbClr val="A9B4C6"/>
                </a:solidFill>
                <a:latin typeface="Arial"/>
              </a:rPr>
              <a:t>Classical: median of 50 runs. Sampler medians come from the hit rate per shot. Training not counted.</a:t>
            </a:r>
          </a:p>
        </p:txBody>
      </p:sp>
      <p:sp>
        <p:nvSpPr>
          <p:cNvPr id="12" name="TextBox 11"/>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13" name="TextBox 12"/>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731520"/>
            <a:ext cx="11094415" cy="467360"/>
          </a:xfrm>
        </p:spPr>
        <p:txBody>
          <a:bodyPr lIns="0" rIns="0" tIns="0" bIns="0" wrap="square" anchor="t">
            <a:noAutofit/>
          </a:bodyPr>
          <a:lstStyle/>
          <a:p>
            <a:pPr algn="l">
              <a:lnSpc>
                <a:spcPts val="3679"/>
              </a:lnSpc>
              <a:spcBef>
                <a:spcPts val="0"/>
              </a:spcBef>
              <a:spcAft>
                <a:spcPts val="0"/>
              </a:spcAft>
            </a:pPr>
            <a:r>
              <a:rPr sz="3200" b="1">
                <a:solidFill>
                  <a:srgbClr val="FFFFFF"/>
                </a:solidFill>
                <a:latin typeface="Arial"/>
              </a:rPr>
              <a:t>29 qubits: more layers help, only without noise</a:t>
            </a:r>
          </a:p>
        </p:txBody>
      </p:sp>
      <p:pic>
        <p:nvPicPr>
          <p:cNvPr id="3" name="Picture 2" descr="Line chart for 29 assets: share of 1,000-shot runs that contain the exact best portfolio, against the number of layers, in noiseless simulation. With the ramp tuned on a wider grid: 6.6 % at 3 layers, 62 % at 12, 90 % at 16, 99.6 % at 24 and 100 % at 32. With the ramp as in the paper: 45 % at 16 layers. Classical methods with 1,000 evaluations: 61 %."/>
          <p:cNvPicPr>
            <a:picLocks noChangeAspect="1"/>
          </p:cNvPicPr>
          <p:nvPr/>
        </p:nvPicPr>
        <p:blipFill>
          <a:blip r:embed="rId2"/>
          <a:stretch>
            <a:fillRect/>
          </a:stretch>
        </p:blipFill>
        <p:spPr>
          <a:xfrm>
            <a:off x="548640" y="1508760"/>
            <a:ext cx="6675120" cy="3840480"/>
          </a:xfrm>
          <a:prstGeom prst="rect">
            <a:avLst/>
          </a:prstGeom>
        </p:spPr>
      </p:pic>
      <p:sp>
        <p:nvSpPr>
          <p:cNvPr id="4" name="TextBox 3"/>
          <p:cNvSpPr txBox="1"/>
          <p:nvPr/>
        </p:nvSpPr>
        <p:spPr>
          <a:xfrm>
            <a:off x="7589520" y="1572768"/>
            <a:ext cx="4050792" cy="335280"/>
          </a:xfrm>
          <a:prstGeom prst="rect">
            <a:avLst/>
          </a:prstGeom>
          <a:noFill/>
        </p:spPr>
        <p:txBody>
          <a:bodyPr wrap="square" lIns="0" rIns="0" tIns="0" bIns="0" anchor="t">
            <a:noAutofit/>
          </a:bodyPr>
          <a:lstStyle/>
          <a:p>
            <a:pPr algn="l">
              <a:lnSpc>
                <a:spcPts val="2640"/>
              </a:lnSpc>
              <a:spcBef>
                <a:spcPts val="0"/>
              </a:spcBef>
              <a:spcAft>
                <a:spcPts val="0"/>
              </a:spcAft>
            </a:pPr>
            <a:r>
              <a:rPr sz="2200" b="1">
                <a:solidFill>
                  <a:srgbClr val="FFFFFF"/>
                </a:solidFill>
                <a:latin typeface="Arial"/>
              </a:rPr>
              <a:t>Read with care</a:t>
            </a:r>
          </a:p>
        </p:txBody>
      </p:sp>
      <p:sp>
        <p:nvSpPr>
          <p:cNvPr id="5" name="Oval 4"/>
          <p:cNvSpPr/>
          <p:nvPr/>
        </p:nvSpPr>
        <p:spPr>
          <a:xfrm>
            <a:off x="7589520" y="2159508"/>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0" y="2072640"/>
            <a:ext cx="3776472"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Noiseless simulation only</a:t>
            </a:r>
          </a:p>
        </p:txBody>
      </p:sp>
      <p:sp>
        <p:nvSpPr>
          <p:cNvPr id="7" name="Oval 6"/>
          <p:cNvSpPr/>
          <p:nvPr/>
        </p:nvSpPr>
        <p:spPr>
          <a:xfrm>
            <a:off x="7589520" y="2589276"/>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2502408"/>
            <a:ext cx="3776472" cy="82296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16 layers = 6,496 two-qubit</a:t>
            </a:r>
          </a:p>
          <a:p>
            <a:pPr algn="l">
              <a:lnSpc>
                <a:spcPts val="2160"/>
              </a:lnSpc>
              <a:spcBef>
                <a:spcPts val="0"/>
              </a:spcBef>
              <a:spcAft>
                <a:spcPts val="0"/>
              </a:spcAft>
            </a:pPr>
            <a:r>
              <a:rPr sz="1800" b="0">
                <a:solidFill>
                  <a:srgbClr val="FFFFFF"/>
                </a:solidFill>
                <a:latin typeface="Arial"/>
              </a:rPr>
              <a:t>gates; our 198-gate IonQ run</a:t>
            </a:r>
          </a:p>
          <a:p>
            <a:pPr algn="l">
              <a:lnSpc>
                <a:spcPts val="2160"/>
              </a:lnSpc>
              <a:spcBef>
                <a:spcPts val="0"/>
              </a:spcBef>
              <a:spcAft>
                <a:spcPts val="0"/>
              </a:spcAft>
            </a:pPr>
            <a:r>
              <a:rPr sz="1800" b="0">
                <a:solidFill>
                  <a:srgbClr val="FFFFFF"/>
                </a:solidFill>
                <a:latin typeface="Arial"/>
              </a:rPr>
              <a:t>lost a factor 8 to noise</a:t>
            </a:r>
          </a:p>
        </p:txBody>
      </p:sp>
      <p:sp>
        <p:nvSpPr>
          <p:cNvPr id="9" name="Oval 8"/>
          <p:cNvSpPr/>
          <p:nvPr/>
        </p:nvSpPr>
        <p:spPr>
          <a:xfrm>
            <a:off x="7589520" y="3567684"/>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3480816"/>
            <a:ext cx="3776472" cy="54864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Classical: 100 % with 10,000</a:t>
            </a:r>
          </a:p>
          <a:p>
            <a:pPr algn="l">
              <a:lnSpc>
                <a:spcPts val="2160"/>
              </a:lnSpc>
              <a:spcBef>
                <a:spcPts val="0"/>
              </a:spcBef>
              <a:spcAft>
                <a:spcPts val="0"/>
              </a:spcAft>
            </a:pPr>
            <a:r>
              <a:rPr sz="1800" b="0">
                <a:solidFill>
                  <a:srgbClr val="FFFFFF"/>
                </a:solidFill>
                <a:latin typeface="Arial"/>
              </a:rPr>
              <a:t>evaluations</a:t>
            </a:r>
          </a:p>
        </p:txBody>
      </p:sp>
      <p:sp>
        <p:nvSpPr>
          <p:cNvPr id="11" name="Oval 10"/>
          <p:cNvSpPr/>
          <p:nvPr/>
        </p:nvSpPr>
        <p:spPr>
          <a:xfrm>
            <a:off x="7589520" y="4271772"/>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63840" y="4184904"/>
            <a:ext cx="3776472" cy="54864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A shot is not the same work</a:t>
            </a:r>
          </a:p>
          <a:p>
            <a:pPr algn="l">
              <a:lnSpc>
                <a:spcPts val="2160"/>
              </a:lnSpc>
              <a:spcBef>
                <a:spcPts val="0"/>
              </a:spcBef>
              <a:spcAft>
                <a:spcPts val="0"/>
              </a:spcAft>
            </a:pPr>
            <a:r>
              <a:rPr sz="1800" b="0">
                <a:solidFill>
                  <a:srgbClr val="FFFFFF"/>
                </a:solidFill>
                <a:latin typeface="Arial"/>
              </a:rPr>
              <a:t>as a classical evaluation</a:t>
            </a:r>
          </a:p>
        </p:txBody>
      </p:sp>
      <p:sp>
        <p:nvSpPr>
          <p:cNvPr id="13" name="TextBox 12"/>
          <p:cNvSpPr txBox="1"/>
          <p:nvPr/>
        </p:nvSpPr>
        <p:spPr>
          <a:xfrm>
            <a:off x="548640" y="384048"/>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SCALING AND HONEST COMPARISON</a:t>
            </a:r>
          </a:p>
        </p:txBody>
      </p:sp>
      <p:sp>
        <p:nvSpPr>
          <p:cNvPr id="14" name="TextBox 13"/>
          <p:cNvSpPr txBox="1"/>
          <p:nvPr/>
        </p:nvSpPr>
        <p:spPr>
          <a:xfrm>
            <a:off x="548640" y="5513832"/>
            <a:ext cx="11094415" cy="54864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Server simulation of all 536,870,912 states, 11 Oct 2026; ramp tuned at 12 assets, no tuning at 29</a:t>
            </a:r>
          </a:p>
          <a:p>
            <a:pPr algn="l">
              <a:lnSpc>
                <a:spcPts val="2160"/>
              </a:lnSpc>
              <a:spcBef>
                <a:spcPts val="0"/>
              </a:spcBef>
              <a:spcAft>
                <a:spcPts val="0"/>
              </a:spcAft>
            </a:pPr>
            <a:r>
              <a:rPr sz="1800" b="0">
                <a:solidFill>
                  <a:srgbClr val="A9B4C6"/>
                </a:solidFill>
                <a:latin typeface="Arial"/>
              </a:rPr>
              <a:t>Classical: greedy descent and annealing, 200 runs, the same 1,000 evaluations</a:t>
            </a:r>
          </a:p>
        </p:txBody>
      </p:sp>
      <p:sp>
        <p:nvSpPr>
          <p:cNvPr id="15" name="TextBox 14"/>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16" name="TextBox 15"/>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731520"/>
            <a:ext cx="11094415" cy="467360"/>
          </a:xfrm>
        </p:spPr>
        <p:txBody>
          <a:bodyPr lIns="0" rIns="0" tIns="0" bIns="0" wrap="square" anchor="t">
            <a:noAutofit/>
          </a:bodyPr>
          <a:lstStyle/>
          <a:p>
            <a:pPr algn="l">
              <a:lnSpc>
                <a:spcPts val="3679"/>
              </a:lnSpc>
              <a:spcBef>
                <a:spcPts val="0"/>
              </a:spcBef>
              <a:spcAft>
                <a:spcPts val="0"/>
              </a:spcAft>
            </a:pPr>
            <a:r>
              <a:rPr sz="3200" b="1">
                <a:solidFill>
                  <a:srgbClr val="FFFFFF"/>
                </a:solidFill>
                <a:latin typeface="Arial"/>
              </a:rPr>
              <a:t>Iceberg catches errors, but doubles the gates</a:t>
            </a:r>
          </a:p>
        </p:txBody>
      </p:sp>
      <p:pic>
        <p:nvPicPr>
          <p:cNvPr id="3" name="Picture 2" descr="Bar chart: share of single faults that are caught or harmless, from injecting every single fault (5,904) in exact simulation. Start state and flag 100 %, syndrome checks 100 %, readout bit flips 100 %, QAOA gates 80 %; the rest are XX, YY and ZZ errors on a gate's own pair, which a distance-2 code cannot see."/>
          <p:cNvPicPr>
            <a:picLocks noChangeAspect="1"/>
          </p:cNvPicPr>
          <p:nvPr/>
        </p:nvPicPr>
        <p:blipFill>
          <a:blip r:embed="rId2"/>
          <a:stretch>
            <a:fillRect/>
          </a:stretch>
        </p:blipFill>
        <p:spPr>
          <a:xfrm>
            <a:off x="548640" y="1508760"/>
            <a:ext cx="6675120" cy="3840480"/>
          </a:xfrm>
          <a:prstGeom prst="rect">
            <a:avLst/>
          </a:prstGeom>
        </p:spPr>
      </p:pic>
      <p:sp>
        <p:nvSpPr>
          <p:cNvPr id="4" name="TextBox 3"/>
          <p:cNvSpPr txBox="1"/>
          <p:nvPr/>
        </p:nvSpPr>
        <p:spPr>
          <a:xfrm>
            <a:off x="7589520" y="1554480"/>
            <a:ext cx="4050792" cy="625856"/>
          </a:xfrm>
          <a:prstGeom prst="rect">
            <a:avLst/>
          </a:prstGeom>
          <a:noFill/>
        </p:spPr>
        <p:txBody>
          <a:bodyPr wrap="square" lIns="0" rIns="0" tIns="0" bIns="0" anchor="t">
            <a:noAutofit/>
          </a:bodyPr>
          <a:lstStyle/>
          <a:p>
            <a:pPr algn="l">
              <a:lnSpc>
                <a:spcPts val="4928"/>
              </a:lnSpc>
              <a:spcBef>
                <a:spcPts val="0"/>
              </a:spcBef>
              <a:spcAft>
                <a:spcPts val="0"/>
              </a:spcAft>
            </a:pPr>
            <a:r>
              <a:rPr sz="4400" b="1">
                <a:solidFill>
                  <a:srgbClr val="17A2B8"/>
                </a:solidFill>
                <a:latin typeface="Arial"/>
              </a:rPr>
              <a:t>17 qubits</a:t>
            </a:r>
          </a:p>
        </p:txBody>
      </p:sp>
      <p:sp>
        <p:nvSpPr>
          <p:cNvPr id="5" name="TextBox 4"/>
          <p:cNvSpPr txBox="1"/>
          <p:nvPr/>
        </p:nvSpPr>
        <p:spPr>
          <a:xfrm>
            <a:off x="7589520" y="2198624"/>
            <a:ext cx="4050792" cy="609600"/>
          </a:xfrm>
          <a:prstGeom prst="rect">
            <a:avLst/>
          </a:prstGeom>
          <a:noFill/>
        </p:spPr>
        <p:txBody>
          <a:bodyPr wrap="square" lIns="0" rIns="0" tIns="0" bIns="0" anchor="t">
            <a:noAutofit/>
          </a:bodyPr>
          <a:lstStyle/>
          <a:p>
            <a:pPr algn="l">
              <a:lnSpc>
                <a:spcPts val="2400"/>
              </a:lnSpc>
              <a:spcBef>
                <a:spcPts val="0"/>
              </a:spcBef>
              <a:spcAft>
                <a:spcPts val="0"/>
              </a:spcAft>
            </a:pPr>
            <a:r>
              <a:rPr sz="2000" b="0">
                <a:solidFill>
                  <a:srgbClr val="FFFFFF"/>
                </a:solidFill>
                <a:latin typeface="Arial"/>
              </a:rPr>
              <a:t>12 logical on 14, + 1 flag</a:t>
            </a:r>
          </a:p>
          <a:p>
            <a:pPr algn="l">
              <a:lnSpc>
                <a:spcPts val="2400"/>
              </a:lnSpc>
              <a:spcBef>
                <a:spcPts val="0"/>
              </a:spcBef>
              <a:spcAft>
                <a:spcPts val="0"/>
              </a:spcAft>
            </a:pPr>
            <a:r>
              <a:rPr sz="2000" b="0">
                <a:solidFill>
                  <a:srgbClr val="FFFFFF"/>
                </a:solidFill>
                <a:latin typeface="Arial"/>
              </a:rPr>
              <a:t>+ 2 helpers per check</a:t>
            </a:r>
          </a:p>
        </p:txBody>
      </p:sp>
      <p:sp>
        <p:nvSpPr>
          <p:cNvPr id="6" name="TextBox 5"/>
          <p:cNvSpPr txBox="1"/>
          <p:nvPr/>
        </p:nvSpPr>
        <p:spPr>
          <a:xfrm>
            <a:off x="7589520" y="2991104"/>
            <a:ext cx="4050792" cy="625856"/>
          </a:xfrm>
          <a:prstGeom prst="rect">
            <a:avLst/>
          </a:prstGeom>
          <a:noFill/>
        </p:spPr>
        <p:txBody>
          <a:bodyPr wrap="square" lIns="0" rIns="0" tIns="0" bIns="0" anchor="t">
            <a:noAutofit/>
          </a:bodyPr>
          <a:lstStyle/>
          <a:p>
            <a:pPr algn="l">
              <a:lnSpc>
                <a:spcPts val="4928"/>
              </a:lnSpc>
              <a:spcBef>
                <a:spcPts val="0"/>
              </a:spcBef>
              <a:spcAft>
                <a:spcPts val="0"/>
              </a:spcAft>
            </a:pPr>
            <a:r>
              <a:rPr sz="4400" b="1">
                <a:solidFill>
                  <a:srgbClr val="17A2B8"/>
                </a:solidFill>
                <a:latin typeface="Arial"/>
              </a:rPr>
              <a:t>25 % kept</a:t>
            </a:r>
          </a:p>
        </p:txBody>
      </p:sp>
      <p:sp>
        <p:nvSpPr>
          <p:cNvPr id="7" name="TextBox 6"/>
          <p:cNvSpPr txBox="1"/>
          <p:nvPr/>
        </p:nvSpPr>
        <p:spPr>
          <a:xfrm>
            <a:off x="7589520" y="3635248"/>
            <a:ext cx="4050792" cy="609600"/>
          </a:xfrm>
          <a:prstGeom prst="rect">
            <a:avLst/>
          </a:prstGeom>
          <a:noFill/>
        </p:spPr>
        <p:txBody>
          <a:bodyPr wrap="square" lIns="0" rIns="0" tIns="0" bIns="0" anchor="t">
            <a:noAutofit/>
          </a:bodyPr>
          <a:lstStyle/>
          <a:p>
            <a:pPr algn="l">
              <a:lnSpc>
                <a:spcPts val="2400"/>
              </a:lnSpc>
              <a:spcBef>
                <a:spcPts val="0"/>
              </a:spcBef>
              <a:spcAft>
                <a:spcPts val="0"/>
              </a:spcAft>
            </a:pPr>
            <a:r>
              <a:rPr sz="2000" b="0">
                <a:solidFill>
                  <a:srgbClr val="FFFFFF"/>
                </a:solidFill>
                <a:latin typeface="Arial"/>
              </a:rPr>
              <a:t>IonQ Forte 1 noise model,</a:t>
            </a:r>
          </a:p>
          <a:p>
            <a:pPr algn="l">
              <a:lnSpc>
                <a:spcPts val="2400"/>
              </a:lnSpc>
              <a:spcBef>
                <a:spcPts val="0"/>
              </a:spcBef>
              <a:spcAft>
                <a:spcPts val="0"/>
              </a:spcAft>
            </a:pPr>
            <a:r>
              <a:rPr sz="2000" b="0">
                <a:solidFill>
                  <a:srgbClr val="FFFFFF"/>
                </a:solidFill>
                <a:latin typeface="Arial"/>
              </a:rPr>
              <a:t>1 layer: 3 in 4 shots flagged</a:t>
            </a:r>
          </a:p>
        </p:txBody>
      </p:sp>
      <p:sp>
        <p:nvSpPr>
          <p:cNvPr id="8" name="Oval 7"/>
          <p:cNvSpPr/>
          <p:nvPr/>
        </p:nvSpPr>
        <p:spPr>
          <a:xfrm>
            <a:off x="7589520" y="4532884"/>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0" y="4446016"/>
            <a:ext cx="3776472" cy="54864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Best portfolio: 2 of 246 kept</a:t>
            </a:r>
          </a:p>
          <a:p>
            <a:pPr algn="l">
              <a:lnSpc>
                <a:spcPts val="2160"/>
              </a:lnSpc>
              <a:spcBef>
                <a:spcPts val="0"/>
              </a:spcBef>
              <a:spcAft>
                <a:spcPts val="0"/>
              </a:spcAft>
            </a:pPr>
            <a:r>
              <a:rPr sz="1800" b="0">
                <a:solidFill>
                  <a:srgbClr val="FFFFFF"/>
                </a:solidFill>
                <a:latin typeface="Arial"/>
              </a:rPr>
              <a:t>shots; plain 5-11 per 1,000</a:t>
            </a:r>
          </a:p>
        </p:txBody>
      </p:sp>
      <p:sp>
        <p:nvSpPr>
          <p:cNvPr id="10" name="Oval 9"/>
          <p:cNvSpPr/>
          <p:nvPr/>
        </p:nvSpPr>
        <p:spPr>
          <a:xfrm>
            <a:off x="7589520" y="5191252"/>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0" y="5104384"/>
            <a:ext cx="3776472"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133 vs 66 two-qubit gates</a:t>
            </a:r>
          </a:p>
        </p:txBody>
      </p:sp>
      <p:sp>
        <p:nvSpPr>
          <p:cNvPr id="12" name="TextBox 11"/>
          <p:cNvSpPr txBox="1"/>
          <p:nvPr/>
        </p:nvSpPr>
        <p:spPr>
          <a:xfrm>
            <a:off x="548640" y="384048"/>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ERROR DETECTION</a:t>
            </a:r>
          </a:p>
        </p:txBody>
      </p:sp>
      <p:sp>
        <p:nvSpPr>
          <p:cNvPr id="13" name="TextBox 12"/>
          <p:cNvSpPr txBox="1"/>
          <p:nvPr/>
        </p:nvSpPr>
        <p:spPr>
          <a:xfrm>
            <a:off x="548640" y="5513832"/>
            <a:ext cx="11094415" cy="54864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Faults: exact simulation of every single fault (1, 2 layers) · Run: IonQ Forte 1 noise model, 1,000 shots</a:t>
            </a:r>
          </a:p>
          <a:p>
            <a:pPr algn="l">
              <a:lnSpc>
                <a:spcPts val="2160"/>
              </a:lnSpc>
              <a:spcBef>
                <a:spcPts val="0"/>
              </a:spcBef>
              <a:spcAft>
                <a:spcPts val="0"/>
              </a:spcAft>
            </a:pPr>
            <a:r>
              <a:rPr sz="1800" b="0">
                <a:solidFill>
                  <a:srgbClr val="A9B4C6"/>
                </a:solidFill>
                <a:latin typeface="Arial"/>
              </a:rPr>
              <a:t>Detection, not correction: shots that fail a check are discarded (Qollab, 11 Oct 2026)</a:t>
            </a:r>
          </a:p>
        </p:txBody>
      </p:sp>
      <p:sp>
        <p:nvSpPr>
          <p:cNvPr id="14" name="TextBox 13"/>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15" name="TextBox 14"/>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731520"/>
            <a:ext cx="11094415" cy="467360"/>
          </a:xfrm>
        </p:spPr>
        <p:txBody>
          <a:bodyPr lIns="0" rIns="0" tIns="0" bIns="0" wrap="square" anchor="t">
            <a:noAutofit/>
          </a:bodyPr>
          <a:lstStyle/>
          <a:p>
            <a:pPr algn="l">
              <a:lnSpc>
                <a:spcPts val="3679"/>
              </a:lnSpc>
              <a:spcBef>
                <a:spcPts val="0"/>
              </a:spcBef>
              <a:spcAft>
                <a:spcPts val="0"/>
              </a:spcAft>
            </a:pPr>
            <a:r>
              <a:rPr sz="3200" b="1">
                <a:solidFill>
                  <a:srgbClr val="FFFFFF"/>
                </a:solidFill>
                <a:latin typeface="Arial"/>
              </a:rPr>
              <a:t>Try it on Qollab: one click, one IonQ job</a:t>
            </a:r>
          </a:p>
        </p:txBody>
      </p:sp>
      <p:sp>
        <p:nvSpPr>
          <p:cNvPr id="3" name="Rounded Rectangle 2"/>
          <p:cNvSpPr/>
          <p:nvPr/>
        </p:nvSpPr>
        <p:spPr>
          <a:xfrm>
            <a:off x="548640" y="1554480"/>
            <a:ext cx="5120640" cy="3794760"/>
          </a:xfrm>
          <a:prstGeom prst="roundRect">
            <a:avLst>
              <a:gd name="adj" fmla="val 2891"/>
            </a:avLst>
          </a:prstGeom>
          <a:solidFill>
            <a:srgbClr val="1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783080"/>
            <a:ext cx="4572000" cy="365760"/>
          </a:xfrm>
          <a:prstGeom prst="rect">
            <a:avLst/>
          </a:prstGeom>
          <a:noFill/>
        </p:spPr>
        <p:txBody>
          <a:bodyPr wrap="square" lIns="0" rIns="0" tIns="0" bIns="0" anchor="t">
            <a:noAutofit/>
          </a:bodyPr>
          <a:lstStyle/>
          <a:p>
            <a:pPr algn="l">
              <a:lnSpc>
                <a:spcPts val="2879"/>
              </a:lnSpc>
              <a:spcBef>
                <a:spcPts val="0"/>
              </a:spcBef>
              <a:spcAft>
                <a:spcPts val="0"/>
              </a:spcAft>
            </a:pPr>
            <a:r>
              <a:rPr sz="2400" b="1">
                <a:solidFill>
                  <a:srgbClr val="FFFFFF"/>
                </a:solidFill>
                <a:latin typeface="Arial"/>
              </a:rPr>
              <a:t>Live demo on Qollab</a:t>
            </a:r>
          </a:p>
        </p:txBody>
      </p:sp>
      <p:sp>
        <p:nvSpPr>
          <p:cNvPr id="5" name="Oval 4"/>
          <p:cNvSpPr/>
          <p:nvPr/>
        </p:nvSpPr>
        <p:spPr>
          <a:xfrm>
            <a:off x="822960" y="2523744"/>
            <a:ext cx="457200" cy="457200"/>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606040"/>
            <a:ext cx="457200" cy="274320"/>
          </a:xfrm>
          <a:prstGeom prst="rect">
            <a:avLst/>
          </a:prstGeom>
          <a:noFill/>
        </p:spPr>
        <p:txBody>
          <a:bodyPr wrap="square" lIns="0" rIns="0" tIns="0" bIns="0" anchor="t">
            <a:noAutofit/>
          </a:bodyPr>
          <a:lstStyle/>
          <a:p>
            <a:pPr algn="ctr">
              <a:lnSpc>
                <a:spcPts val="2160"/>
              </a:lnSpc>
              <a:spcBef>
                <a:spcPts val="0"/>
              </a:spcBef>
              <a:spcAft>
                <a:spcPts val="0"/>
              </a:spcAft>
            </a:pPr>
            <a:r>
              <a:rPr sz="1800" b="1">
                <a:solidFill>
                  <a:srgbClr val="FFFFFF"/>
                </a:solidFill>
                <a:latin typeface="Arial"/>
              </a:rPr>
              <a:t>1</a:t>
            </a:r>
          </a:p>
        </p:txBody>
      </p:sp>
      <p:sp>
        <p:nvSpPr>
          <p:cNvPr id="7" name="TextBox 6"/>
          <p:cNvSpPr txBox="1"/>
          <p:nvPr/>
        </p:nvSpPr>
        <p:spPr>
          <a:xfrm>
            <a:off x="1508760" y="2441448"/>
            <a:ext cx="4023360" cy="609600"/>
          </a:xfrm>
          <a:prstGeom prst="rect">
            <a:avLst/>
          </a:prstGeom>
          <a:noFill/>
        </p:spPr>
        <p:txBody>
          <a:bodyPr wrap="square" lIns="0" rIns="0" tIns="0" bIns="0" anchor="t">
            <a:noAutofit/>
          </a:bodyPr>
          <a:lstStyle/>
          <a:p>
            <a:pPr algn="l">
              <a:lnSpc>
                <a:spcPts val="2400"/>
              </a:lnSpc>
              <a:spcBef>
                <a:spcPts val="0"/>
              </a:spcBef>
              <a:spcAft>
                <a:spcPts val="0"/>
              </a:spcAft>
            </a:pPr>
            <a:r>
              <a:rPr sz="2000" b="0">
                <a:solidFill>
                  <a:srgbClr val="FFFFFF"/>
                </a:solidFill>
                <a:latin typeface="Arial"/>
              </a:rPr>
              <a:t>Open the project:</a:t>
            </a:r>
          </a:p>
          <a:p>
            <a:pPr algn="l">
              <a:lnSpc>
                <a:spcPts val="2400"/>
              </a:lnSpc>
              <a:spcBef>
                <a:spcPts val="0"/>
              </a:spcBef>
              <a:spcAft>
                <a:spcPts val="0"/>
              </a:spcAft>
            </a:pPr>
            <a:r>
              <a:rPr sz="2000" b="0">
                <a:solidFill>
                  <a:srgbClr val="FFFFFF"/>
                </a:solidFill>
                <a:latin typeface="Arial"/>
              </a:rPr>
              <a:t>the code is in main.py</a:t>
            </a:r>
          </a:p>
        </p:txBody>
      </p:sp>
      <p:sp>
        <p:nvSpPr>
          <p:cNvPr id="8" name="Oval 7"/>
          <p:cNvSpPr/>
          <p:nvPr/>
        </p:nvSpPr>
        <p:spPr>
          <a:xfrm>
            <a:off x="822960" y="3499104"/>
            <a:ext cx="457200" cy="457200"/>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581400"/>
            <a:ext cx="457200" cy="274320"/>
          </a:xfrm>
          <a:prstGeom prst="rect">
            <a:avLst/>
          </a:prstGeom>
          <a:noFill/>
        </p:spPr>
        <p:txBody>
          <a:bodyPr wrap="square" lIns="0" rIns="0" tIns="0" bIns="0" anchor="t">
            <a:noAutofit/>
          </a:bodyPr>
          <a:lstStyle/>
          <a:p>
            <a:pPr algn="ctr">
              <a:lnSpc>
                <a:spcPts val="2160"/>
              </a:lnSpc>
              <a:spcBef>
                <a:spcPts val="0"/>
              </a:spcBef>
              <a:spcAft>
                <a:spcPts val="0"/>
              </a:spcAft>
            </a:pPr>
            <a:r>
              <a:rPr sz="1800" b="1">
                <a:solidFill>
                  <a:srgbClr val="FFFFFF"/>
                </a:solidFill>
                <a:latin typeface="Arial"/>
              </a:rPr>
              <a:t>2</a:t>
            </a:r>
          </a:p>
        </p:txBody>
      </p:sp>
      <p:sp>
        <p:nvSpPr>
          <p:cNvPr id="10" name="TextBox 9"/>
          <p:cNvSpPr txBox="1"/>
          <p:nvPr/>
        </p:nvSpPr>
        <p:spPr>
          <a:xfrm>
            <a:off x="1508760" y="3416808"/>
            <a:ext cx="4023360" cy="609600"/>
          </a:xfrm>
          <a:prstGeom prst="rect">
            <a:avLst/>
          </a:prstGeom>
          <a:noFill/>
        </p:spPr>
        <p:txBody>
          <a:bodyPr wrap="square" lIns="0" rIns="0" tIns="0" bIns="0" anchor="t">
            <a:noAutofit/>
          </a:bodyPr>
          <a:lstStyle/>
          <a:p>
            <a:pPr algn="l">
              <a:lnSpc>
                <a:spcPts val="2400"/>
              </a:lnSpc>
              <a:spcBef>
                <a:spcPts val="0"/>
              </a:spcBef>
              <a:spcAft>
                <a:spcPts val="0"/>
              </a:spcAft>
            </a:pPr>
            <a:r>
              <a:rPr sz="2000" b="0">
                <a:solidFill>
                  <a:srgbClr val="FFFFFF"/>
                </a:solidFill>
                <a:latin typeface="Arial"/>
              </a:rPr>
              <a:t>Run → Select QPU →</a:t>
            </a:r>
          </a:p>
          <a:p>
            <a:pPr algn="l">
              <a:lnSpc>
                <a:spcPts val="2400"/>
              </a:lnSpc>
              <a:spcBef>
                <a:spcPts val="0"/>
              </a:spcBef>
              <a:spcAft>
                <a:spcPts val="0"/>
              </a:spcAft>
            </a:pPr>
            <a:r>
              <a:rPr sz="2000" b="0">
                <a:solidFill>
                  <a:srgbClr val="FFFFFF"/>
                </a:solidFill>
                <a:latin typeface="Arial"/>
              </a:rPr>
              <a:t>IonQ Forte 1 (29q) noise model</a:t>
            </a:r>
          </a:p>
        </p:txBody>
      </p:sp>
      <p:sp>
        <p:nvSpPr>
          <p:cNvPr id="11" name="Oval 10"/>
          <p:cNvSpPr/>
          <p:nvPr/>
        </p:nvSpPr>
        <p:spPr>
          <a:xfrm>
            <a:off x="822960" y="4474464"/>
            <a:ext cx="457200" cy="457200"/>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556760"/>
            <a:ext cx="457200" cy="274320"/>
          </a:xfrm>
          <a:prstGeom prst="rect">
            <a:avLst/>
          </a:prstGeom>
          <a:noFill/>
        </p:spPr>
        <p:txBody>
          <a:bodyPr wrap="square" lIns="0" rIns="0" tIns="0" bIns="0" anchor="t">
            <a:noAutofit/>
          </a:bodyPr>
          <a:lstStyle/>
          <a:p>
            <a:pPr algn="ctr">
              <a:lnSpc>
                <a:spcPts val="2160"/>
              </a:lnSpc>
              <a:spcBef>
                <a:spcPts val="0"/>
              </a:spcBef>
              <a:spcAft>
                <a:spcPts val="0"/>
              </a:spcAft>
            </a:pPr>
            <a:r>
              <a:rPr sz="1800" b="1">
                <a:solidFill>
                  <a:srgbClr val="FFFFFF"/>
                </a:solidFill>
                <a:latin typeface="Arial"/>
              </a:rPr>
              <a:t>3</a:t>
            </a:r>
          </a:p>
        </p:txBody>
      </p:sp>
      <p:sp>
        <p:nvSpPr>
          <p:cNvPr id="13" name="TextBox 12"/>
          <p:cNvSpPr txBox="1"/>
          <p:nvPr/>
        </p:nvSpPr>
        <p:spPr>
          <a:xfrm>
            <a:off x="1508760" y="4392168"/>
            <a:ext cx="4023360" cy="609600"/>
          </a:xfrm>
          <a:prstGeom prst="rect">
            <a:avLst/>
          </a:prstGeom>
          <a:noFill/>
        </p:spPr>
        <p:txBody>
          <a:bodyPr wrap="square" lIns="0" rIns="0" tIns="0" bIns="0" anchor="t">
            <a:noAutofit/>
          </a:bodyPr>
          <a:lstStyle/>
          <a:p>
            <a:pPr algn="l">
              <a:lnSpc>
                <a:spcPts val="2400"/>
              </a:lnSpc>
              <a:spcBef>
                <a:spcPts val="0"/>
              </a:spcBef>
              <a:spcAft>
                <a:spcPts val="0"/>
              </a:spcAft>
            </a:pPr>
            <a:r>
              <a:rPr sz="2000" b="0">
                <a:solidFill>
                  <a:srgbClr val="FFFFFF"/>
                </a:solidFill>
                <a:latin typeface="Arial"/>
              </a:rPr>
              <a:t>Each job returns counts,</a:t>
            </a:r>
          </a:p>
          <a:p>
            <a:pPr algn="l">
              <a:lnSpc>
                <a:spcPts val="2400"/>
              </a:lnSpc>
              <a:spcBef>
                <a:spcPts val="0"/>
              </a:spcBef>
              <a:spcAft>
                <a:spcPts val="0"/>
              </a:spcAft>
            </a:pPr>
            <a:r>
              <a:rPr sz="2000" b="0">
                <a:solidFill>
                  <a:srgbClr val="FFFFFF"/>
                </a:solidFill>
                <a:latin typeface="Arial"/>
              </a:rPr>
              <a:t>a table and plots</a:t>
            </a:r>
          </a:p>
        </p:txBody>
      </p:sp>
      <p:sp>
        <p:nvSpPr>
          <p:cNvPr id="14" name="TextBox 13"/>
          <p:cNvSpPr txBox="1"/>
          <p:nvPr/>
        </p:nvSpPr>
        <p:spPr>
          <a:xfrm>
            <a:off x="6172200" y="1554480"/>
            <a:ext cx="5468112" cy="335280"/>
          </a:xfrm>
          <a:prstGeom prst="rect">
            <a:avLst/>
          </a:prstGeom>
          <a:noFill/>
        </p:spPr>
        <p:txBody>
          <a:bodyPr wrap="square" lIns="0" rIns="0" tIns="0" bIns="0" anchor="t">
            <a:noAutofit/>
          </a:bodyPr>
          <a:lstStyle/>
          <a:p>
            <a:pPr algn="l">
              <a:lnSpc>
                <a:spcPts val="2640"/>
              </a:lnSpc>
              <a:spcBef>
                <a:spcPts val="0"/>
              </a:spcBef>
              <a:spcAft>
                <a:spcPts val="0"/>
              </a:spcAft>
            </a:pPr>
            <a:r>
              <a:rPr sz="2200" b="1">
                <a:solidFill>
                  <a:srgbClr val="FFFFFF"/>
                </a:solidFill>
                <a:latin typeface="Arial"/>
              </a:rPr>
              <a:t>Honest limits</a:t>
            </a:r>
          </a:p>
        </p:txBody>
      </p:sp>
      <p:sp>
        <p:nvSpPr>
          <p:cNvPr id="15" name="Oval 14"/>
          <p:cNvSpPr/>
          <p:nvPr/>
        </p:nvSpPr>
        <p:spPr>
          <a:xfrm>
            <a:off x="6172200" y="2122932"/>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2036064"/>
            <a:ext cx="5193792"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A noisy simulator: one job of 1,000 shots</a:t>
            </a:r>
          </a:p>
        </p:txBody>
      </p:sp>
      <p:sp>
        <p:nvSpPr>
          <p:cNvPr id="17" name="Oval 16"/>
          <p:cNvSpPr/>
          <p:nvPr/>
        </p:nvSpPr>
        <p:spPr>
          <a:xfrm>
            <a:off x="6172200" y="2525268"/>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438400"/>
            <a:ext cx="5193792"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Noise cuts the hits from 58 to 7 per 1,000</a:t>
            </a:r>
          </a:p>
        </p:txBody>
      </p:sp>
      <p:sp>
        <p:nvSpPr>
          <p:cNvPr id="19" name="Oval 18"/>
          <p:cNvSpPr/>
          <p:nvPr/>
        </p:nvSpPr>
        <p:spPr>
          <a:xfrm>
            <a:off x="6172200" y="2927604"/>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2840736"/>
            <a:ext cx="5193792"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Classical heuristics match or beat it</a:t>
            </a:r>
          </a:p>
        </p:txBody>
      </p:sp>
      <p:sp>
        <p:nvSpPr>
          <p:cNvPr id="21" name="TextBox 20"/>
          <p:cNvSpPr txBox="1"/>
          <p:nvPr/>
        </p:nvSpPr>
        <p:spPr>
          <a:xfrm>
            <a:off x="6172200" y="3499104"/>
            <a:ext cx="5468112" cy="335280"/>
          </a:xfrm>
          <a:prstGeom prst="rect">
            <a:avLst/>
          </a:prstGeom>
          <a:noFill/>
        </p:spPr>
        <p:txBody>
          <a:bodyPr wrap="square" lIns="0" rIns="0" tIns="0" bIns="0" anchor="t">
            <a:noAutofit/>
          </a:bodyPr>
          <a:lstStyle/>
          <a:p>
            <a:pPr algn="l">
              <a:lnSpc>
                <a:spcPts val="2640"/>
              </a:lnSpc>
              <a:spcBef>
                <a:spcPts val="0"/>
              </a:spcBef>
              <a:spcAft>
                <a:spcPts val="0"/>
              </a:spcAft>
            </a:pPr>
            <a:r>
              <a:rPr sz="2200" b="1">
                <a:solidFill>
                  <a:srgbClr val="FFFFFF"/>
                </a:solidFill>
                <a:latin typeface="Arial"/>
              </a:rPr>
              <a:t>Next steps</a:t>
            </a:r>
          </a:p>
        </p:txBody>
      </p:sp>
      <p:sp>
        <p:nvSpPr>
          <p:cNvPr id="22" name="Oval 21"/>
          <p:cNvSpPr/>
          <p:nvPr/>
        </p:nvSpPr>
        <p:spPr>
          <a:xfrm>
            <a:off x="6172200" y="4067556"/>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3980688"/>
            <a:ext cx="5193792"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Iceberg at more layers and checks</a:t>
            </a:r>
          </a:p>
        </p:txBody>
      </p:sp>
      <p:sp>
        <p:nvSpPr>
          <p:cNvPr id="24" name="Oval 23"/>
          <p:cNvSpPr/>
          <p:nvPr/>
        </p:nvSpPr>
        <p:spPr>
          <a:xfrm>
            <a:off x="6172200" y="4469892"/>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4383024"/>
            <a:ext cx="5193792"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Shorter circuits: 66 instead of 198 gates</a:t>
            </a:r>
          </a:p>
        </p:txBody>
      </p:sp>
      <p:sp>
        <p:nvSpPr>
          <p:cNvPr id="26" name="Oval 25"/>
          <p:cNvSpPr/>
          <p:nvPr/>
        </p:nvSpPr>
        <p:spPr>
          <a:xfrm>
            <a:off x="6172200" y="4872228"/>
            <a:ext cx="100584" cy="100584"/>
          </a:xfrm>
          <a:prstGeom prst="ellipse">
            <a:avLst/>
          </a:prstGeom>
          <a:solidFill>
            <a:srgbClr val="17A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4785360"/>
            <a:ext cx="5193792"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FFFFFF"/>
                </a:solidFill>
                <a:latin typeface="Arial"/>
              </a:rPr>
              <a:t>Find how many layers the noise allows</a:t>
            </a:r>
          </a:p>
        </p:txBody>
      </p:sp>
      <p:sp>
        <p:nvSpPr>
          <p:cNvPr id="28" name="TextBox 27"/>
          <p:cNvSpPr txBox="1"/>
          <p:nvPr/>
        </p:nvSpPr>
        <p:spPr>
          <a:xfrm>
            <a:off x="548640" y="384048"/>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DEMO, LIMITS, NEXT STEPS</a:t>
            </a:r>
          </a:p>
        </p:txBody>
      </p:sp>
      <p:sp>
        <p:nvSpPr>
          <p:cNvPr id="29" name="TextBox 28"/>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30" name="TextBox 29"/>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itle 1"/>
          <p:cNvSpPr>
            <a:spLocks noGrp="1"/>
          </p:cNvSpPr>
          <p:nvPr>
            <p:ph type="title"/>
          </p:nvPr>
        </p:nvSpPr>
        <p:spPr>
          <a:xfrm>
            <a:off x="548640" y="1572768"/>
            <a:ext cx="6309360" cy="1518920"/>
          </a:xfrm>
        </p:spPr>
        <p:txBody>
          <a:bodyPr lIns="0" rIns="0" tIns="0" bIns="0" wrap="square" anchor="t">
            <a:noAutofit/>
          </a:bodyPr>
          <a:lstStyle/>
          <a:p>
            <a:pPr algn="l">
              <a:lnSpc>
                <a:spcPts val="5980"/>
              </a:lnSpc>
              <a:spcBef>
                <a:spcPts val="0"/>
              </a:spcBef>
              <a:spcAft>
                <a:spcPts val="0"/>
              </a:spcAft>
            </a:pPr>
            <a:r>
              <a:rPr sz="5200" b="1">
                <a:solidFill>
                  <a:srgbClr val="FFFFFF"/>
                </a:solidFill>
                <a:latin typeface="Arial"/>
              </a:rPr>
              <a:t>Thank you for</a:t>
            </a:r>
          </a:p>
          <a:p>
            <a:pPr algn="l">
              <a:lnSpc>
                <a:spcPts val="5980"/>
              </a:lnSpc>
              <a:spcBef>
                <a:spcPts val="0"/>
              </a:spcBef>
              <a:spcAft>
                <a:spcPts val="0"/>
              </a:spcAft>
            </a:pPr>
            <a:r>
              <a:rPr sz="5200" b="1">
                <a:solidFill>
                  <a:srgbClr val="FFFFFF"/>
                </a:solidFill>
                <a:latin typeface="Arial"/>
              </a:rPr>
              <a:t>your attention</a:t>
            </a:r>
          </a:p>
        </p:txBody>
      </p:sp>
      <p:sp>
        <p:nvSpPr>
          <p:cNvPr id="3" name="TextBox 2"/>
          <p:cNvSpPr txBox="1"/>
          <p:nvPr/>
        </p:nvSpPr>
        <p:spPr>
          <a:xfrm>
            <a:off x="548640" y="3611880"/>
            <a:ext cx="6309360" cy="335280"/>
          </a:xfrm>
          <a:prstGeom prst="rect">
            <a:avLst/>
          </a:prstGeom>
          <a:noFill/>
        </p:spPr>
        <p:txBody>
          <a:bodyPr wrap="square" lIns="0" rIns="0" tIns="0" bIns="0" anchor="t">
            <a:noAutofit/>
          </a:bodyPr>
          <a:lstStyle/>
          <a:p>
            <a:pPr algn="l">
              <a:lnSpc>
                <a:spcPts val="2640"/>
              </a:lnSpc>
              <a:spcBef>
                <a:spcPts val="0"/>
              </a:spcBef>
              <a:spcAft>
                <a:spcPts val="0"/>
              </a:spcAft>
            </a:pPr>
            <a:r>
              <a:rPr sz="2200" b="1">
                <a:solidFill>
                  <a:srgbClr val="FFFFFF"/>
                </a:solidFill>
                <a:latin typeface="Arial"/>
              </a:rPr>
              <a:t>Oussama Turki  ·  Tushar Pandey</a:t>
            </a:r>
          </a:p>
        </p:txBody>
      </p:sp>
      <p:sp>
        <p:nvSpPr>
          <p:cNvPr id="4" name="TextBox 3"/>
          <p:cNvSpPr txBox="1"/>
          <p:nvPr/>
        </p:nvSpPr>
        <p:spPr>
          <a:xfrm>
            <a:off x="548640" y="4130040"/>
            <a:ext cx="6309360" cy="304800"/>
          </a:xfrm>
          <a:prstGeom prst="rect">
            <a:avLst/>
          </a:prstGeom>
          <a:noFill/>
        </p:spPr>
        <p:txBody>
          <a:bodyPr wrap="square" lIns="0" rIns="0" tIns="0" bIns="0" anchor="t">
            <a:noAutofit/>
          </a:bodyPr>
          <a:lstStyle/>
          <a:p>
            <a:pPr algn="l">
              <a:lnSpc>
                <a:spcPts val="2400"/>
              </a:lnSpc>
              <a:spcBef>
                <a:spcPts val="0"/>
              </a:spcBef>
              <a:spcAft>
                <a:spcPts val="0"/>
              </a:spcAft>
            </a:pPr>
            <a:r>
              <a:rPr sz="2000" b="0">
                <a:solidFill>
                  <a:srgbClr val="A9B4C6"/>
                </a:solidFill>
                <a:latin typeface="Arial"/>
              </a:rPr>
              <a:t>Portfolio Selection with QAOA</a:t>
            </a:r>
          </a:p>
        </p:txBody>
      </p:sp>
      <p:sp>
        <p:nvSpPr>
          <p:cNvPr id="5" name="Rounded Rectangle 4"/>
          <p:cNvSpPr/>
          <p:nvPr/>
        </p:nvSpPr>
        <p:spPr>
          <a:xfrm>
            <a:off x="548640" y="5257800"/>
            <a:ext cx="5120640" cy="566928"/>
          </a:xfrm>
          <a:prstGeom prst="roundRect">
            <a:avLst>
              <a:gd name="adj" fmla="val 50000"/>
            </a:avLst>
          </a:prstGeom>
          <a:solidFill>
            <a:srgbClr val="131B2E"/>
          </a:solidFill>
          <a:ln w="15875">
            <a:solidFill>
              <a:srgbClr val="17A2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5379720"/>
            <a:ext cx="5120640" cy="304800"/>
          </a:xfrm>
          <a:prstGeom prst="rect">
            <a:avLst/>
          </a:prstGeom>
          <a:noFill/>
        </p:spPr>
        <p:txBody>
          <a:bodyPr wrap="square" lIns="0" rIns="0" tIns="0" bIns="0" anchor="t">
            <a:noAutofit/>
          </a:bodyPr>
          <a:lstStyle/>
          <a:p>
            <a:pPr algn="ctr">
              <a:lnSpc>
                <a:spcPts val="2400"/>
              </a:lnSpc>
              <a:spcBef>
                <a:spcPts val="0"/>
              </a:spcBef>
              <a:spcAft>
                <a:spcPts val="0"/>
              </a:spcAft>
            </a:pPr>
            <a:r>
              <a:rPr sz="2000" b="0">
                <a:solidFill>
                  <a:srgbClr val="FFFFFF"/>
                </a:solidFill>
                <a:latin typeface="Arial"/>
              </a:rPr>
              <a:t>This effort is supported by Qollab &amp; IonQ</a:t>
            </a:r>
          </a:p>
        </p:txBody>
      </p:sp>
      <p:pic>
        <p:nvPicPr>
          <p:cNvPr id="7" name="Picture 6" descr="The network picture of the 12 assets from the title slide: 12 dots on a circle, every pair joined by a line."/>
          <p:cNvPicPr>
            <a:picLocks noChangeAspect="1"/>
          </p:cNvPicPr>
          <p:nvPr/>
        </p:nvPicPr>
        <p:blipFill>
          <a:blip r:embed="rId2"/>
          <a:stretch>
            <a:fillRect/>
          </a:stretch>
        </p:blipFill>
        <p:spPr>
          <a:xfrm>
            <a:off x="6903720" y="914400"/>
            <a:ext cx="4754880" cy="4754880"/>
          </a:xfrm>
          <a:prstGeom prst="rect">
            <a:avLst/>
          </a:prstGeom>
        </p:spPr>
      </p:pic>
      <p:sp>
        <p:nvSpPr>
          <p:cNvPr id="8" name="TextBox 7"/>
          <p:cNvSpPr txBox="1"/>
          <p:nvPr/>
        </p:nvSpPr>
        <p:spPr>
          <a:xfrm>
            <a:off x="548640" y="1188720"/>
            <a:ext cx="11094415" cy="274320"/>
          </a:xfrm>
          <a:prstGeom prst="rect">
            <a:avLst/>
          </a:prstGeom>
          <a:noFill/>
        </p:spPr>
        <p:txBody>
          <a:bodyPr wrap="square" lIns="0" rIns="0" tIns="0" bIns="0" anchor="t">
            <a:noAutofit/>
          </a:bodyPr>
          <a:lstStyle/>
          <a:p>
            <a:pPr algn="l">
              <a:lnSpc>
                <a:spcPts val="2160"/>
              </a:lnSpc>
              <a:spcBef>
                <a:spcPts val="0"/>
              </a:spcBef>
              <a:spcAft>
                <a:spcPts val="0"/>
              </a:spcAft>
            </a:pPr>
            <a:r>
              <a:rPr sz="1800" b="1">
                <a:solidFill>
                  <a:srgbClr val="17A2B8"/>
                </a:solidFill>
                <a:latin typeface="Arial"/>
              </a:rPr>
              <a:t>TEAM ZOLLERQU</a:t>
            </a:r>
          </a:p>
        </p:txBody>
      </p:sp>
      <p:sp>
        <p:nvSpPr>
          <p:cNvPr id="9" name="TextBox 8"/>
          <p:cNvSpPr txBox="1"/>
          <p:nvPr/>
        </p:nvSpPr>
        <p:spPr>
          <a:xfrm>
            <a:off x="548640" y="6327648"/>
            <a:ext cx="7315200" cy="274320"/>
          </a:xfrm>
          <a:prstGeom prst="rect">
            <a:avLst/>
          </a:prstGeom>
          <a:noFill/>
        </p:spPr>
        <p:txBody>
          <a:bodyPr wrap="square" lIns="0" rIns="0" tIns="0" bIns="0" anchor="t">
            <a:noAutofit/>
          </a:bodyPr>
          <a:lstStyle/>
          <a:p>
            <a:pPr algn="l">
              <a:lnSpc>
                <a:spcPts val="2160"/>
              </a:lnSpc>
              <a:spcBef>
                <a:spcPts val="0"/>
              </a:spcBef>
              <a:spcAft>
                <a:spcPts val="0"/>
              </a:spcAft>
            </a:pPr>
            <a:r>
              <a:rPr sz="1800" b="0">
                <a:solidFill>
                  <a:srgbClr val="A9B4C6"/>
                </a:solidFill>
                <a:latin typeface="Arial"/>
              </a:rPr>
              <a:t>ZollerQu - Qollab x IonQ Hackathon 2026</a:t>
            </a:r>
          </a:p>
        </p:txBody>
      </p:sp>
      <p:sp>
        <p:nvSpPr>
          <p:cNvPr id="10" name="TextBox 9"/>
          <p:cNvSpPr txBox="1"/>
          <p:nvPr/>
        </p:nvSpPr>
        <p:spPr>
          <a:xfrm>
            <a:off x="10271455" y="6327648"/>
            <a:ext cx="1371600" cy="274320"/>
          </a:xfrm>
          <a:prstGeom prst="rect">
            <a:avLst/>
          </a:prstGeom>
          <a:noFill/>
        </p:spPr>
        <p:txBody>
          <a:bodyPr wrap="square" lIns="0" rIns="0" tIns="0" bIns="0" anchor="t">
            <a:noAutofit/>
          </a:bodyPr>
          <a:lstStyle/>
          <a:p>
            <a:pPr algn="r">
              <a:lnSpc>
                <a:spcPts val="2160"/>
              </a:lnSpc>
              <a:spcBef>
                <a:spcPts val="0"/>
              </a:spcBef>
              <a:spcAft>
                <a:spcPts val="0"/>
              </a:spcAft>
            </a:pPr>
            <a:r>
              <a:rPr sz="1800" b="0">
                <a:solidFill>
                  <a:srgbClr val="A9B4C6"/>
                </a:solidFill>
                <a:latin typeface="Arial"/>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Portfolio Selection with QAOA - ZollerQu</dc:title>
  <dc:subject>Qollab x IonQ Hackathon 2026</dc:subject>
  <dc:creator>Oussama Turki, Tushar Pandey (Team ZollerQu)</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