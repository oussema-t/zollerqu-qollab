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Hi, we're team ZollerQu. Which stocks should you buy? We answer that with QAOA, on IonQ's noise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fund wants low risk and good returns, but some assets fall together. And the choices explode: four thousand portfolios for twelve assets, half a billion for twenty-nine.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asset gets one qubit: zero means buy, one means skip. Risk minus return becomes an Ising energy, and the lowest energy wins: here, Apple plus US bonds.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trained fifty-eight circuits offline. At twelve qubits, CVaR-QAOA with three layers won. At twenty-nine, we use linear-ramp QAOA with angles tuned at twelve.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Out of eight circuit types, three things mattered most: the mixer sign, the CVaR objective, and more layers.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IonQ? Trapped ions connect any two qubits directly, so one layer needs just sixty-six two-qubit gates, versus two hundred eighty-five on a heavy-hex chip.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main result: on the IonQ noise model, seven in a thousand shots hit the exact best portfolio. That's twenty-nine times more often than random. Without noise, it's fifty-eight.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 twenty-nine assets, three layers find the best in seven percent of runs; classical search gets sixty-one. Sixteen layers reach ninety percent, but only without noise. So no quantum advantage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also tried Iceberg error detection. It caught errors in three out of four shots, but the kept shots weren't clearly better, because the code doubles the gates.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[SWITCH TO QOLLAB] Here's our project; the code is in main.py. We press Run, pick the Forte 1 noise model, and get results and plots. [BACK TO SLIDES] Honestly, classical methods still keep up. Next: Iceberg on deeper circuits.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you for your attention! This effort is supported by Qollab and IonQ.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1572768"/>
            <a:ext cx="6309360" cy="1518920"/>
          </a:xfrm>
        </p:spPr>
        <p:txBody>
          <a:bodyPr lIns="0" rIns="0" tIns="0" bIns="0" wrap="square" anchor="t">
            <a:noAutofit/>
          </a:bodyPr>
          <a:lstStyle/>
          <a:p>
            <a:pPr algn="l">
              <a:lnSpc>
                <a:spcPts val="5980"/>
              </a:lnSpc>
              <a:spcBef>
                <a:spcPts val="0"/>
              </a:spcBef>
              <a:spcAft>
                <a:spcPts val="0"/>
              </a:spcAft>
            </a:pPr>
            <a:r>
              <a:rPr sz="5200" b="1">
                <a:solidFill>
                  <a:srgbClr val="FFFFFF"/>
                </a:solidFill>
                <a:latin typeface="Arial"/>
              </a:rPr>
              <a:t>Portfolio Selection</a:t>
            </a:r>
          </a:p>
          <a:p>
            <a:pPr algn="l">
              <a:lnSpc>
                <a:spcPts val="5980"/>
              </a:lnSpc>
              <a:spcBef>
                <a:spcPts val="0"/>
              </a:spcBef>
              <a:spcAft>
                <a:spcPts val="0"/>
              </a:spcAft>
            </a:pPr>
            <a:r>
              <a:rPr sz="5200" b="1">
                <a:solidFill>
                  <a:srgbClr val="FFFFFF"/>
                </a:solidFill>
                <a:latin typeface="Arial"/>
              </a:rPr>
              <a:t>with QAOA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611880"/>
            <a:ext cx="6309360" cy="670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A9B4C6"/>
                </a:solidFill>
                <a:latin typeface="Arial"/>
              </a:rPr>
              <a:t>Which stocks to buy? One qubit per asset,</a:t>
            </a:r>
          </a:p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A9B4C6"/>
                </a:solidFill>
                <a:latin typeface="Arial"/>
              </a:rPr>
              <a:t>sampled on the IonQ Forte 1 noise model.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648200"/>
            <a:ext cx="6309360" cy="335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Oussama Turki  ·  Tushar Pandey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257800"/>
            <a:ext cx="5120640" cy="566928"/>
          </a:xfrm>
          <a:prstGeom prst="roundRect">
            <a:avLst>
              <a:gd name="adj" fmla="val 50000"/>
            </a:avLst>
          </a:prstGeom>
          <a:solidFill>
            <a:srgbClr val="131B2E"/>
          </a:solidFill>
          <a:ln w="15875">
            <a:solidFill>
              <a:srgbClr val="17A2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5379720"/>
            <a:ext cx="512064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This effort is supported by Qollab &amp; IonQ</a:t>
            </a:r>
          </a:p>
        </p:txBody>
      </p:sp>
      <p:pic>
        <p:nvPicPr>
          <p:cNvPr id="7" name="Picture 6" descr="Network picture of the 12 assets: 12 dots on a circle, every pair joined by a line; thicker lines mean the two assets move more strongly together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914400"/>
            <a:ext cx="4754880" cy="4754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A2B8"/>
                </a:solidFill>
                <a:latin typeface="Arial"/>
              </a:rPr>
              <a:t>TEAM ZOLLERQU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ZollerQu - Qollab x IonQ Hackathon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71455" y="63276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31520"/>
            <a:ext cx="11094415" cy="467360"/>
          </a:xfrm>
        </p:spPr>
        <p:txBody>
          <a:bodyPr lIns="0" rIns="0" tIns="0" bIns="0" wrap="square" anchor="t">
            <a:noAutofit/>
          </a:bodyPr>
          <a:lstStyle/>
          <a:p>
            <a:pPr algn="l">
              <a:lnSpc>
                <a:spcPts val="3679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Which assets should a fund buy?</a:t>
            </a:r>
          </a:p>
        </p:txBody>
      </p:sp>
      <p:sp>
        <p:nvSpPr>
          <p:cNvPr id="3" name="Oval 2"/>
          <p:cNvSpPr/>
          <p:nvPr/>
        </p:nvSpPr>
        <p:spPr>
          <a:xfrm>
            <a:off x="548640" y="1808988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691640"/>
            <a:ext cx="4480560" cy="670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Banks and funds build</a:t>
            </a:r>
          </a:p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portfolios every day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2753868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636520"/>
            <a:ext cx="4480560" cy="670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They want low risk</a:t>
            </a:r>
          </a:p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and a good return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3698748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581400"/>
            <a:ext cx="4480560" cy="670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Risk comes from assets</a:t>
            </a:r>
          </a:p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that fall together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590288"/>
            <a:ext cx="4754880" cy="670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Every extra asset</a:t>
            </a:r>
          </a:p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doubles the choices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42432" y="1645920"/>
            <a:ext cx="1371600" cy="768096"/>
          </a:xfrm>
          <a:prstGeom prst="roundRect">
            <a:avLst>
              <a:gd name="adj" fmla="val 14285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42432" y="1737360"/>
            <a:ext cx="1371600" cy="579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AAPL</a:t>
            </a:r>
          </a:p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Apple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51192" y="1645920"/>
            <a:ext cx="1371600" cy="768096"/>
          </a:xfrm>
          <a:prstGeom prst="roundRect">
            <a:avLst>
              <a:gd name="adj" fmla="val 14285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51192" y="1737360"/>
            <a:ext cx="1371600" cy="579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GLD</a:t>
            </a:r>
          </a:p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gold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759952" y="1645920"/>
            <a:ext cx="1371600" cy="768096"/>
          </a:xfrm>
          <a:prstGeom prst="roundRect">
            <a:avLst>
              <a:gd name="adj" fmla="val 14285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59952" y="1737360"/>
            <a:ext cx="1371600" cy="579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XOM</a:t>
            </a:r>
          </a:p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oil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268712" y="1645920"/>
            <a:ext cx="1371600" cy="768096"/>
          </a:xfrm>
          <a:prstGeom prst="roundRect">
            <a:avLst>
              <a:gd name="adj" fmla="val 14285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68712" y="1737360"/>
            <a:ext cx="1371600" cy="579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JPM</a:t>
            </a:r>
          </a:p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bank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42432" y="2551176"/>
            <a:ext cx="1371600" cy="768096"/>
          </a:xfrm>
          <a:prstGeom prst="roundRect">
            <a:avLst>
              <a:gd name="adj" fmla="val 14285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42432" y="2642616"/>
            <a:ext cx="1371600" cy="579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TLT</a:t>
            </a:r>
          </a:p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US bonds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51192" y="2551176"/>
            <a:ext cx="1371600" cy="768096"/>
          </a:xfrm>
          <a:prstGeom prst="roundRect">
            <a:avLst>
              <a:gd name="adj" fmla="val 14285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51192" y="2642616"/>
            <a:ext cx="1371600" cy="579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JNJ</a:t>
            </a:r>
          </a:p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health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59952" y="2551176"/>
            <a:ext cx="1371600" cy="768096"/>
          </a:xfrm>
          <a:prstGeom prst="roundRect">
            <a:avLst>
              <a:gd name="adj" fmla="val 14285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59952" y="2642616"/>
            <a:ext cx="1371600" cy="579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PG</a:t>
            </a:r>
          </a:p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consumer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268712" y="2551176"/>
            <a:ext cx="1371600" cy="768096"/>
          </a:xfrm>
          <a:prstGeom prst="roundRect">
            <a:avLst>
              <a:gd name="adj" fmla="val 14285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8712" y="2642616"/>
            <a:ext cx="1371600" cy="579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XLU</a:t>
            </a:r>
          </a:p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utilities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742432" y="3456432"/>
            <a:ext cx="1371600" cy="768096"/>
          </a:xfrm>
          <a:prstGeom prst="roundRect">
            <a:avLst>
              <a:gd name="adj" fmla="val 14285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42432" y="3547872"/>
            <a:ext cx="1371600" cy="579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VNQ</a:t>
            </a:r>
          </a:p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real estate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51192" y="3456432"/>
            <a:ext cx="1371600" cy="768096"/>
          </a:xfrm>
          <a:prstGeom prst="roundRect">
            <a:avLst>
              <a:gd name="adj" fmla="val 14285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51192" y="3547872"/>
            <a:ext cx="1371600" cy="579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FCX</a:t>
            </a:r>
          </a:p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copper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759952" y="3456432"/>
            <a:ext cx="1371600" cy="768096"/>
          </a:xfrm>
          <a:prstGeom prst="roundRect">
            <a:avLst>
              <a:gd name="adj" fmla="val 14285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59952" y="3547872"/>
            <a:ext cx="1371600" cy="579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MSFT</a:t>
            </a:r>
          </a:p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Microsoft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268712" y="3456432"/>
            <a:ext cx="1371600" cy="768096"/>
          </a:xfrm>
          <a:prstGeom prst="roundRect">
            <a:avLst>
              <a:gd name="adj" fmla="val 14285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268712" y="3547872"/>
            <a:ext cx="1371600" cy="579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SLV</a:t>
            </a:r>
          </a:p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silver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42432" y="4480560"/>
            <a:ext cx="2286000" cy="6258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928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17A2B8"/>
                </a:solidFill>
                <a:latin typeface="Arial"/>
              </a:rPr>
              <a:t>4,096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42432" y="512470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portfolios, 12 assets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57032" y="4480560"/>
            <a:ext cx="3383280" cy="6258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928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17A2B8"/>
                </a:solidFill>
                <a:latin typeface="Arial"/>
              </a:rPr>
              <a:t>536,870,912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57032" y="5124704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portfolios, 29 assets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A2B8"/>
                </a:solidFill>
                <a:latin typeface="Arial"/>
              </a:rPr>
              <a:t>PROBLEM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5788152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Data: weekly prices of 12 US stocks and funds, 2006-2014 (Kaggle Huge Stock Market Dataset, CC0)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63276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ZollerQu - Qollab x IonQ Hackathon 2026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71455" y="63276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31520"/>
            <a:ext cx="11094415" cy="467360"/>
          </a:xfrm>
        </p:spPr>
        <p:txBody>
          <a:bodyPr lIns="0" rIns="0" tIns="0" bIns="0" wrap="square" anchor="t">
            <a:noAutofit/>
          </a:bodyPr>
          <a:lstStyle/>
          <a:p>
            <a:pPr algn="l">
              <a:lnSpc>
                <a:spcPts val="3679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One qubit per asset, one Ising energy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0020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Score to minimise: risk minus return</a:t>
            </a:r>
          </a:p>
        </p:txBody>
      </p:sp>
      <p:pic>
        <p:nvPicPr>
          <p:cNvPr id="4" name="Picture 3" descr="Formula: J of x equals x transposed C x over n squared V ref (the risk), minus eta times mu transposed x over n sigma ref (the return)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74520"/>
            <a:ext cx="5669280" cy="1325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273552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The same score as an Ising energy</a:t>
            </a:r>
          </a:p>
        </p:txBody>
      </p:sp>
      <p:pic>
        <p:nvPicPr>
          <p:cNvPr id="6" name="Picture 5" descr="Formula: E of s equals the sum over pairs of J i j times s i s j, plus the sum of h i times s i, plus a constant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566160"/>
            <a:ext cx="5669280" cy="914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617720"/>
            <a:ext cx="5852160" cy="655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 qubit = 1 asset:  </a:t>
            </a:r>
            <a:r>
              <a:rPr sz="2000" b="0">
                <a:solidFill>
                  <a:srgbClr val="FFFFFF"/>
                </a:solidFill>
                <a:latin typeface="Arial"/>
              </a:rPr>
              <a:t>|0&gt; buy,  |1&gt; skip</a:t>
            </a:r>
          </a:p>
          <a:p>
            <a:pPr algn="l">
              <a:lnSpc>
                <a:spcPts val="2400"/>
              </a:lnSpc>
              <a:spcBef>
                <a:spcPts val="360"/>
              </a:spcBef>
              <a:spcAft>
                <a:spcPts val="0"/>
              </a:spcAft>
            </a:pPr>
            <a:r>
              <a:rPr sz="2000" b="0">
                <a:solidFill>
                  <a:srgbClr val="A9B4C6"/>
                </a:solidFill>
                <a:latin typeface="Arial"/>
              </a:rPr>
              <a:t>12 qubits  ·  66 couplings  ·  4,096 states</a:t>
            </a:r>
          </a:p>
        </p:txBody>
      </p:sp>
      <p:pic>
        <p:nvPicPr>
          <p:cNvPr id="8" name="Picture 7" descr="Network of the 12 assets with every pair linked. Two filled dots mark the exact best portfolio: buy AAPL and TLT; the other ten are skipped.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1463040"/>
            <a:ext cx="5029200" cy="3840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A2B8"/>
                </a:solidFill>
                <a:latin typeface="Arial"/>
              </a:rPr>
              <a:t>FORMULATION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788152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Exact best portfolio found by checking all 4,096 portfolios (classical); risk and return from 2006-2014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3276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ZollerQu - Qollab x IonQ Hackathon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71455" y="63276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31520"/>
            <a:ext cx="11094415" cy="467360"/>
          </a:xfrm>
        </p:spPr>
        <p:txBody>
          <a:bodyPr lIns="0" rIns="0" tIns="0" bIns="0" wrap="square" anchor="t">
            <a:noAutofit/>
          </a:bodyPr>
          <a:lstStyle/>
          <a:p>
            <a:pPr algn="l">
              <a:lnSpc>
                <a:spcPts val="3679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QAOA circuits, trained offline, one IonQ job</a:t>
            </a:r>
          </a:p>
        </p:txBody>
      </p:sp>
      <p:pic>
        <p:nvPicPr>
          <p:cNvPr id="3" name="Picture 2" descr="Circuit sketch: four of the twelve qubit lines. Each starts with an H gate, passes a cost layer block (one ZZ gate per pair, 66, and one Z rotation per qubit) and a mixer block (RX on every qubit), repeated three times, then is measured; 1,000 shots give 1,000 portfolio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81328"/>
            <a:ext cx="11094415" cy="237744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8640" y="4023360"/>
            <a:ext cx="3545738" cy="1572768"/>
          </a:xfrm>
          <a:prstGeom prst="roundRect">
            <a:avLst>
              <a:gd name="adj" fmla="val 6976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4169664"/>
            <a:ext cx="317997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A2B8"/>
                </a:solidFill>
                <a:latin typeface="Arial"/>
              </a:rPr>
              <a:t>COMPARED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471416"/>
            <a:ext cx="3179978" cy="335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8 circuit types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843272"/>
            <a:ext cx="3179978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58 circuits, trained offline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on a classical simulator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2978" y="4023360"/>
            <a:ext cx="3545738" cy="1572768"/>
          </a:xfrm>
          <a:prstGeom prst="roundRect">
            <a:avLst>
              <a:gd name="adj" fmla="val 6976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05858" y="4169664"/>
            <a:ext cx="317997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A2B8"/>
                </a:solidFill>
                <a:latin typeface="Arial"/>
              </a:rPr>
              <a:t>BEST AT 12 QUBITS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05858" y="4471416"/>
            <a:ext cx="3179978" cy="335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D9791A"/>
                </a:solidFill>
                <a:latin typeface="Arial"/>
              </a:rPr>
              <a:t>CVaR-QAOA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05858" y="4843272"/>
            <a:ext cx="3179978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3 layers, 198 two-qubit gates,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sent to IonQ as one job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7317" y="4023360"/>
            <a:ext cx="3545738" cy="1572768"/>
          </a:xfrm>
          <a:prstGeom prst="roundRect">
            <a:avLst>
              <a:gd name="adj" fmla="val 6976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7" y="4169664"/>
            <a:ext cx="317997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A2B8"/>
                </a:solidFill>
                <a:latin typeface="Arial"/>
              </a:rPr>
              <a:t>AT 16, 20, 29 QUBITS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0197" y="4471416"/>
            <a:ext cx="3179978" cy="335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Linear-ramp QAOA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0197" y="4843272"/>
            <a:ext cx="3179978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Angles reused from 12 qubits,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no new training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A2B8"/>
                </a:solidFill>
                <a:latin typeface="Arial"/>
              </a:rPr>
              <a:t>QUANTUM METHOD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788152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12 qubits: 58 circuits + a random-guess control, noiseless simulation · 16-29 qubits: server simulation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276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ZollerQu - Qollab x IonQ Hackathon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71455" y="63276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31520"/>
            <a:ext cx="11094415" cy="467360"/>
          </a:xfrm>
        </p:spPr>
        <p:txBody>
          <a:bodyPr lIns="0" rIns="0" tIns="0" bIns="0" wrap="square" anchor="t">
            <a:noAutofit/>
          </a:bodyPr>
          <a:lstStyle/>
          <a:p>
            <a:pPr algn="l">
              <a:lnSpc>
                <a:spcPts val="3679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8 circuit types, 5 settings that mattered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554480"/>
            <a:ext cx="4663440" cy="3749040"/>
          </a:xfrm>
          <a:prstGeom prst="roundRect">
            <a:avLst>
              <a:gd name="adj" fmla="val 2926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00784"/>
            <a:ext cx="4297680" cy="335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58 circuits tested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45792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A2B8"/>
                </a:solidFill>
                <a:latin typeface="Arial"/>
              </a:rPr>
              <a:t>6 kinds of QAOA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2561844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474976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Linear-ramp QAOA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2854452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767584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Free-angle QAOA, 5 optimisers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3147060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06019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CVaR-QAOA (α = 0.1, 0.25)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3439668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352800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Multi-angle QAOA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3732276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645408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Counterdiabatic QAOA</a:t>
            </a:r>
          </a:p>
        </p:txBody>
      </p:sp>
      <p:sp>
        <p:nvSpPr>
          <p:cNvPr id="16" name="Oval 15"/>
          <p:cNvSpPr/>
          <p:nvPr/>
        </p:nvSpPr>
        <p:spPr>
          <a:xfrm>
            <a:off x="777240" y="4024884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3938016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XY-mixer QAOA (keeps balance)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340352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A2B8"/>
                </a:solidFill>
                <a:latin typeface="Arial"/>
              </a:rPr>
              <a:t>2 imaginary-time methods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4756404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4669536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VarQITE on the QAOA angles</a:t>
            </a:r>
          </a:p>
        </p:txBody>
      </p:sp>
      <p:sp>
        <p:nvSpPr>
          <p:cNvPr id="21" name="Oval 20"/>
          <p:cNvSpPr/>
          <p:nvPr/>
        </p:nvSpPr>
        <p:spPr>
          <a:xfrm>
            <a:off x="777240" y="5049012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4962144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varQITE ansatz (IonQ + ORNL)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32120" y="1554480"/>
            <a:ext cx="6108192" cy="335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Settings we changed (noiseless)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32120" y="1962912"/>
            <a:ext cx="6108192" cy="621792"/>
          </a:xfrm>
          <a:prstGeom prst="roundRect">
            <a:avLst>
              <a:gd name="adj" fmla="val 11764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15000" y="1999488"/>
            <a:ext cx="5806440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Mixer sign (12 assets)</a:t>
            </a:r>
          </a:p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as written → opposite sign: 0.004 % → 1.8 % per shot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532120" y="2639568"/>
            <a:ext cx="6108192" cy="621792"/>
          </a:xfrm>
          <a:prstGeom prst="roundRect">
            <a:avLst>
              <a:gd name="adj" fmla="val 11764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15000" y="2676144"/>
            <a:ext cx="5806440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Objective (12 assets)</a:t>
            </a:r>
          </a:p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mean energy → CVaR 0.1: 1.8 % → 5.8 % per shot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532120" y="3316224"/>
            <a:ext cx="6108192" cy="621792"/>
          </a:xfrm>
          <a:prstGeom prst="roundRect">
            <a:avLst>
              <a:gd name="adj" fmla="val 11764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15000" y="3352800"/>
            <a:ext cx="5806440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Layers (29 assets)</a:t>
            </a:r>
          </a:p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3 → 16: 6.6 % → 90 % of runs (noiseless)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532120" y="3992880"/>
            <a:ext cx="6108192" cy="621792"/>
          </a:xfrm>
          <a:prstGeom prst="roundRect">
            <a:avLst>
              <a:gd name="adj" fmla="val 11764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15000" y="4029456"/>
            <a:ext cx="5806440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Ramp range (29 assets)</a:t>
            </a:r>
          </a:p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up to 1.5 → 3.0: 45 % → 90 % of runs at 16 layers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532120" y="4669536"/>
            <a:ext cx="6108192" cy="621792"/>
          </a:xfrm>
          <a:prstGeom prst="roundRect">
            <a:avLst>
              <a:gd name="adj" fmla="val 11764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15000" y="4706112"/>
            <a:ext cx="5806440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Angle choice (29 assets, 3 layers)</a:t>
            </a:r>
          </a:p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by energy → by CVaR: 9.9 % → 17.9 % of runs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A2B8"/>
                </a:solidFill>
                <a:latin typeface="Arial"/>
              </a:rPr>
              <a:t>WHAT WE TRIED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513832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12 assets: noiseless simulation, 10 Oct 2026 · 29 assets: noiseless server simulation, 11 Oct 2026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per shot = chance that one shot is the best portfolio · runs = 1,000-shot runs that contain 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63276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ZollerQu - Qollab x IonQ Hackathon 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71455" y="63276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31520"/>
            <a:ext cx="11094415" cy="467360"/>
          </a:xfrm>
        </p:spPr>
        <p:txBody>
          <a:bodyPr lIns="0" rIns="0" tIns="0" bIns="0" wrap="square" anchor="t">
            <a:noAutofit/>
          </a:bodyPr>
          <a:lstStyle/>
          <a:p>
            <a:pPr algn="l">
              <a:lnSpc>
                <a:spcPts val="3679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All-to-all links: 4.3× fewer two-qubit gates</a:t>
            </a:r>
          </a:p>
        </p:txBody>
      </p:sp>
      <p:pic>
        <p:nvPicPr>
          <p:cNvPr id="3" name="Picture 2" descr="Column chart of two-qubit gates in one QAOA layer. At 12 qubits: 66 on all-to-all against 285 on a heavy-hex grid. At 29 qubits: 244 against 1,576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08760"/>
            <a:ext cx="6400800" cy="3794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543800" y="1554480"/>
            <a:ext cx="4069080" cy="8534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72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17A2B8"/>
                </a:solidFill>
                <a:latin typeface="Arial"/>
              </a:rPr>
              <a:t>4.3×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43800" y="2426208"/>
            <a:ext cx="406908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fewer two-qubit gates</a:t>
            </a:r>
          </a:p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at 12 qubits (66 vs 285)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43800" y="3236976"/>
            <a:ext cx="4069080" cy="8534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72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17A2B8"/>
                </a:solidFill>
                <a:latin typeface="Arial"/>
              </a:rPr>
              <a:t>6.5×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43800" y="4108704"/>
            <a:ext cx="406908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fewer at 29 qubits (244 vs 1,576)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43800" y="4614672"/>
            <a:ext cx="40690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66 pairs = 66 gates, no SWAPs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A2B8"/>
                </a:solidFill>
                <a:latin typeface="Arial"/>
              </a:rPr>
              <a:t>WHY IONQ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513832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Gate counts from transpiling only (Qiskit 2.5.2, level 1); heavy-hex = median of 5 routing seeds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on a generic heavy-hex map. No circuit was run on a heavy-hex device.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3276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ZollerQu - Qollab x IonQ Hackathon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71455" y="63276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31520"/>
            <a:ext cx="11094415" cy="467360"/>
          </a:xfrm>
        </p:spPr>
        <p:txBody>
          <a:bodyPr lIns="0" rIns="0" tIns="0" bIns="0" wrap="square" anchor="t">
            <a:noAutofit/>
          </a:bodyPr>
          <a:lstStyle/>
          <a:p>
            <a:pPr algn="l">
              <a:lnSpc>
                <a:spcPts val="3679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IonQ noise model: 29× random guessing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554480"/>
            <a:ext cx="4069080" cy="3794760"/>
          </a:xfrm>
          <a:prstGeom prst="roundRect">
            <a:avLst>
              <a:gd name="adj" fmla="val 2891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755648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IonQ Forte 1 noise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84832"/>
            <a:ext cx="3566160" cy="7680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048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D9791A"/>
                </a:solidFill>
                <a:latin typeface="Arial"/>
              </a:rPr>
              <a:t>7 / 1,000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71216"/>
            <a:ext cx="356616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shots are the exact best</a:t>
            </a:r>
          </a:p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of 4,096 portfolios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681984"/>
            <a:ext cx="3566160" cy="890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29×  </a:t>
            </a:r>
            <a:r>
              <a:rPr sz="1800" b="0">
                <a:solidFill>
                  <a:srgbClr val="A9B4C6"/>
                </a:solidFill>
                <a:latin typeface="Arial"/>
              </a:rPr>
              <a:t>random guessing</a:t>
            </a:r>
          </a:p>
          <a:p>
            <a:pPr algn="l">
              <a:lnSpc>
                <a:spcPts val="3360"/>
              </a:lnSpc>
              <a:spcBef>
                <a:spcPts val="288"/>
              </a:spcBef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58 / 1,000  </a:t>
            </a:r>
            <a:r>
              <a:rPr sz="1800" b="0">
                <a:solidFill>
                  <a:srgbClr val="A9B4C6"/>
                </a:solidFill>
                <a:latin typeface="Arial"/>
              </a:rPr>
              <a:t>noiseless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66344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95 % interval: 3-14 per 1,000</a:t>
            </a:r>
          </a:p>
        </p:txBody>
      </p:sp>
      <p:pic>
        <p:nvPicPr>
          <p:cNvPr id="9" name="Picture 8" descr="Dot chart on a log scale: evaluations until the best portfolio is first found, median, fewer is better. Noiseless simulation of the same circuit 12; greedy descent 73; IonQ Forte 1 noise model 99 with a 95 % interval from 48 to 246; simulated annealing 1,516; random guessing 2,839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5192" y="1554480"/>
            <a:ext cx="6675120" cy="3794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A2B8"/>
                </a:solidFill>
                <a:latin typeface="Arial"/>
              </a:rPr>
              <a:t>MAIN RESULT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513832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IonQ Forte 1 noise model (Qollab): 1 job, 1,000 shots, 11 Oct 2026 · noiseless simulation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Classical: median of 50 runs. Sampler medians come from the hit rate per shot. Training not counted.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3276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ZollerQu - Qollab x IonQ Hackathon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71455" y="63276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31520"/>
            <a:ext cx="11094415" cy="467360"/>
          </a:xfrm>
        </p:spPr>
        <p:txBody>
          <a:bodyPr lIns="0" rIns="0" tIns="0" bIns="0" wrap="square" anchor="t">
            <a:noAutofit/>
          </a:bodyPr>
          <a:lstStyle/>
          <a:p>
            <a:pPr algn="l">
              <a:lnSpc>
                <a:spcPts val="3679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29 qubits: more layers help, only without noise</a:t>
            </a:r>
          </a:p>
        </p:txBody>
      </p:sp>
      <p:pic>
        <p:nvPicPr>
          <p:cNvPr id="3" name="Picture 2" descr="Line chart for 29 assets: share of 1,000-shot runs that contain the exact best portfolio, against the number of layers, in noiseless simulation. With the ramp tuned on a wider grid: 6.6 % at 3 layers, 62 % at 12, 90 % at 16, 99.6 % at 24 and 100 % at 32. With the ramp as in the paper: 45 % at 16 layers. Classical methods with 1,000 evaluations: 61 %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08760"/>
            <a:ext cx="6675120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589520" y="1572768"/>
            <a:ext cx="4050792" cy="335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Read with care</a:t>
            </a:r>
          </a:p>
        </p:txBody>
      </p:sp>
      <p:sp>
        <p:nvSpPr>
          <p:cNvPr id="5" name="Oval 4"/>
          <p:cNvSpPr/>
          <p:nvPr/>
        </p:nvSpPr>
        <p:spPr>
          <a:xfrm>
            <a:off x="7589520" y="2159508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0" y="2072640"/>
            <a:ext cx="377647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Noiseless simulation only</a:t>
            </a:r>
          </a:p>
        </p:txBody>
      </p:sp>
      <p:sp>
        <p:nvSpPr>
          <p:cNvPr id="7" name="Oval 6"/>
          <p:cNvSpPr/>
          <p:nvPr/>
        </p:nvSpPr>
        <p:spPr>
          <a:xfrm>
            <a:off x="7589520" y="2589276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0" y="2502408"/>
            <a:ext cx="3776472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16 layers = 6,496 two-qubit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gates; our 198-gate IonQ run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lost a factor 8 to noise</a:t>
            </a:r>
          </a:p>
        </p:txBody>
      </p:sp>
      <p:sp>
        <p:nvSpPr>
          <p:cNvPr id="9" name="Oval 8"/>
          <p:cNvSpPr/>
          <p:nvPr/>
        </p:nvSpPr>
        <p:spPr>
          <a:xfrm>
            <a:off x="7589520" y="3567684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0" y="3480816"/>
            <a:ext cx="3776472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Classical: 100 % with 10,000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evaluations</a:t>
            </a:r>
          </a:p>
        </p:txBody>
      </p:sp>
      <p:sp>
        <p:nvSpPr>
          <p:cNvPr id="11" name="Oval 10"/>
          <p:cNvSpPr/>
          <p:nvPr/>
        </p:nvSpPr>
        <p:spPr>
          <a:xfrm>
            <a:off x="7589520" y="4271772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0" y="4184904"/>
            <a:ext cx="3776472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A shot is not the same work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as a classical evaluation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A2B8"/>
                </a:solidFill>
                <a:latin typeface="Arial"/>
              </a:rPr>
              <a:t>SCALING AND HONEST COMPARISON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513832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Server simulation of all 536,870,912 states, 11 Oct 2026; ramp tuned at 12 assets, no tuning at 29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Classical: greedy descent and annealing, 200 runs, the same 1,000 evaluations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3276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ZollerQu - Qollab x IonQ Hackathon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71455" y="63276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31520"/>
            <a:ext cx="11094415" cy="467360"/>
          </a:xfrm>
        </p:spPr>
        <p:txBody>
          <a:bodyPr lIns="0" rIns="0" tIns="0" bIns="0" wrap="square" anchor="t">
            <a:noAutofit/>
          </a:bodyPr>
          <a:lstStyle/>
          <a:p>
            <a:pPr algn="l">
              <a:lnSpc>
                <a:spcPts val="3679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Iceberg catches errors, but doubles the gates</a:t>
            </a:r>
          </a:p>
        </p:txBody>
      </p:sp>
      <p:pic>
        <p:nvPicPr>
          <p:cNvPr id="3" name="Picture 2" descr="Bar chart: share of single faults that are caught or harmless, from injecting every single fault (5,904) in exact simulation. Start state and flag 100 %, syndrome checks 100 %, readout bit flips 100 %, QAOA gates 80 %; the rest are XX, YY and ZZ errors on a gate's own pair, which a distance-2 code cannot se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08760"/>
            <a:ext cx="6675120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589520" y="1554480"/>
            <a:ext cx="4050792" cy="6258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928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17A2B8"/>
                </a:solidFill>
                <a:latin typeface="Arial"/>
              </a:rPr>
              <a:t>17 qubits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2198624"/>
            <a:ext cx="4050792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12 logical on 14, + 1 flag</a:t>
            </a:r>
          </a:p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+ 2 helpers per 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0" y="2991104"/>
            <a:ext cx="4050792" cy="6258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928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17A2B8"/>
                </a:solidFill>
                <a:latin typeface="Arial"/>
              </a:rPr>
              <a:t>25 % kept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3635248"/>
            <a:ext cx="4050792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IonQ Forte 1 noise model,</a:t>
            </a:r>
          </a:p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1 layer: 3 in 4 shots flagged</a:t>
            </a:r>
          </a:p>
        </p:txBody>
      </p:sp>
      <p:sp>
        <p:nvSpPr>
          <p:cNvPr id="8" name="Oval 7"/>
          <p:cNvSpPr/>
          <p:nvPr/>
        </p:nvSpPr>
        <p:spPr>
          <a:xfrm>
            <a:off x="7589520" y="4532884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0" y="4446016"/>
            <a:ext cx="3776472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Best portfolio: 2 of 246 kept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shots; plain 5-11 per 1,000</a:t>
            </a:r>
          </a:p>
        </p:txBody>
      </p:sp>
      <p:sp>
        <p:nvSpPr>
          <p:cNvPr id="10" name="Oval 9"/>
          <p:cNvSpPr/>
          <p:nvPr/>
        </p:nvSpPr>
        <p:spPr>
          <a:xfrm>
            <a:off x="7589520" y="5191252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0" y="5104384"/>
            <a:ext cx="377647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133 vs 66 two-qubit gates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A2B8"/>
                </a:solidFill>
                <a:latin typeface="Arial"/>
              </a:rPr>
              <a:t>ERROR DETECTION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513832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Faults: exact simulation of every single fault (1, 2 layers) · Run: IonQ Forte 1 noise model, 1,000 shots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Detection, not correction: shots that fail a check are discarded (Qollab, 11 Oct 2026)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3276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ZollerQu - Qollab x IonQ Hackathon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71455" y="63276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31520"/>
            <a:ext cx="11094415" cy="467360"/>
          </a:xfrm>
        </p:spPr>
        <p:txBody>
          <a:bodyPr lIns="0" rIns="0" tIns="0" bIns="0" wrap="square" anchor="t">
            <a:noAutofit/>
          </a:bodyPr>
          <a:lstStyle/>
          <a:p>
            <a:pPr algn="l">
              <a:lnSpc>
                <a:spcPts val="3679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Try it on Qollab: one click, one IonQ job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554480"/>
            <a:ext cx="5120640" cy="3794760"/>
          </a:xfrm>
          <a:prstGeom prst="roundRect">
            <a:avLst>
              <a:gd name="adj" fmla="val 2891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79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Live demo on Qollab</a:t>
            </a:r>
          </a:p>
        </p:txBody>
      </p:sp>
      <p:sp>
        <p:nvSpPr>
          <p:cNvPr id="5" name="Oval 4"/>
          <p:cNvSpPr/>
          <p:nvPr/>
        </p:nvSpPr>
        <p:spPr>
          <a:xfrm>
            <a:off x="822960" y="2523744"/>
            <a:ext cx="457200" cy="457200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6060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2441448"/>
            <a:ext cx="402336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Open the project:</a:t>
            </a:r>
          </a:p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the code is in main.py</a:t>
            </a:r>
          </a:p>
        </p:txBody>
      </p:sp>
      <p:sp>
        <p:nvSpPr>
          <p:cNvPr id="8" name="Oval 7"/>
          <p:cNvSpPr/>
          <p:nvPr/>
        </p:nvSpPr>
        <p:spPr>
          <a:xfrm>
            <a:off x="822960" y="3499104"/>
            <a:ext cx="457200" cy="457200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5814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3416808"/>
            <a:ext cx="402336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Run → Select QPU →</a:t>
            </a:r>
          </a:p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IonQ Forte 1 (29q) noise model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" y="4474464"/>
            <a:ext cx="457200" cy="457200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55676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4392168"/>
            <a:ext cx="402336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Each job returns counts,</a:t>
            </a:r>
          </a:p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a table and plots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1554480"/>
            <a:ext cx="5468112" cy="335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Honest limits</a:t>
            </a:r>
          </a:p>
        </p:txBody>
      </p:sp>
      <p:sp>
        <p:nvSpPr>
          <p:cNvPr id="15" name="Oval 14"/>
          <p:cNvSpPr/>
          <p:nvPr/>
        </p:nvSpPr>
        <p:spPr>
          <a:xfrm>
            <a:off x="6172200" y="2122932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2036064"/>
            <a:ext cx="51937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A noisy simulator: one job of 1,000 shots</a:t>
            </a:r>
          </a:p>
        </p:txBody>
      </p:sp>
      <p:sp>
        <p:nvSpPr>
          <p:cNvPr id="17" name="Oval 16"/>
          <p:cNvSpPr/>
          <p:nvPr/>
        </p:nvSpPr>
        <p:spPr>
          <a:xfrm>
            <a:off x="6172200" y="2525268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2438400"/>
            <a:ext cx="51937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Noise cuts the hits from 58 to 7 per 1,000</a:t>
            </a:r>
          </a:p>
        </p:txBody>
      </p:sp>
      <p:sp>
        <p:nvSpPr>
          <p:cNvPr id="19" name="Oval 18"/>
          <p:cNvSpPr/>
          <p:nvPr/>
        </p:nvSpPr>
        <p:spPr>
          <a:xfrm>
            <a:off x="6172200" y="2927604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2840736"/>
            <a:ext cx="51937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Classical heuristics match or beat 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3499104"/>
            <a:ext cx="5468112" cy="335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Next steps</a:t>
            </a:r>
          </a:p>
        </p:txBody>
      </p:sp>
      <p:sp>
        <p:nvSpPr>
          <p:cNvPr id="22" name="Oval 21"/>
          <p:cNvSpPr/>
          <p:nvPr/>
        </p:nvSpPr>
        <p:spPr>
          <a:xfrm>
            <a:off x="6172200" y="4067556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3980688"/>
            <a:ext cx="51937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Iceberg at more layers and checks</a:t>
            </a:r>
          </a:p>
        </p:txBody>
      </p:sp>
      <p:sp>
        <p:nvSpPr>
          <p:cNvPr id="24" name="Oval 23"/>
          <p:cNvSpPr/>
          <p:nvPr/>
        </p:nvSpPr>
        <p:spPr>
          <a:xfrm>
            <a:off x="6172200" y="4469892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383024"/>
            <a:ext cx="51937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Shorter circuits: 66 instead of 198 gates</a:t>
            </a:r>
          </a:p>
        </p:txBody>
      </p:sp>
      <p:sp>
        <p:nvSpPr>
          <p:cNvPr id="26" name="Oval 25"/>
          <p:cNvSpPr/>
          <p:nvPr/>
        </p:nvSpPr>
        <p:spPr>
          <a:xfrm>
            <a:off x="6172200" y="4872228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4785360"/>
            <a:ext cx="51937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Find how many layers the noise allows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A2B8"/>
                </a:solidFill>
                <a:latin typeface="Arial"/>
              </a:rPr>
              <a:t>DEMO, LIMITS, NEXT STEPS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3276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ZollerQu - Qollab x IonQ Hackathon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71455" y="63276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1572768"/>
            <a:ext cx="6309360" cy="1518920"/>
          </a:xfrm>
        </p:spPr>
        <p:txBody>
          <a:bodyPr lIns="0" rIns="0" tIns="0" bIns="0" wrap="square" anchor="t">
            <a:noAutofit/>
          </a:bodyPr>
          <a:lstStyle/>
          <a:p>
            <a:pPr algn="l">
              <a:lnSpc>
                <a:spcPts val="5980"/>
              </a:lnSpc>
              <a:spcBef>
                <a:spcPts val="0"/>
              </a:spcBef>
              <a:spcAft>
                <a:spcPts val="0"/>
              </a:spcAft>
            </a:pPr>
            <a:r>
              <a:rPr sz="5200" b="1">
                <a:solidFill>
                  <a:srgbClr val="FFFFFF"/>
                </a:solidFill>
                <a:latin typeface="Arial"/>
              </a:rPr>
              <a:t>Thank you for</a:t>
            </a:r>
          </a:p>
          <a:p>
            <a:pPr algn="l">
              <a:lnSpc>
                <a:spcPts val="5980"/>
              </a:lnSpc>
              <a:spcBef>
                <a:spcPts val="0"/>
              </a:spcBef>
              <a:spcAft>
                <a:spcPts val="0"/>
              </a:spcAft>
            </a:pPr>
            <a:r>
              <a:rPr sz="5200" b="1">
                <a:solidFill>
                  <a:srgbClr val="FFFFFF"/>
                </a:solidFill>
                <a:latin typeface="Arial"/>
              </a:rPr>
              <a:t>your attention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611880"/>
            <a:ext cx="6309360" cy="335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Oussama Turki  ·  Tushar Pandey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30040"/>
            <a:ext cx="630936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A9B4C6"/>
                </a:solidFill>
                <a:latin typeface="Arial"/>
              </a:rPr>
              <a:t>Portfolio Selection with QAOA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257800"/>
            <a:ext cx="5120640" cy="566928"/>
          </a:xfrm>
          <a:prstGeom prst="roundRect">
            <a:avLst>
              <a:gd name="adj" fmla="val 50000"/>
            </a:avLst>
          </a:prstGeom>
          <a:solidFill>
            <a:srgbClr val="131B2E"/>
          </a:solidFill>
          <a:ln w="15875">
            <a:solidFill>
              <a:srgbClr val="17A2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5379720"/>
            <a:ext cx="512064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This effort is supported by Qollab &amp; IonQ</a:t>
            </a:r>
          </a:p>
        </p:txBody>
      </p:sp>
      <p:pic>
        <p:nvPicPr>
          <p:cNvPr id="7" name="Picture 6" descr="The network picture of the 12 assets from the title slide: 12 dots on a circle, every pair joined by a lin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914400"/>
            <a:ext cx="4754880" cy="4754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A2B8"/>
                </a:solidFill>
                <a:latin typeface="Arial"/>
              </a:rPr>
              <a:t>TEAM ZOLLERQU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ZollerQu - Qollab x IonQ Hackathon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71455" y="63276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Portfolio Selection with QAOA - ZollerQu</dc:title>
  <dc:subject>Qollab x IonQ Hackathon 2026</dc:subject>
  <dc:creator>Oussama Turki, Tushar Pandey (Team ZollerQu)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