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 are team ZollerQu: Oussama Turki and Tushar Pandey. We split a simulation mesh between two computers, a CPU and a GPU, with a quantum circuit on IonQ's noisy simulator.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simulations, like crash tests, cut their mesh into parts. A good split gives each device a fair share of work and keeps the border short, because data crosses it at every step. A GPU four times faster should get eighty percent.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group the mesh into twelve regions, one qubit each: zero means device A, one means device B. The energy adds the border that is cut and a penalty when the work share misses its target. Twelve qubits let us check every split and know the exact best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nine mesh objects: a plate, L-shaped plates and a plate with a hole, with heat sources, heavy materials, strong coupling and a priority zone.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circuit starts from all splits, applies a cost layer with one two-qubit gate per pair of regions, then a mixer. We compared one hundred and four circuits, including IonQ's varQITE. Training is offline and noiseless. On Qollab we send one fixed circuit per job.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balance term couples every pair of regions. IonQ connects every pair of qubits, so one layer needs sixty-six two-qubit gates. Routed on a heavy-hex layout it needs about three times more, counted with the transpiler 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result, for two equal devices. On the IonQ Forte 1 noise model, twenty-eight percent of one thousand shots were the exact best split, and it was the most frequent answer. Random guessing gives five hundredths of a percent. Without noise we reach seventy-five percent: noise costs twice what we estimated.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honest part. As the mesh grows, classical methods win: at twenty-nine regions, simulated without noise, our best circuit finds a near-best split in under one percent of runs, spectral bisection in half or more. On IonQ's simulator we needed four shots per optimum against eleven hundred classical evaluations. But varQITE first needed seven thousand six hundred training circuits, and a shot is not the same work as a classical evaluation.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tuned QAOA on separate calibration meshes, comparing seven QAOA types. At twelve qubits the best setting gives about twenty times more near-best answers per shot, and it still helps at twenty qubits.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[CUT TO THE LIVE QOLLAB DEMO] On Qollab we press Run and choose IonQ Forte 1. Limits: a noisy simulator, not hardware. For a CPU plus a GPU the varQITE circuit fails, and we proved why. Beyond twelve qubits classical methods win. Next, we repair that circuit. Thank you. This effort is supported by Qollab and IonQ.</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not spoken: the two device scenarios side by side. For CPU plus GPU the published varQITE circuit is capped by a qubit that stays fifty-fifty; the best other circuit reaches about half a percent without noise.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61B"/>
        </a:solidFill>
        <a:effectLst/>
      </p:bgPr>
    </p:bg>
    <p:spTree>
      <p:nvGrpSpPr>
        <p:cNvPr id="1" name=""/>
        <p:cNvGrpSpPr/>
        <p:nvPr/>
      </p:nvGrpSpPr>
      <p:grpSpPr/>
      <p:sp>
        <p:nvSpPr>
          <p:cNvPr id="2" name="TextBox 1"/>
          <p:cNvSpPr txBox="1"/>
          <p:nvPr/>
        </p:nvSpPr>
        <p:spPr>
          <a:xfrm>
            <a:off x="548640" y="411480"/>
            <a:ext cx="10972800" cy="320040"/>
          </a:xfrm>
          <a:prstGeom prst="rect">
            <a:avLst/>
          </a:prstGeom>
          <a:noFill/>
        </p:spPr>
        <p:txBody>
          <a:bodyPr wrap="none" lIns="0" rIns="0" tIns="0" bIns="0" anchor="t">
            <a:spAutoFit/>
          </a:bodyPr>
          <a:lstStyle/>
          <a:p>
            <a:pPr algn="l">
              <a:lnSpc>
                <a:spcPts val="2160"/>
              </a:lnSpc>
            </a:pPr>
            <a:r>
              <a:rPr sz="1800" b="0" i="0">
                <a:solidFill>
                  <a:srgbClr val="9FB4D1"/>
                </a:solidFill>
                <a:latin typeface="Arial"/>
              </a:rPr>
              <a:t>TEAM ZOLLERQU</a:t>
            </a:r>
          </a:p>
        </p:txBody>
      </p:sp>
      <p:sp>
        <p:nvSpPr>
          <p:cNvPr id="3" name="TextBox 2"/>
          <p:cNvSpPr txBox="1"/>
          <p:nvPr/>
        </p:nvSpPr>
        <p:spPr>
          <a:xfrm>
            <a:off x="548640" y="777240"/>
            <a:ext cx="11155680" cy="1264920"/>
          </a:xfrm>
          <a:prstGeom prst="rect">
            <a:avLst/>
          </a:prstGeom>
          <a:noFill/>
        </p:spPr>
        <p:txBody>
          <a:bodyPr wrap="none" lIns="0" rIns="0" tIns="0" bIns="0" anchor="t">
            <a:spAutoFit/>
          </a:bodyPr>
          <a:lstStyle/>
          <a:p>
            <a:pPr algn="l">
              <a:lnSpc>
                <a:spcPts val="4800"/>
              </a:lnSpc>
            </a:pPr>
            <a:r>
              <a:rPr sz="4000" b="1" i="0">
                <a:solidFill>
                  <a:srgbClr val="FAFAFA"/>
                </a:solidFill>
                <a:latin typeface="Arial"/>
              </a:rPr>
              <a:t>Splitting a simulation mesh</a:t>
            </a:r>
          </a:p>
          <a:p>
            <a:pPr algn="l">
              <a:lnSpc>
                <a:spcPts val="4800"/>
              </a:lnSpc>
            </a:pPr>
            <a:r>
              <a:rPr sz="4000" b="1" i="0">
                <a:solidFill>
                  <a:srgbClr val="FAFAFA"/>
                </a:solidFill>
                <a:latin typeface="Arial"/>
              </a:rPr>
              <a:t>between a CPU and a GPU</a:t>
            </a:r>
          </a:p>
        </p:txBody>
      </p:sp>
      <p:sp>
        <p:nvSpPr>
          <p:cNvPr id="4" name="TextBox 3"/>
          <p:cNvSpPr txBox="1"/>
          <p:nvPr/>
        </p:nvSpPr>
        <p:spPr>
          <a:xfrm>
            <a:off x="548640" y="2514600"/>
            <a:ext cx="6766560" cy="777240"/>
          </a:xfrm>
          <a:prstGeom prst="rect">
            <a:avLst/>
          </a:prstGeom>
          <a:noFill/>
        </p:spPr>
        <p:txBody>
          <a:bodyPr wrap="none" lIns="0" rIns="0" tIns="0" bIns="0" anchor="t">
            <a:spAutoFit/>
          </a:bodyPr>
          <a:lstStyle/>
          <a:p>
            <a:pPr algn="l">
              <a:lnSpc>
                <a:spcPts val="2879"/>
              </a:lnSpc>
            </a:pPr>
            <a:r>
              <a:rPr sz="2400" b="0" i="0">
                <a:solidFill>
                  <a:srgbClr val="9AA3AA"/>
                </a:solidFill>
                <a:latin typeface="Arial"/>
              </a:rPr>
              <a:t>One qubit per mesh region. Run on IonQ's noisy</a:t>
            </a:r>
          </a:p>
          <a:p>
            <a:pPr algn="l">
              <a:lnSpc>
                <a:spcPts val="2879"/>
              </a:lnSpc>
            </a:pPr>
            <a:r>
              <a:rPr sz="2400" b="0" i="0">
                <a:solidFill>
                  <a:srgbClr val="9AA3AA"/>
                </a:solidFill>
                <a:latin typeface="Arial"/>
              </a:rPr>
              <a:t>simulator and graded against the exact best split.</a:t>
            </a:r>
          </a:p>
        </p:txBody>
      </p:sp>
      <p:sp>
        <p:nvSpPr>
          <p:cNvPr id="5" name="TextBox 4"/>
          <p:cNvSpPr txBox="1"/>
          <p:nvPr/>
        </p:nvSpPr>
        <p:spPr>
          <a:xfrm>
            <a:off x="548640" y="3886200"/>
            <a:ext cx="6400800" cy="411479"/>
          </a:xfrm>
          <a:prstGeom prst="rect">
            <a:avLst/>
          </a:prstGeom>
          <a:noFill/>
        </p:spPr>
        <p:txBody>
          <a:bodyPr wrap="none" lIns="0" rIns="0" tIns="0" bIns="0" anchor="t">
            <a:spAutoFit/>
          </a:bodyPr>
          <a:lstStyle/>
          <a:p>
            <a:pPr algn="l">
              <a:lnSpc>
                <a:spcPts val="2879"/>
              </a:lnSpc>
            </a:pPr>
            <a:r>
              <a:rPr sz="2400" b="1" i="0">
                <a:solidFill>
                  <a:srgbClr val="FAFAFA"/>
                </a:solidFill>
                <a:latin typeface="Arial"/>
              </a:rPr>
              <a:t>Oussama Turki  ·  Tushar Pandey</a:t>
            </a:r>
          </a:p>
        </p:txBody>
      </p:sp>
      <p:sp>
        <p:nvSpPr>
          <p:cNvPr id="6" name="TextBox 5"/>
          <p:cNvSpPr txBox="1"/>
          <p:nvPr/>
        </p:nvSpPr>
        <p:spPr>
          <a:xfrm>
            <a:off x="548640" y="4370832"/>
            <a:ext cx="6400800" cy="320040"/>
          </a:xfrm>
          <a:prstGeom prst="rect">
            <a:avLst/>
          </a:prstGeom>
          <a:noFill/>
        </p:spPr>
        <p:txBody>
          <a:bodyPr wrap="none" lIns="0" rIns="0" tIns="0" bIns="0" anchor="t">
            <a:spAutoFit/>
          </a:bodyPr>
          <a:lstStyle/>
          <a:p>
            <a:pPr algn="l">
              <a:lnSpc>
                <a:spcPts val="2160"/>
              </a:lnSpc>
            </a:pPr>
            <a:r>
              <a:rPr sz="1800" b="0" i="0">
                <a:solidFill>
                  <a:srgbClr val="9AA3AA"/>
                </a:solidFill>
                <a:latin typeface="Arial"/>
              </a:rPr>
              <a:t>Qollab x IonQ Hackathon, October 2026</a:t>
            </a:r>
          </a:p>
        </p:txBody>
      </p:sp>
      <p:sp>
        <p:nvSpPr>
          <p:cNvPr id="7" name="TextBox 6"/>
          <p:cNvSpPr txBox="1"/>
          <p:nvPr/>
        </p:nvSpPr>
        <p:spPr>
          <a:xfrm>
            <a:off x="548640" y="5349240"/>
            <a:ext cx="6766560" cy="3505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This effort is supported by Qollab &amp; IonQ</a:t>
            </a:r>
          </a:p>
        </p:txBody>
      </p:sp>
      <p:sp>
        <p:nvSpPr>
          <p:cNvPr id="8" name="Rounded Rectangle 7"/>
          <p:cNvSpPr/>
          <p:nvPr/>
        </p:nvSpPr>
        <p:spPr>
          <a:xfrm>
            <a:off x="7726679" y="1097280"/>
            <a:ext cx="3931920" cy="1463040"/>
          </a:xfrm>
          <a:prstGeom prst="roundRect">
            <a:avLst>
              <a:gd name="adj" fmla="val 7500"/>
            </a:avLst>
          </a:prstGeom>
          <a:solidFill>
            <a:srgbClr val="1A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261872"/>
            <a:ext cx="3474720" cy="594360"/>
          </a:xfrm>
          <a:prstGeom prst="rect">
            <a:avLst/>
          </a:prstGeom>
          <a:noFill/>
        </p:spPr>
        <p:txBody>
          <a:bodyPr wrap="none" lIns="0" rIns="0" tIns="0" bIns="0" anchor="t">
            <a:spAutoFit/>
          </a:bodyPr>
          <a:lstStyle/>
          <a:p>
            <a:pPr algn="l">
              <a:lnSpc>
                <a:spcPts val="4320"/>
              </a:lnSpc>
            </a:pPr>
            <a:r>
              <a:rPr sz="3600" b="1" i="0">
                <a:solidFill>
                  <a:srgbClr val="FAFAFA"/>
                </a:solidFill>
                <a:latin typeface="Arial"/>
              </a:rPr>
              <a:t>12 qubits</a:t>
            </a:r>
          </a:p>
        </p:txBody>
      </p:sp>
      <p:sp>
        <p:nvSpPr>
          <p:cNvPr id="10" name="TextBox 9"/>
          <p:cNvSpPr txBox="1"/>
          <p:nvPr/>
        </p:nvSpPr>
        <p:spPr>
          <a:xfrm>
            <a:off x="8001000" y="1901952"/>
            <a:ext cx="347472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one per mesh region</a:t>
            </a:r>
          </a:p>
        </p:txBody>
      </p:sp>
      <p:sp>
        <p:nvSpPr>
          <p:cNvPr id="11" name="Rounded Rectangle 10"/>
          <p:cNvSpPr/>
          <p:nvPr/>
        </p:nvSpPr>
        <p:spPr>
          <a:xfrm>
            <a:off x="7726679" y="2743200"/>
            <a:ext cx="3931920" cy="1463040"/>
          </a:xfrm>
          <a:prstGeom prst="roundRect">
            <a:avLst>
              <a:gd name="adj" fmla="val 7500"/>
            </a:avLst>
          </a:prstGeom>
          <a:solidFill>
            <a:srgbClr val="1A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2907792"/>
            <a:ext cx="3474720" cy="594360"/>
          </a:xfrm>
          <a:prstGeom prst="rect">
            <a:avLst/>
          </a:prstGeom>
          <a:noFill/>
        </p:spPr>
        <p:txBody>
          <a:bodyPr wrap="none" lIns="0" rIns="0" tIns="0" bIns="0" anchor="t">
            <a:spAutoFit/>
          </a:bodyPr>
          <a:lstStyle/>
          <a:p>
            <a:pPr algn="l">
              <a:lnSpc>
                <a:spcPts val="4320"/>
              </a:lnSpc>
            </a:pPr>
            <a:r>
              <a:rPr sz="3600" b="1" i="0">
                <a:solidFill>
                  <a:srgbClr val="FAFAFA"/>
                </a:solidFill>
                <a:latin typeface="Arial"/>
              </a:rPr>
              <a:t>1,000 shots</a:t>
            </a:r>
          </a:p>
        </p:txBody>
      </p:sp>
      <p:sp>
        <p:nvSpPr>
          <p:cNvPr id="13" name="TextBox 12"/>
          <p:cNvSpPr txBox="1"/>
          <p:nvPr/>
        </p:nvSpPr>
        <p:spPr>
          <a:xfrm>
            <a:off x="8001000" y="3547872"/>
            <a:ext cx="347472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IonQ Forte 1 noise model</a:t>
            </a:r>
          </a:p>
        </p:txBody>
      </p:sp>
      <p:sp>
        <p:nvSpPr>
          <p:cNvPr id="14" name="Rounded Rectangle 13"/>
          <p:cNvSpPr/>
          <p:nvPr/>
        </p:nvSpPr>
        <p:spPr>
          <a:xfrm>
            <a:off x="7726679" y="4389120"/>
            <a:ext cx="3931920" cy="1463040"/>
          </a:xfrm>
          <a:prstGeom prst="roundRect">
            <a:avLst>
              <a:gd name="adj" fmla="val 7500"/>
            </a:avLst>
          </a:prstGeom>
          <a:solidFill>
            <a:srgbClr val="1A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4553712"/>
            <a:ext cx="3474720" cy="594360"/>
          </a:xfrm>
          <a:prstGeom prst="rect">
            <a:avLst/>
          </a:prstGeom>
          <a:noFill/>
        </p:spPr>
        <p:txBody>
          <a:bodyPr wrap="none" lIns="0" rIns="0" tIns="0" bIns="0" anchor="t">
            <a:spAutoFit/>
          </a:bodyPr>
          <a:lstStyle/>
          <a:p>
            <a:pPr algn="l">
              <a:lnSpc>
                <a:spcPts val="4320"/>
              </a:lnSpc>
            </a:pPr>
            <a:r>
              <a:rPr sz="3600" b="1" i="0">
                <a:solidFill>
                  <a:srgbClr val="F89B33"/>
                </a:solidFill>
                <a:latin typeface="Arial"/>
              </a:rPr>
              <a:t>27.8 %</a:t>
            </a:r>
          </a:p>
        </p:txBody>
      </p:sp>
      <p:sp>
        <p:nvSpPr>
          <p:cNvPr id="16" name="TextBox 15"/>
          <p:cNvSpPr txBox="1"/>
          <p:nvPr/>
        </p:nvSpPr>
        <p:spPr>
          <a:xfrm>
            <a:off x="8001000" y="5193792"/>
            <a:ext cx="347472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are the exact best split</a:t>
            </a:r>
          </a:p>
        </p:txBody>
      </p:sp>
      <p:sp>
        <p:nvSpPr>
          <p:cNvPr id="17" name="TextBox 16"/>
          <p:cNvSpPr txBox="1"/>
          <p:nvPr/>
        </p:nvSpPr>
        <p:spPr>
          <a:xfrm>
            <a:off x="7726679" y="5943600"/>
            <a:ext cx="4023360" cy="25908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IonQ Forte 1 noise model (Qollab), 11 Oct 2026</a:t>
            </a:r>
          </a:p>
        </p:txBody>
      </p:sp>
      <p:sp>
        <p:nvSpPr>
          <p:cNvPr id="18" name="TextBox 17"/>
          <p:cNvSpPr txBox="1"/>
          <p:nvPr/>
        </p:nvSpPr>
        <p:spPr>
          <a:xfrm>
            <a:off x="548640" y="6428232"/>
            <a:ext cx="7315200" cy="228600"/>
          </a:xfrm>
          <a:prstGeom prst="rect">
            <a:avLst/>
          </a:prstGeom>
          <a:noFill/>
        </p:spPr>
        <p:txBody>
          <a:bodyPr wrap="none" lIns="0" rIns="0" tIns="0" bIns="0" anchor="t">
            <a:spAutoFit/>
          </a:bodyPr>
          <a:lstStyle/>
          <a:p>
            <a:pPr algn="l">
              <a:lnSpc>
                <a:spcPts val="1439"/>
              </a:lnSpc>
            </a:pPr>
            <a:r>
              <a:rPr sz="1200" b="0" i="0">
                <a:solidFill>
                  <a:srgbClr val="9AA3AA"/>
                </a:solidFill>
                <a:latin typeface="Arial"/>
              </a:rPr>
              <a:t>ZollerQu - Qollab x IonQ Hackathon 2026</a:t>
            </a:r>
          </a:p>
        </p:txBody>
      </p:sp>
      <p:sp>
        <p:nvSpPr>
          <p:cNvPr id="19" name="TextBox 18"/>
          <p:cNvSpPr txBox="1"/>
          <p:nvPr/>
        </p:nvSpPr>
        <p:spPr>
          <a:xfrm>
            <a:off x="10698480" y="6428232"/>
            <a:ext cx="941832" cy="228600"/>
          </a:xfrm>
          <a:prstGeom prst="rect">
            <a:avLst/>
          </a:prstGeom>
          <a:noFill/>
        </p:spPr>
        <p:txBody>
          <a:bodyPr wrap="none" lIns="0" rIns="0" tIns="0" bIns="0" anchor="t">
            <a:spAutoFit/>
          </a:bodyPr>
          <a:lstStyle/>
          <a:p>
            <a:pPr algn="r">
              <a:lnSpc>
                <a:spcPts val="1439"/>
              </a:lnSpc>
            </a:pPr>
            <a:r>
              <a:rPr sz="1200" b="0" i="0">
                <a:solidFill>
                  <a:srgbClr val="9AA3AA"/>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61B"/>
        </a:solidFill>
        <a:effectLst/>
      </p:bgPr>
    </p:bg>
    <p:spTree>
      <p:nvGrpSpPr>
        <p:cNvPr id="1" name=""/>
        <p:cNvGrpSpPr/>
        <p:nvPr/>
      </p:nvGrpSpPr>
      <p:grpSpPr/>
      <p:sp>
        <p:nvSpPr>
          <p:cNvPr id="2" name="TextBox 1"/>
          <p:cNvSpPr txBox="1"/>
          <p:nvPr/>
        </p:nvSpPr>
        <p:spPr>
          <a:xfrm>
            <a:off x="548640" y="411480"/>
            <a:ext cx="10972800" cy="320040"/>
          </a:xfrm>
          <a:prstGeom prst="rect">
            <a:avLst/>
          </a:prstGeom>
          <a:noFill/>
        </p:spPr>
        <p:txBody>
          <a:bodyPr wrap="none" lIns="0" rIns="0" tIns="0" bIns="0" anchor="t">
            <a:spAutoFit/>
          </a:bodyPr>
          <a:lstStyle/>
          <a:p>
            <a:pPr algn="l">
              <a:lnSpc>
                <a:spcPts val="2160"/>
              </a:lnSpc>
            </a:pPr>
            <a:r>
              <a:rPr sz="1800" b="0" i="0">
                <a:solidFill>
                  <a:srgbClr val="9FB4D1"/>
                </a:solidFill>
                <a:latin typeface="Arial"/>
              </a:rPr>
              <a:t>THE PROBLEM</a:t>
            </a:r>
          </a:p>
        </p:txBody>
      </p:sp>
      <p:sp>
        <p:nvSpPr>
          <p:cNvPr id="3" name="TextBox 2"/>
          <p:cNvSpPr txBox="1"/>
          <p:nvPr/>
        </p:nvSpPr>
        <p:spPr>
          <a:xfrm>
            <a:off x="548640" y="777240"/>
            <a:ext cx="11155680" cy="594360"/>
          </a:xfrm>
          <a:prstGeom prst="rect">
            <a:avLst/>
          </a:prstGeom>
          <a:noFill/>
        </p:spPr>
        <p:txBody>
          <a:bodyPr wrap="none" lIns="0" rIns="0" tIns="0" bIns="0" anchor="t">
            <a:spAutoFit/>
          </a:bodyPr>
          <a:lstStyle/>
          <a:p>
            <a:pPr algn="l">
              <a:lnSpc>
                <a:spcPts val="4320"/>
              </a:lnSpc>
            </a:pPr>
            <a:r>
              <a:rPr sz="3600" b="1" i="0">
                <a:solidFill>
                  <a:srgbClr val="FAFAFA"/>
                </a:solidFill>
                <a:latin typeface="Arial"/>
              </a:rPr>
              <a:t>One mesh, two devices: who computes what?</a:t>
            </a:r>
          </a:p>
        </p:txBody>
      </p:sp>
      <p:sp>
        <p:nvSpPr>
          <p:cNvPr id="4" name="TextBox 3"/>
          <p:cNvSpPr txBox="1"/>
          <p:nvPr/>
        </p:nvSpPr>
        <p:spPr>
          <a:xfrm>
            <a:off x="548640" y="1783080"/>
            <a:ext cx="2743200" cy="1051560"/>
          </a:xfrm>
          <a:prstGeom prst="rect">
            <a:avLst/>
          </a:prstGeom>
          <a:noFill/>
        </p:spPr>
        <p:txBody>
          <a:bodyPr wrap="none" lIns="0" rIns="0" tIns="0" bIns="0" anchor="t">
            <a:spAutoFit/>
          </a:bodyPr>
          <a:lstStyle/>
          <a:p>
            <a:pPr algn="l">
              <a:lnSpc>
                <a:spcPts val="7920"/>
              </a:lnSpc>
            </a:pPr>
            <a:r>
              <a:rPr sz="6600" b="1" i="0">
                <a:solidFill>
                  <a:srgbClr val="FAFAFA"/>
                </a:solidFill>
                <a:latin typeface="Arial"/>
              </a:rPr>
              <a:t>80 %</a:t>
            </a:r>
          </a:p>
        </p:txBody>
      </p:sp>
      <p:sp>
        <p:nvSpPr>
          <p:cNvPr id="5" name="TextBox 4"/>
          <p:cNvSpPr txBox="1"/>
          <p:nvPr/>
        </p:nvSpPr>
        <p:spPr>
          <a:xfrm>
            <a:off x="2971800" y="1920240"/>
            <a:ext cx="3566160" cy="9601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of the work should go</a:t>
            </a:r>
          </a:p>
          <a:p>
            <a:pPr algn="l">
              <a:lnSpc>
                <a:spcPts val="2400"/>
              </a:lnSpc>
            </a:pPr>
            <a:r>
              <a:rPr sz="2000" b="0" i="0">
                <a:solidFill>
                  <a:srgbClr val="FAFAFA"/>
                </a:solidFill>
                <a:latin typeface="Arial"/>
              </a:rPr>
              <a:t>to a GPU that is 4x</a:t>
            </a:r>
          </a:p>
          <a:p>
            <a:pPr algn="l">
              <a:lnSpc>
                <a:spcPts val="2400"/>
              </a:lnSpc>
            </a:pPr>
            <a:r>
              <a:rPr sz="2000" b="0" i="0">
                <a:solidFill>
                  <a:srgbClr val="FAFAFA"/>
                </a:solidFill>
                <a:latin typeface="Arial"/>
              </a:rPr>
              <a:t>faster than the CPU</a:t>
            </a:r>
          </a:p>
        </p:txBody>
      </p:sp>
      <p:sp>
        <p:nvSpPr>
          <p:cNvPr id="6" name="TextBox 5"/>
          <p:cNvSpPr txBox="1"/>
          <p:nvPr/>
        </p:nvSpPr>
        <p:spPr>
          <a:xfrm>
            <a:off x="548640" y="3063240"/>
            <a:ext cx="5852160" cy="25908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assumed device speeds (model)</a:t>
            </a:r>
          </a:p>
        </p:txBody>
      </p:sp>
      <p:sp>
        <p:nvSpPr>
          <p:cNvPr id="7" name="TextBox 6"/>
          <p:cNvSpPr txBox="1"/>
          <p:nvPr/>
        </p:nvSpPr>
        <p:spPr>
          <a:xfrm>
            <a:off x="548640" y="3611880"/>
            <a:ext cx="6035040" cy="6553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Who: engineers who run large simulations</a:t>
            </a:r>
          </a:p>
          <a:p>
            <a:pPr algn="l">
              <a:lnSpc>
                <a:spcPts val="2400"/>
              </a:lnSpc>
            </a:pPr>
            <a:r>
              <a:rPr sz="2000" b="0" i="0">
                <a:solidFill>
                  <a:srgbClr val="FAFAFA"/>
                </a:solidFill>
                <a:latin typeface="Arial"/>
              </a:rPr>
              <a:t>(heat, stress, crash) on CPU + GPU clusters.</a:t>
            </a:r>
          </a:p>
        </p:txBody>
      </p:sp>
      <p:sp>
        <p:nvSpPr>
          <p:cNvPr id="8" name="TextBox 7"/>
          <p:cNvSpPr txBox="1"/>
          <p:nvPr/>
        </p:nvSpPr>
        <p:spPr>
          <a:xfrm>
            <a:off x="548640" y="4526280"/>
            <a:ext cx="6035040" cy="6553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Why: a bad split leaves one device idle,</a:t>
            </a:r>
          </a:p>
          <a:p>
            <a:pPr algn="l">
              <a:lnSpc>
                <a:spcPts val="2400"/>
              </a:lnSpc>
            </a:pPr>
            <a:r>
              <a:rPr sz="2000" b="0" i="0">
                <a:solidFill>
                  <a:srgbClr val="FAFAFA"/>
                </a:solidFill>
                <a:latin typeface="Arial"/>
              </a:rPr>
              <a:t>or makes the devices exchange more data.</a:t>
            </a:r>
          </a:p>
        </p:txBody>
      </p:sp>
      <p:pic>
        <p:nvPicPr>
          <p:cNvPr id="9" name="Picture 8" descr="An L-shaped triangle mesh split in two parts. The large teal part is computed by the GPU (81 % of the work), the small light part by the CPU. An orange line marks the border between the parts."/>
          <p:cNvPicPr>
            <a:picLocks noChangeAspect="1"/>
          </p:cNvPicPr>
          <p:nvPr/>
        </p:nvPicPr>
        <p:blipFill>
          <a:blip r:embed="rId2"/>
          <a:stretch>
            <a:fillRect/>
          </a:stretch>
        </p:blipFill>
        <p:spPr>
          <a:xfrm>
            <a:off x="6858000" y="1425484"/>
            <a:ext cx="4846320" cy="4327071"/>
          </a:xfrm>
          <a:prstGeom prst="rect">
            <a:avLst/>
          </a:prstGeom>
        </p:spPr>
      </p:pic>
      <p:sp>
        <p:nvSpPr>
          <p:cNvPr id="10" name="TextBox 9"/>
          <p:cNvSpPr txBox="1"/>
          <p:nvPr/>
        </p:nvSpPr>
        <p:spPr>
          <a:xfrm>
            <a:off x="6858000" y="5788152"/>
            <a:ext cx="4937760" cy="47244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our mesh (1,670 triangles), the exact best split</a:t>
            </a:r>
          </a:p>
          <a:p>
            <a:pPr algn="l">
              <a:lnSpc>
                <a:spcPts val="1680"/>
              </a:lnSpc>
            </a:pPr>
            <a:r>
              <a:rPr sz="1400" b="0" i="1">
                <a:solidFill>
                  <a:srgbClr val="9AA3AA"/>
                </a:solidFill>
                <a:latin typeface="Arial"/>
              </a:rPr>
              <a:t>for CPU + GPU (classical)</a:t>
            </a:r>
          </a:p>
        </p:txBody>
      </p:sp>
      <p:sp>
        <p:nvSpPr>
          <p:cNvPr id="11" name="TextBox 10"/>
          <p:cNvSpPr txBox="1"/>
          <p:nvPr/>
        </p:nvSpPr>
        <p:spPr>
          <a:xfrm>
            <a:off x="548640" y="6428232"/>
            <a:ext cx="7315200" cy="228600"/>
          </a:xfrm>
          <a:prstGeom prst="rect">
            <a:avLst/>
          </a:prstGeom>
          <a:noFill/>
        </p:spPr>
        <p:txBody>
          <a:bodyPr wrap="none" lIns="0" rIns="0" tIns="0" bIns="0" anchor="t">
            <a:spAutoFit/>
          </a:bodyPr>
          <a:lstStyle/>
          <a:p>
            <a:pPr algn="l">
              <a:lnSpc>
                <a:spcPts val="1439"/>
              </a:lnSpc>
            </a:pPr>
            <a:r>
              <a:rPr sz="1200" b="0" i="0">
                <a:solidFill>
                  <a:srgbClr val="9AA3AA"/>
                </a:solidFill>
                <a:latin typeface="Arial"/>
              </a:rPr>
              <a:t>ZollerQu - Qollab x IonQ Hackathon 2026</a:t>
            </a:r>
          </a:p>
        </p:txBody>
      </p:sp>
      <p:sp>
        <p:nvSpPr>
          <p:cNvPr id="12" name="TextBox 11"/>
          <p:cNvSpPr txBox="1"/>
          <p:nvPr/>
        </p:nvSpPr>
        <p:spPr>
          <a:xfrm>
            <a:off x="10698480" y="6428232"/>
            <a:ext cx="941832" cy="228600"/>
          </a:xfrm>
          <a:prstGeom prst="rect">
            <a:avLst/>
          </a:prstGeom>
          <a:noFill/>
        </p:spPr>
        <p:txBody>
          <a:bodyPr wrap="none" lIns="0" rIns="0" tIns="0" bIns="0" anchor="t">
            <a:spAutoFit/>
          </a:bodyPr>
          <a:lstStyle/>
          <a:p>
            <a:pPr algn="r">
              <a:lnSpc>
                <a:spcPts val="1439"/>
              </a:lnSpc>
            </a:pPr>
            <a:r>
              <a:rPr sz="1200" b="0" i="0">
                <a:solidFill>
                  <a:srgbClr val="9AA3AA"/>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61B"/>
        </a:solidFill>
        <a:effectLst/>
      </p:bgPr>
    </p:bg>
    <p:spTree>
      <p:nvGrpSpPr>
        <p:cNvPr id="1" name=""/>
        <p:cNvGrpSpPr/>
        <p:nvPr/>
      </p:nvGrpSpPr>
      <p:grpSpPr/>
      <p:sp>
        <p:nvSpPr>
          <p:cNvPr id="2" name="TextBox 1"/>
          <p:cNvSpPr txBox="1"/>
          <p:nvPr/>
        </p:nvSpPr>
        <p:spPr>
          <a:xfrm>
            <a:off x="548640" y="411480"/>
            <a:ext cx="10972800" cy="320040"/>
          </a:xfrm>
          <a:prstGeom prst="rect">
            <a:avLst/>
          </a:prstGeom>
          <a:noFill/>
        </p:spPr>
        <p:txBody>
          <a:bodyPr wrap="none" lIns="0" rIns="0" tIns="0" bIns="0" anchor="t">
            <a:spAutoFit/>
          </a:bodyPr>
          <a:lstStyle/>
          <a:p>
            <a:pPr algn="l">
              <a:lnSpc>
                <a:spcPts val="2160"/>
              </a:lnSpc>
            </a:pPr>
            <a:r>
              <a:rPr sz="1800" b="0" i="0">
                <a:solidFill>
                  <a:srgbClr val="9FB4D1"/>
                </a:solidFill>
                <a:latin typeface="Arial"/>
              </a:rPr>
              <a:t>FORMULATION</a:t>
            </a:r>
          </a:p>
        </p:txBody>
      </p:sp>
      <p:sp>
        <p:nvSpPr>
          <p:cNvPr id="3" name="TextBox 2"/>
          <p:cNvSpPr txBox="1"/>
          <p:nvPr/>
        </p:nvSpPr>
        <p:spPr>
          <a:xfrm>
            <a:off x="548640" y="777240"/>
            <a:ext cx="11155680" cy="594360"/>
          </a:xfrm>
          <a:prstGeom prst="rect">
            <a:avLst/>
          </a:prstGeom>
          <a:noFill/>
        </p:spPr>
        <p:txBody>
          <a:bodyPr wrap="none" lIns="0" rIns="0" tIns="0" bIns="0" anchor="t">
            <a:spAutoFit/>
          </a:bodyPr>
          <a:lstStyle/>
          <a:p>
            <a:pPr algn="l">
              <a:lnSpc>
                <a:spcPts val="4320"/>
              </a:lnSpc>
            </a:pPr>
            <a:r>
              <a:rPr sz="3600" b="1" i="0">
                <a:solidFill>
                  <a:srgbClr val="FAFAFA"/>
                </a:solidFill>
                <a:latin typeface="Arial"/>
              </a:rPr>
              <a:t>From mesh to Ising energy</a:t>
            </a:r>
          </a:p>
        </p:txBody>
      </p:sp>
      <p:pic>
        <p:nvPicPr>
          <p:cNvPr id="4" name="Picture 3" descr="The Ising energy: a sum over neighbouring regions of border cost times (1 - z_i z_j) / 2, plus lambda times the squared difference between the weighted sum of the z_i and (1 - 2 alpha). The first term is the border that is cut, the second a penalty if the work share is off target."/>
          <p:cNvPicPr>
            <a:picLocks noChangeAspect="1"/>
          </p:cNvPicPr>
          <p:nvPr/>
        </p:nvPicPr>
        <p:blipFill>
          <a:blip r:embed="rId2"/>
          <a:stretch>
            <a:fillRect/>
          </a:stretch>
        </p:blipFill>
        <p:spPr>
          <a:xfrm>
            <a:off x="822960" y="1517825"/>
            <a:ext cx="10515600" cy="2084989"/>
          </a:xfrm>
          <a:prstGeom prst="rect">
            <a:avLst/>
          </a:prstGeom>
        </p:spPr>
      </p:pic>
      <p:sp>
        <p:nvSpPr>
          <p:cNvPr id="5" name="Rounded Rectangle 4"/>
          <p:cNvSpPr/>
          <p:nvPr/>
        </p:nvSpPr>
        <p:spPr>
          <a:xfrm>
            <a:off x="548640" y="3931920"/>
            <a:ext cx="3520440" cy="1874519"/>
          </a:xfrm>
          <a:prstGeom prst="roundRect">
            <a:avLst>
              <a:gd name="adj" fmla="val 5853"/>
            </a:avLst>
          </a:prstGeom>
          <a:solidFill>
            <a:srgbClr val="1A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114800"/>
            <a:ext cx="3108960" cy="777240"/>
          </a:xfrm>
          <a:prstGeom prst="rect">
            <a:avLst/>
          </a:prstGeom>
          <a:noFill/>
        </p:spPr>
        <p:txBody>
          <a:bodyPr wrap="none" lIns="0" rIns="0" tIns="0" bIns="0" anchor="t">
            <a:spAutoFit/>
          </a:bodyPr>
          <a:lstStyle/>
          <a:p>
            <a:pPr algn="l">
              <a:lnSpc>
                <a:spcPts val="2879"/>
              </a:lnSpc>
            </a:pPr>
            <a:r>
              <a:rPr sz="2400" b="1" i="0">
                <a:solidFill>
                  <a:srgbClr val="FAFAFA"/>
                </a:solidFill>
                <a:latin typeface="Arial"/>
              </a:rPr>
              <a:t>1 qubit =</a:t>
            </a:r>
          </a:p>
          <a:p>
            <a:pPr algn="l">
              <a:lnSpc>
                <a:spcPts val="2879"/>
              </a:lnSpc>
            </a:pPr>
            <a:r>
              <a:rPr sz="2400" b="1" i="0">
                <a:solidFill>
                  <a:srgbClr val="FAFAFA"/>
                </a:solidFill>
                <a:latin typeface="Arial"/>
              </a:rPr>
              <a:t>1 mesh region</a:t>
            </a:r>
          </a:p>
        </p:txBody>
      </p:sp>
      <p:sp>
        <p:nvSpPr>
          <p:cNvPr id="7" name="TextBox 6"/>
          <p:cNvSpPr txBox="1"/>
          <p:nvPr/>
        </p:nvSpPr>
        <p:spPr>
          <a:xfrm>
            <a:off x="777240" y="5074920"/>
            <a:ext cx="310896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0: device A   1: device B</a:t>
            </a:r>
          </a:p>
        </p:txBody>
      </p:sp>
      <p:sp>
        <p:nvSpPr>
          <p:cNvPr id="8" name="Rounded Rectangle 7"/>
          <p:cNvSpPr/>
          <p:nvPr/>
        </p:nvSpPr>
        <p:spPr>
          <a:xfrm>
            <a:off x="4334256" y="3931920"/>
            <a:ext cx="3520440" cy="1874519"/>
          </a:xfrm>
          <a:prstGeom prst="roundRect">
            <a:avLst>
              <a:gd name="adj" fmla="val 5853"/>
            </a:avLst>
          </a:prstGeom>
          <a:solidFill>
            <a:srgbClr val="1A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2856" y="4114800"/>
            <a:ext cx="3108960" cy="777240"/>
          </a:xfrm>
          <a:prstGeom prst="rect">
            <a:avLst/>
          </a:prstGeom>
          <a:noFill/>
        </p:spPr>
        <p:txBody>
          <a:bodyPr wrap="none" lIns="0" rIns="0" tIns="0" bIns="0" anchor="t">
            <a:spAutoFit/>
          </a:bodyPr>
          <a:lstStyle/>
          <a:p>
            <a:pPr algn="l">
              <a:lnSpc>
                <a:spcPts val="2879"/>
              </a:lnSpc>
            </a:pPr>
            <a:r>
              <a:rPr sz="2400" b="1" i="0">
                <a:solidFill>
                  <a:srgbClr val="FAFAFA"/>
                </a:solidFill>
                <a:latin typeface="Arial"/>
              </a:rPr>
              <a:t>12 regions =</a:t>
            </a:r>
          </a:p>
          <a:p>
            <a:pPr algn="l">
              <a:lnSpc>
                <a:spcPts val="2879"/>
              </a:lnSpc>
            </a:pPr>
            <a:r>
              <a:rPr sz="2400" b="1" i="0">
                <a:solidFill>
                  <a:srgbClr val="FAFAFA"/>
                </a:solidFill>
                <a:latin typeface="Arial"/>
              </a:rPr>
              <a:t>4,096 splits</a:t>
            </a:r>
          </a:p>
        </p:txBody>
      </p:sp>
      <p:sp>
        <p:nvSpPr>
          <p:cNvPr id="10" name="TextBox 9"/>
          <p:cNvSpPr txBox="1"/>
          <p:nvPr/>
        </p:nvSpPr>
        <p:spPr>
          <a:xfrm>
            <a:off x="4562856" y="5074920"/>
            <a:ext cx="310896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all checked: the best is known</a:t>
            </a:r>
          </a:p>
        </p:txBody>
      </p:sp>
      <p:sp>
        <p:nvSpPr>
          <p:cNvPr id="11" name="Rounded Rectangle 10"/>
          <p:cNvSpPr/>
          <p:nvPr/>
        </p:nvSpPr>
        <p:spPr>
          <a:xfrm>
            <a:off x="8119872" y="3931920"/>
            <a:ext cx="3520440" cy="1874519"/>
          </a:xfrm>
          <a:prstGeom prst="roundRect">
            <a:avLst>
              <a:gd name="adj" fmla="val 5853"/>
            </a:avLst>
          </a:prstGeom>
          <a:solidFill>
            <a:srgbClr val="1A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48472" y="4114800"/>
            <a:ext cx="3108960" cy="777240"/>
          </a:xfrm>
          <a:prstGeom prst="rect">
            <a:avLst/>
          </a:prstGeom>
          <a:noFill/>
        </p:spPr>
        <p:txBody>
          <a:bodyPr wrap="none" lIns="0" rIns="0" tIns="0" bIns="0" anchor="t">
            <a:spAutoFit/>
          </a:bodyPr>
          <a:lstStyle/>
          <a:p>
            <a:pPr algn="l">
              <a:lnSpc>
                <a:spcPts val="2879"/>
              </a:lnSpc>
            </a:pPr>
            <a:r>
              <a:rPr sz="2400" b="1" i="0">
                <a:solidFill>
                  <a:srgbClr val="FAFAFA"/>
                </a:solidFill>
                <a:latin typeface="Arial"/>
              </a:rPr>
              <a:t>alpha =</a:t>
            </a:r>
          </a:p>
          <a:p>
            <a:pPr algn="l">
              <a:lnSpc>
                <a:spcPts val="2879"/>
              </a:lnSpc>
            </a:pPr>
            <a:r>
              <a:rPr sz="2400" b="1" i="0">
                <a:solidFill>
                  <a:srgbClr val="FAFAFA"/>
                </a:solidFill>
                <a:latin typeface="Arial"/>
              </a:rPr>
              <a:t>target work share</a:t>
            </a:r>
          </a:p>
        </p:txBody>
      </p:sp>
      <p:sp>
        <p:nvSpPr>
          <p:cNvPr id="13" name="TextBox 12"/>
          <p:cNvSpPr txBox="1"/>
          <p:nvPr/>
        </p:nvSpPr>
        <p:spPr>
          <a:xfrm>
            <a:off x="8348472" y="5074920"/>
            <a:ext cx="310896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0.5 equal, 0.8 CPU + GPU</a:t>
            </a:r>
          </a:p>
        </p:txBody>
      </p:sp>
      <p:sp>
        <p:nvSpPr>
          <p:cNvPr id="14" name="TextBox 13"/>
          <p:cNvSpPr txBox="1"/>
          <p:nvPr/>
        </p:nvSpPr>
        <p:spPr>
          <a:xfrm>
            <a:off x="548640" y="5897880"/>
            <a:ext cx="10972800" cy="25908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exact best split: classical check of all splits</a:t>
            </a:r>
          </a:p>
        </p:txBody>
      </p:sp>
      <p:sp>
        <p:nvSpPr>
          <p:cNvPr id="15" name="TextBox 14"/>
          <p:cNvSpPr txBox="1"/>
          <p:nvPr/>
        </p:nvSpPr>
        <p:spPr>
          <a:xfrm>
            <a:off x="548640" y="6428232"/>
            <a:ext cx="7315200" cy="228600"/>
          </a:xfrm>
          <a:prstGeom prst="rect">
            <a:avLst/>
          </a:prstGeom>
          <a:noFill/>
        </p:spPr>
        <p:txBody>
          <a:bodyPr wrap="none" lIns="0" rIns="0" tIns="0" bIns="0" anchor="t">
            <a:spAutoFit/>
          </a:bodyPr>
          <a:lstStyle/>
          <a:p>
            <a:pPr algn="l">
              <a:lnSpc>
                <a:spcPts val="1439"/>
              </a:lnSpc>
            </a:pPr>
            <a:r>
              <a:rPr sz="1200" b="0" i="0">
                <a:solidFill>
                  <a:srgbClr val="9AA3AA"/>
                </a:solidFill>
                <a:latin typeface="Arial"/>
              </a:rPr>
              <a:t>ZollerQu - Qollab x IonQ Hackathon 2026</a:t>
            </a:r>
          </a:p>
        </p:txBody>
      </p:sp>
      <p:sp>
        <p:nvSpPr>
          <p:cNvPr id="16" name="TextBox 15"/>
          <p:cNvSpPr txBox="1"/>
          <p:nvPr/>
        </p:nvSpPr>
        <p:spPr>
          <a:xfrm>
            <a:off x="10698480" y="6428232"/>
            <a:ext cx="941832" cy="228600"/>
          </a:xfrm>
          <a:prstGeom prst="rect">
            <a:avLst/>
          </a:prstGeom>
          <a:noFill/>
        </p:spPr>
        <p:txBody>
          <a:bodyPr wrap="none" lIns="0" rIns="0" tIns="0" bIns="0" anchor="t">
            <a:spAutoFit/>
          </a:bodyPr>
          <a:lstStyle/>
          <a:p>
            <a:pPr algn="r">
              <a:lnSpc>
                <a:spcPts val="1439"/>
              </a:lnSpc>
            </a:pPr>
            <a:r>
              <a:rPr sz="1200" b="0" i="0">
                <a:solidFill>
                  <a:srgbClr val="9AA3AA"/>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61B"/>
        </a:solidFill>
        <a:effectLst/>
      </p:bgPr>
    </p:bg>
    <p:spTree>
      <p:nvGrpSpPr>
        <p:cNvPr id="1" name=""/>
        <p:cNvGrpSpPr/>
        <p:nvPr/>
      </p:nvGrpSpPr>
      <p:grpSpPr/>
      <p:sp>
        <p:nvSpPr>
          <p:cNvPr id="2" name="TextBox 1"/>
          <p:cNvSpPr txBox="1"/>
          <p:nvPr/>
        </p:nvSpPr>
        <p:spPr>
          <a:xfrm>
            <a:off x="548640" y="411480"/>
            <a:ext cx="10972800" cy="320040"/>
          </a:xfrm>
          <a:prstGeom prst="rect">
            <a:avLst/>
          </a:prstGeom>
          <a:noFill/>
        </p:spPr>
        <p:txBody>
          <a:bodyPr wrap="none" lIns="0" rIns="0" tIns="0" bIns="0" anchor="t">
            <a:spAutoFit/>
          </a:bodyPr>
          <a:lstStyle/>
          <a:p>
            <a:pPr algn="l">
              <a:lnSpc>
                <a:spcPts val="2160"/>
              </a:lnSpc>
            </a:pPr>
            <a:r>
              <a:rPr sz="1800" b="0" i="0">
                <a:solidFill>
                  <a:srgbClr val="9FB4D1"/>
                </a:solidFill>
                <a:latin typeface="Arial"/>
              </a:rPr>
              <a:t>BENCHMARK</a:t>
            </a:r>
          </a:p>
        </p:txBody>
      </p:sp>
      <p:sp>
        <p:nvSpPr>
          <p:cNvPr id="3" name="TextBox 2"/>
          <p:cNvSpPr txBox="1"/>
          <p:nvPr/>
        </p:nvSpPr>
        <p:spPr>
          <a:xfrm>
            <a:off x="548640" y="777240"/>
            <a:ext cx="11155680" cy="594360"/>
          </a:xfrm>
          <a:prstGeom prst="rect">
            <a:avLst/>
          </a:prstGeom>
          <a:noFill/>
        </p:spPr>
        <p:txBody>
          <a:bodyPr wrap="none" lIns="0" rIns="0" tIns="0" bIns="0" anchor="t">
            <a:spAutoFit/>
          </a:bodyPr>
          <a:lstStyle/>
          <a:p>
            <a:pPr algn="l">
              <a:lnSpc>
                <a:spcPts val="4320"/>
              </a:lnSpc>
            </a:pPr>
            <a:r>
              <a:rPr sz="3600" b="1" i="0">
                <a:solidFill>
                  <a:srgbClr val="FAFAFA"/>
                </a:solidFill>
                <a:latin typeface="Arial"/>
              </a:rPr>
              <a:t>9 mesh objects, one method</a:t>
            </a:r>
          </a:p>
        </p:txBody>
      </p:sp>
      <p:pic>
        <p:nvPicPr>
          <p:cNvPr id="4" name="Picture 3" descr="Nine small drawings of triangle meshes in a 3 by 3 grid: a rectangle, L-shaped plates and a plate with a round hole. White stars mark heat sources, shaded blocks heavy material, dotted blocks strongly coupled zones, a circle a priority zone. Each drawing is labelled with its case name and triangle count (1,670 to 2,166)."/>
          <p:cNvPicPr>
            <a:picLocks noChangeAspect="1"/>
          </p:cNvPicPr>
          <p:nvPr/>
        </p:nvPicPr>
        <p:blipFill>
          <a:blip r:embed="rId2"/>
          <a:stretch>
            <a:fillRect/>
          </a:stretch>
        </p:blipFill>
        <p:spPr>
          <a:xfrm>
            <a:off x="503335" y="1417320"/>
            <a:ext cx="4982648" cy="4443984"/>
          </a:xfrm>
          <a:prstGeom prst="rect">
            <a:avLst/>
          </a:prstGeom>
        </p:spPr>
      </p:pic>
      <p:sp>
        <p:nvSpPr>
          <p:cNvPr id="5" name="TextBox 4"/>
          <p:cNvSpPr txBox="1"/>
          <p:nvPr/>
        </p:nvSpPr>
        <p:spPr>
          <a:xfrm>
            <a:off x="6035040" y="1554480"/>
            <a:ext cx="1828800" cy="1051560"/>
          </a:xfrm>
          <a:prstGeom prst="rect">
            <a:avLst/>
          </a:prstGeom>
          <a:noFill/>
        </p:spPr>
        <p:txBody>
          <a:bodyPr wrap="none" lIns="0" rIns="0" tIns="0" bIns="0" anchor="t">
            <a:spAutoFit/>
          </a:bodyPr>
          <a:lstStyle/>
          <a:p>
            <a:pPr algn="l">
              <a:lnSpc>
                <a:spcPts val="7920"/>
              </a:lnSpc>
            </a:pPr>
            <a:r>
              <a:rPr sz="6600" b="1" i="0">
                <a:solidFill>
                  <a:srgbClr val="FAFAFA"/>
                </a:solidFill>
                <a:latin typeface="Arial"/>
              </a:rPr>
              <a:t>9</a:t>
            </a:r>
          </a:p>
        </p:txBody>
      </p:sp>
      <p:sp>
        <p:nvSpPr>
          <p:cNvPr id="6" name="TextBox 5"/>
          <p:cNvSpPr txBox="1"/>
          <p:nvPr/>
        </p:nvSpPr>
        <p:spPr>
          <a:xfrm>
            <a:off x="7498079" y="1737360"/>
            <a:ext cx="4206240" cy="6553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objects, built from 6 different</a:t>
            </a:r>
          </a:p>
          <a:p>
            <a:pPr algn="l">
              <a:lnSpc>
                <a:spcPts val="2400"/>
              </a:lnSpc>
            </a:pPr>
            <a:r>
              <a:rPr sz="2000" b="0" i="0">
                <a:solidFill>
                  <a:srgbClr val="FAFAFA"/>
                </a:solidFill>
                <a:latin typeface="Arial"/>
              </a:rPr>
              <a:t>meshes (1,670 to 2,166 triangles)</a:t>
            </a:r>
          </a:p>
        </p:txBody>
      </p:sp>
      <p:sp>
        <p:nvSpPr>
          <p:cNvPr id="7" name="TextBox 6"/>
          <p:cNvSpPr txBox="1"/>
          <p:nvPr/>
        </p:nvSpPr>
        <p:spPr>
          <a:xfrm>
            <a:off x="6035040" y="2926080"/>
            <a:ext cx="5669280" cy="6553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Shapes: a plate, L-shaped plates and a plate</a:t>
            </a:r>
          </a:p>
          <a:p>
            <a:pPr algn="l">
              <a:lnSpc>
                <a:spcPts val="2400"/>
              </a:lnSpc>
            </a:pPr>
            <a:r>
              <a:rPr sz="2000" b="0" i="0">
                <a:solidFill>
                  <a:srgbClr val="FAFAFA"/>
                </a:solidFill>
                <a:latin typeface="Arial"/>
              </a:rPr>
              <a:t>with a hole</a:t>
            </a:r>
          </a:p>
        </p:txBody>
      </p:sp>
      <p:sp>
        <p:nvSpPr>
          <p:cNvPr id="8" name="TextBox 7"/>
          <p:cNvSpPr txBox="1"/>
          <p:nvPr/>
        </p:nvSpPr>
        <p:spPr>
          <a:xfrm>
            <a:off x="6035040" y="3794760"/>
            <a:ext cx="5669280" cy="6553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What changes the work: heat sources, heavy</a:t>
            </a:r>
          </a:p>
          <a:p>
            <a:pPr algn="l">
              <a:lnSpc>
                <a:spcPts val="2400"/>
              </a:lnSpc>
            </a:pPr>
            <a:r>
              <a:rPr sz="2000" b="0" i="0">
                <a:solidFill>
                  <a:srgbClr val="FAFAFA"/>
                </a:solidFill>
                <a:latin typeface="Arial"/>
              </a:rPr>
              <a:t>material, strongly coupled zones, a priority zone</a:t>
            </a:r>
          </a:p>
        </p:txBody>
      </p:sp>
      <p:sp>
        <p:nvSpPr>
          <p:cNvPr id="9" name="TextBox 8"/>
          <p:cNvSpPr txBox="1"/>
          <p:nvPr/>
        </p:nvSpPr>
        <p:spPr>
          <a:xfrm>
            <a:off x="6035040" y="4663440"/>
            <a:ext cx="5669280" cy="6553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Every object: both device scenarios, grouped</a:t>
            </a:r>
          </a:p>
          <a:p>
            <a:pPr algn="l">
              <a:lnSpc>
                <a:spcPts val="2400"/>
              </a:lnSpc>
            </a:pPr>
            <a:r>
              <a:rPr sz="2000" b="0" i="0">
                <a:solidFill>
                  <a:srgbClr val="FAFAFA"/>
                </a:solidFill>
                <a:latin typeface="Arial"/>
              </a:rPr>
              <a:t>into 12 to 29 regions (one qubit each)</a:t>
            </a:r>
          </a:p>
        </p:txBody>
      </p:sp>
      <p:sp>
        <p:nvSpPr>
          <p:cNvPr id="10" name="TextBox 9"/>
          <p:cNvSpPr txBox="1"/>
          <p:nvPr/>
        </p:nvSpPr>
        <p:spPr>
          <a:xfrm>
            <a:off x="6035040" y="5532120"/>
            <a:ext cx="5669280" cy="25908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frozen meshes in data/frozen_meshes (identical on every machine)</a:t>
            </a:r>
          </a:p>
        </p:txBody>
      </p:sp>
      <p:sp>
        <p:nvSpPr>
          <p:cNvPr id="11" name="TextBox 10"/>
          <p:cNvSpPr txBox="1"/>
          <p:nvPr/>
        </p:nvSpPr>
        <p:spPr>
          <a:xfrm>
            <a:off x="548640" y="6428232"/>
            <a:ext cx="7315200" cy="228600"/>
          </a:xfrm>
          <a:prstGeom prst="rect">
            <a:avLst/>
          </a:prstGeom>
          <a:noFill/>
        </p:spPr>
        <p:txBody>
          <a:bodyPr wrap="none" lIns="0" rIns="0" tIns="0" bIns="0" anchor="t">
            <a:spAutoFit/>
          </a:bodyPr>
          <a:lstStyle/>
          <a:p>
            <a:pPr algn="l">
              <a:lnSpc>
                <a:spcPts val="1439"/>
              </a:lnSpc>
            </a:pPr>
            <a:r>
              <a:rPr sz="1200" b="0" i="0">
                <a:solidFill>
                  <a:srgbClr val="9AA3AA"/>
                </a:solidFill>
                <a:latin typeface="Arial"/>
              </a:rPr>
              <a:t>ZollerQu - Qollab x IonQ Hackathon 2026</a:t>
            </a:r>
          </a:p>
        </p:txBody>
      </p:sp>
      <p:sp>
        <p:nvSpPr>
          <p:cNvPr id="12" name="TextBox 11"/>
          <p:cNvSpPr txBox="1"/>
          <p:nvPr/>
        </p:nvSpPr>
        <p:spPr>
          <a:xfrm>
            <a:off x="10698480" y="6428232"/>
            <a:ext cx="941832" cy="228600"/>
          </a:xfrm>
          <a:prstGeom prst="rect">
            <a:avLst/>
          </a:prstGeom>
          <a:noFill/>
        </p:spPr>
        <p:txBody>
          <a:bodyPr wrap="none" lIns="0" rIns="0" tIns="0" bIns="0" anchor="t">
            <a:spAutoFit/>
          </a:bodyPr>
          <a:lstStyle/>
          <a:p>
            <a:pPr algn="r">
              <a:lnSpc>
                <a:spcPts val="1439"/>
              </a:lnSpc>
            </a:pPr>
            <a:r>
              <a:rPr sz="1200" b="0" i="0">
                <a:solidFill>
                  <a:srgbClr val="9AA3AA"/>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61B"/>
        </a:solidFill>
        <a:effectLst/>
      </p:bgPr>
    </p:bg>
    <p:spTree>
      <p:nvGrpSpPr>
        <p:cNvPr id="1" name=""/>
        <p:cNvGrpSpPr/>
        <p:nvPr/>
      </p:nvGrpSpPr>
      <p:grpSpPr/>
      <p:sp>
        <p:nvSpPr>
          <p:cNvPr id="2" name="TextBox 1"/>
          <p:cNvSpPr txBox="1"/>
          <p:nvPr/>
        </p:nvSpPr>
        <p:spPr>
          <a:xfrm>
            <a:off x="548640" y="411480"/>
            <a:ext cx="10972800" cy="320040"/>
          </a:xfrm>
          <a:prstGeom prst="rect">
            <a:avLst/>
          </a:prstGeom>
          <a:noFill/>
        </p:spPr>
        <p:txBody>
          <a:bodyPr wrap="none" lIns="0" rIns="0" tIns="0" bIns="0" anchor="t">
            <a:spAutoFit/>
          </a:bodyPr>
          <a:lstStyle/>
          <a:p>
            <a:pPr algn="l">
              <a:lnSpc>
                <a:spcPts val="2160"/>
              </a:lnSpc>
            </a:pPr>
            <a:r>
              <a:rPr sz="1800" b="0" i="0">
                <a:solidFill>
                  <a:srgbClr val="9FB4D1"/>
                </a:solidFill>
                <a:latin typeface="Arial"/>
              </a:rPr>
              <a:t>QUANTUM METHOD</a:t>
            </a:r>
          </a:p>
        </p:txBody>
      </p:sp>
      <p:sp>
        <p:nvSpPr>
          <p:cNvPr id="3" name="TextBox 2"/>
          <p:cNvSpPr txBox="1"/>
          <p:nvPr/>
        </p:nvSpPr>
        <p:spPr>
          <a:xfrm>
            <a:off x="548640" y="777240"/>
            <a:ext cx="11155680" cy="594360"/>
          </a:xfrm>
          <a:prstGeom prst="rect">
            <a:avLst/>
          </a:prstGeom>
          <a:noFill/>
        </p:spPr>
        <p:txBody>
          <a:bodyPr wrap="none" lIns="0" rIns="0" tIns="0" bIns="0" anchor="t">
            <a:spAutoFit/>
          </a:bodyPr>
          <a:lstStyle/>
          <a:p>
            <a:pPr algn="l">
              <a:lnSpc>
                <a:spcPts val="4320"/>
              </a:lnSpc>
            </a:pPr>
            <a:r>
              <a:rPr sz="3600" b="1" i="0">
                <a:solidFill>
                  <a:srgbClr val="FAFAFA"/>
                </a:solidFill>
                <a:latin typeface="Arial"/>
              </a:rPr>
              <a:t>Fixed circuits, trained offline</a:t>
            </a:r>
          </a:p>
        </p:txBody>
      </p:sp>
      <p:pic>
        <p:nvPicPr>
          <p:cNvPr id="4" name="Picture 3" descr="Circuit sketch with four of the twelve qubit lines: an H gate on every qubit, a cost layer with one two-qubit rzz gate per pair of regions, an rx mixer gate on every qubit, then measurement. The cost layer and the mixer are repeated p times."/>
          <p:cNvPicPr>
            <a:picLocks noChangeAspect="1"/>
          </p:cNvPicPr>
          <p:nvPr/>
        </p:nvPicPr>
        <p:blipFill>
          <a:blip r:embed="rId2"/>
          <a:stretch>
            <a:fillRect/>
          </a:stretch>
        </p:blipFill>
        <p:spPr>
          <a:xfrm>
            <a:off x="411480" y="1554480"/>
            <a:ext cx="6400800" cy="3931920"/>
          </a:xfrm>
          <a:prstGeom prst="rect">
            <a:avLst/>
          </a:prstGeom>
        </p:spPr>
      </p:pic>
      <p:sp>
        <p:nvSpPr>
          <p:cNvPr id="5" name="TextBox 4"/>
          <p:cNvSpPr txBox="1"/>
          <p:nvPr/>
        </p:nvSpPr>
        <p:spPr>
          <a:xfrm>
            <a:off x="7223760" y="1691640"/>
            <a:ext cx="2011680" cy="1051560"/>
          </a:xfrm>
          <a:prstGeom prst="rect">
            <a:avLst/>
          </a:prstGeom>
          <a:noFill/>
        </p:spPr>
        <p:txBody>
          <a:bodyPr wrap="none" lIns="0" rIns="0" tIns="0" bIns="0" anchor="t">
            <a:spAutoFit/>
          </a:bodyPr>
          <a:lstStyle/>
          <a:p>
            <a:pPr algn="l">
              <a:lnSpc>
                <a:spcPts val="7920"/>
              </a:lnSpc>
            </a:pPr>
            <a:r>
              <a:rPr sz="6600" b="1" i="0">
                <a:solidFill>
                  <a:srgbClr val="FAFAFA"/>
                </a:solidFill>
                <a:latin typeface="Arial"/>
              </a:rPr>
              <a:t>104</a:t>
            </a:r>
          </a:p>
        </p:txBody>
      </p:sp>
      <p:sp>
        <p:nvSpPr>
          <p:cNvPr id="6" name="TextBox 5"/>
          <p:cNvSpPr txBox="1"/>
          <p:nvPr/>
        </p:nvSpPr>
        <p:spPr>
          <a:xfrm>
            <a:off x="9144000" y="1874519"/>
            <a:ext cx="2651760" cy="6553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circuits compared</a:t>
            </a:r>
          </a:p>
          <a:p>
            <a:pPr algn="l">
              <a:lnSpc>
                <a:spcPts val="2400"/>
              </a:lnSpc>
            </a:pPr>
            <a:r>
              <a:rPr sz="2000" b="0" i="0">
                <a:solidFill>
                  <a:srgbClr val="FAFAFA"/>
                </a:solidFill>
                <a:latin typeface="Arial"/>
              </a:rPr>
              <a:t>at 12 qubits</a:t>
            </a:r>
          </a:p>
        </p:txBody>
      </p:sp>
      <p:sp>
        <p:nvSpPr>
          <p:cNvPr id="7" name="TextBox 6"/>
          <p:cNvSpPr txBox="1"/>
          <p:nvPr/>
        </p:nvSpPr>
        <p:spPr>
          <a:xfrm>
            <a:off x="7223760" y="3063240"/>
            <a:ext cx="4572000" cy="594360"/>
          </a:xfrm>
          <a:prstGeom prst="rect">
            <a:avLst/>
          </a:prstGeom>
          <a:noFill/>
        </p:spPr>
        <p:txBody>
          <a:bodyPr wrap="none" lIns="0" rIns="0" tIns="0" bIns="0" anchor="t">
            <a:spAutoFit/>
          </a:bodyPr>
          <a:lstStyle/>
          <a:p>
            <a:pPr algn="l">
              <a:lnSpc>
                <a:spcPts val="2160"/>
              </a:lnSpc>
            </a:pPr>
            <a:r>
              <a:rPr sz="1800" b="0" i="0">
                <a:solidFill>
                  <a:srgbClr val="9AA3AA"/>
                </a:solidFill>
                <a:latin typeface="Arial"/>
              </a:rPr>
              <a:t>LR-QAOA, optimised QAOA, CVaR-QAOA,</a:t>
            </a:r>
          </a:p>
          <a:p>
            <a:pPr algn="l">
              <a:lnSpc>
                <a:spcPts val="2160"/>
              </a:lnSpc>
            </a:pPr>
            <a:r>
              <a:rPr sz="1800" b="0" i="0">
                <a:solidFill>
                  <a:srgbClr val="9AA3AA"/>
                </a:solidFill>
                <a:latin typeface="Arial"/>
              </a:rPr>
              <a:t>warm starts, varQITE (IonQ's method)</a:t>
            </a:r>
          </a:p>
        </p:txBody>
      </p:sp>
      <p:sp>
        <p:nvSpPr>
          <p:cNvPr id="8" name="TextBox 7"/>
          <p:cNvSpPr txBox="1"/>
          <p:nvPr/>
        </p:nvSpPr>
        <p:spPr>
          <a:xfrm>
            <a:off x="7223760" y="3977639"/>
            <a:ext cx="4572000" cy="380999"/>
          </a:xfrm>
          <a:prstGeom prst="rect">
            <a:avLst/>
          </a:prstGeom>
          <a:noFill/>
        </p:spPr>
        <p:txBody>
          <a:bodyPr wrap="none" lIns="0" rIns="0" tIns="0" bIns="0" anchor="t">
            <a:spAutoFit/>
          </a:bodyPr>
          <a:lstStyle/>
          <a:p>
            <a:pPr algn="l">
              <a:lnSpc>
                <a:spcPts val="2640"/>
              </a:lnSpc>
            </a:pPr>
            <a:r>
              <a:rPr sz="2200" b="0" i="0">
                <a:solidFill>
                  <a:srgbClr val="FAFAFA"/>
                </a:solidFill>
                <a:latin typeface="Arial"/>
              </a:rPr>
              <a:t>Trained on a noiseless simulator</a:t>
            </a:r>
          </a:p>
        </p:txBody>
      </p:sp>
      <p:sp>
        <p:nvSpPr>
          <p:cNvPr id="9" name="TextBox 8"/>
          <p:cNvSpPr txBox="1"/>
          <p:nvPr/>
        </p:nvSpPr>
        <p:spPr>
          <a:xfrm>
            <a:off x="7223760" y="4526280"/>
            <a:ext cx="4572000" cy="380999"/>
          </a:xfrm>
          <a:prstGeom prst="rect">
            <a:avLst/>
          </a:prstGeom>
          <a:noFill/>
        </p:spPr>
        <p:txBody>
          <a:bodyPr wrap="none" lIns="0" rIns="0" tIns="0" bIns="0" anchor="t">
            <a:spAutoFit/>
          </a:bodyPr>
          <a:lstStyle/>
          <a:p>
            <a:pPr algn="l">
              <a:lnSpc>
                <a:spcPts val="2640"/>
              </a:lnSpc>
            </a:pPr>
            <a:r>
              <a:rPr sz="2200" b="1" i="0">
                <a:solidFill>
                  <a:srgbClr val="FAFAFA"/>
                </a:solidFill>
                <a:latin typeface="Arial"/>
              </a:rPr>
              <a:t>ONE fixed circuit per IonQ job</a:t>
            </a:r>
          </a:p>
        </p:txBody>
      </p:sp>
      <p:sp>
        <p:nvSpPr>
          <p:cNvPr id="10" name="TextBox 9"/>
          <p:cNvSpPr txBox="1"/>
          <p:nvPr/>
        </p:nvSpPr>
        <p:spPr>
          <a:xfrm>
            <a:off x="7223760" y="5166360"/>
            <a:ext cx="4572000" cy="25908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noiseless simulation (results/ionq_selection)</a:t>
            </a:r>
          </a:p>
        </p:txBody>
      </p:sp>
      <p:sp>
        <p:nvSpPr>
          <p:cNvPr id="11" name="TextBox 10"/>
          <p:cNvSpPr txBox="1"/>
          <p:nvPr/>
        </p:nvSpPr>
        <p:spPr>
          <a:xfrm>
            <a:off x="411480" y="5577840"/>
            <a:ext cx="6400800" cy="25908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sketch of the QAOA circuit; varQITE uses the same start and measurement</a:t>
            </a:r>
          </a:p>
        </p:txBody>
      </p:sp>
      <p:sp>
        <p:nvSpPr>
          <p:cNvPr id="12" name="TextBox 11"/>
          <p:cNvSpPr txBox="1"/>
          <p:nvPr/>
        </p:nvSpPr>
        <p:spPr>
          <a:xfrm>
            <a:off x="548640" y="6428232"/>
            <a:ext cx="7315200" cy="228600"/>
          </a:xfrm>
          <a:prstGeom prst="rect">
            <a:avLst/>
          </a:prstGeom>
          <a:noFill/>
        </p:spPr>
        <p:txBody>
          <a:bodyPr wrap="none" lIns="0" rIns="0" tIns="0" bIns="0" anchor="t">
            <a:spAutoFit/>
          </a:bodyPr>
          <a:lstStyle/>
          <a:p>
            <a:pPr algn="l">
              <a:lnSpc>
                <a:spcPts val="1439"/>
              </a:lnSpc>
            </a:pPr>
            <a:r>
              <a:rPr sz="1200" b="0" i="0">
                <a:solidFill>
                  <a:srgbClr val="9AA3AA"/>
                </a:solidFill>
                <a:latin typeface="Arial"/>
              </a:rPr>
              <a:t>ZollerQu - Qollab x IonQ Hackathon 2026</a:t>
            </a:r>
          </a:p>
        </p:txBody>
      </p:sp>
      <p:sp>
        <p:nvSpPr>
          <p:cNvPr id="13" name="TextBox 12"/>
          <p:cNvSpPr txBox="1"/>
          <p:nvPr/>
        </p:nvSpPr>
        <p:spPr>
          <a:xfrm>
            <a:off x="10698480" y="6428232"/>
            <a:ext cx="941832" cy="228600"/>
          </a:xfrm>
          <a:prstGeom prst="rect">
            <a:avLst/>
          </a:prstGeom>
          <a:noFill/>
        </p:spPr>
        <p:txBody>
          <a:bodyPr wrap="none" lIns="0" rIns="0" tIns="0" bIns="0" anchor="t">
            <a:spAutoFit/>
          </a:bodyPr>
          <a:lstStyle/>
          <a:p>
            <a:pPr algn="r">
              <a:lnSpc>
                <a:spcPts val="1439"/>
              </a:lnSpc>
            </a:pPr>
            <a:r>
              <a:rPr sz="1200" b="0" i="0">
                <a:solidFill>
                  <a:srgbClr val="9AA3AA"/>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61B"/>
        </a:solidFill>
        <a:effectLst/>
      </p:bgPr>
    </p:bg>
    <p:spTree>
      <p:nvGrpSpPr>
        <p:cNvPr id="1" name=""/>
        <p:cNvGrpSpPr/>
        <p:nvPr/>
      </p:nvGrpSpPr>
      <p:grpSpPr/>
      <p:sp>
        <p:nvSpPr>
          <p:cNvPr id="2" name="TextBox 1"/>
          <p:cNvSpPr txBox="1"/>
          <p:nvPr/>
        </p:nvSpPr>
        <p:spPr>
          <a:xfrm>
            <a:off x="548640" y="411480"/>
            <a:ext cx="10972800" cy="320040"/>
          </a:xfrm>
          <a:prstGeom prst="rect">
            <a:avLst/>
          </a:prstGeom>
          <a:noFill/>
        </p:spPr>
        <p:txBody>
          <a:bodyPr wrap="none" lIns="0" rIns="0" tIns="0" bIns="0" anchor="t">
            <a:spAutoFit/>
          </a:bodyPr>
          <a:lstStyle/>
          <a:p>
            <a:pPr algn="l">
              <a:lnSpc>
                <a:spcPts val="2160"/>
              </a:lnSpc>
            </a:pPr>
            <a:r>
              <a:rPr sz="1800" b="0" i="0">
                <a:solidFill>
                  <a:srgbClr val="9FB4D1"/>
                </a:solidFill>
                <a:latin typeface="Arial"/>
              </a:rPr>
              <a:t>WHY IONQ</a:t>
            </a:r>
          </a:p>
        </p:txBody>
      </p:sp>
      <p:sp>
        <p:nvSpPr>
          <p:cNvPr id="3" name="TextBox 2"/>
          <p:cNvSpPr txBox="1"/>
          <p:nvPr/>
        </p:nvSpPr>
        <p:spPr>
          <a:xfrm>
            <a:off x="548640" y="777240"/>
            <a:ext cx="11155680" cy="594360"/>
          </a:xfrm>
          <a:prstGeom prst="rect">
            <a:avLst/>
          </a:prstGeom>
          <a:noFill/>
        </p:spPr>
        <p:txBody>
          <a:bodyPr wrap="none" lIns="0" rIns="0" tIns="0" bIns="0" anchor="t">
            <a:spAutoFit/>
          </a:bodyPr>
          <a:lstStyle/>
          <a:p>
            <a:pPr algn="l">
              <a:lnSpc>
                <a:spcPts val="4320"/>
              </a:lnSpc>
            </a:pPr>
            <a:r>
              <a:rPr sz="3600" b="1" i="0">
                <a:solidFill>
                  <a:srgbClr val="FAFAFA"/>
                </a:solidFill>
                <a:latin typeface="Arial"/>
              </a:rPr>
              <a:t>Every region pairs with every other</a:t>
            </a:r>
          </a:p>
        </p:txBody>
      </p:sp>
      <p:sp>
        <p:nvSpPr>
          <p:cNvPr id="4" name="TextBox 3"/>
          <p:cNvSpPr txBox="1"/>
          <p:nvPr/>
        </p:nvSpPr>
        <p:spPr>
          <a:xfrm>
            <a:off x="548640" y="1783080"/>
            <a:ext cx="2011680" cy="1051560"/>
          </a:xfrm>
          <a:prstGeom prst="rect">
            <a:avLst/>
          </a:prstGeom>
          <a:noFill/>
        </p:spPr>
        <p:txBody>
          <a:bodyPr wrap="none" lIns="0" rIns="0" tIns="0" bIns="0" anchor="t">
            <a:spAutoFit/>
          </a:bodyPr>
          <a:lstStyle/>
          <a:p>
            <a:pPr algn="l">
              <a:lnSpc>
                <a:spcPts val="7920"/>
              </a:lnSpc>
            </a:pPr>
            <a:r>
              <a:rPr sz="6600" b="1" i="0">
                <a:solidFill>
                  <a:srgbClr val="FAFAFA"/>
                </a:solidFill>
                <a:latin typeface="Arial"/>
              </a:rPr>
              <a:t>66</a:t>
            </a:r>
          </a:p>
        </p:txBody>
      </p:sp>
      <p:sp>
        <p:nvSpPr>
          <p:cNvPr id="5" name="TextBox 4"/>
          <p:cNvSpPr txBox="1"/>
          <p:nvPr/>
        </p:nvSpPr>
        <p:spPr>
          <a:xfrm>
            <a:off x="2331720" y="1920240"/>
            <a:ext cx="3291840" cy="9601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two-qubit gates for one</a:t>
            </a:r>
          </a:p>
          <a:p>
            <a:pPr algn="l">
              <a:lnSpc>
                <a:spcPts val="2400"/>
              </a:lnSpc>
            </a:pPr>
            <a:r>
              <a:rPr sz="2000" b="0" i="0">
                <a:solidFill>
                  <a:srgbClr val="FAFAFA"/>
                </a:solidFill>
                <a:latin typeface="Arial"/>
              </a:rPr>
              <a:t>layer at 12 qubits,</a:t>
            </a:r>
          </a:p>
          <a:p>
            <a:pPr algn="l">
              <a:lnSpc>
                <a:spcPts val="2400"/>
              </a:lnSpc>
            </a:pPr>
            <a:r>
              <a:rPr sz="2000" b="0" i="0">
                <a:solidFill>
                  <a:srgbClr val="FAFAFA"/>
                </a:solidFill>
                <a:latin typeface="Arial"/>
              </a:rPr>
              <a:t>all-to-all connectivity</a:t>
            </a:r>
          </a:p>
        </p:txBody>
      </p:sp>
      <p:sp>
        <p:nvSpPr>
          <p:cNvPr id="6" name="TextBox 5"/>
          <p:cNvSpPr txBox="1"/>
          <p:nvPr/>
        </p:nvSpPr>
        <p:spPr>
          <a:xfrm>
            <a:off x="548640" y="3291840"/>
            <a:ext cx="5120640" cy="6553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216 after routing on a heavy-hex</a:t>
            </a:r>
          </a:p>
          <a:p>
            <a:pPr algn="l">
              <a:lnSpc>
                <a:spcPts val="2400"/>
              </a:lnSpc>
            </a:pPr>
            <a:r>
              <a:rPr sz="2000" b="0" i="0">
                <a:solidFill>
                  <a:srgbClr val="FAFAFA"/>
                </a:solidFill>
                <a:latin typeface="Arial"/>
              </a:rPr>
              <a:t>layout: 3.3x more</a:t>
            </a:r>
          </a:p>
        </p:txBody>
      </p:sp>
      <p:sp>
        <p:nvSpPr>
          <p:cNvPr id="7" name="TextBox 6"/>
          <p:cNvSpPr txBox="1"/>
          <p:nvPr/>
        </p:nvSpPr>
        <p:spPr>
          <a:xfrm>
            <a:off x="548640" y="4206240"/>
            <a:ext cx="5120640" cy="6553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At 29 qubits: 406 against 1,498</a:t>
            </a:r>
          </a:p>
          <a:p>
            <a:pPr algn="l">
              <a:lnSpc>
                <a:spcPts val="2400"/>
              </a:lnSpc>
            </a:pPr>
            <a:r>
              <a:rPr sz="2000" b="0" i="0">
                <a:solidFill>
                  <a:srgbClr val="FAFAFA"/>
                </a:solidFill>
                <a:latin typeface="Arial"/>
              </a:rPr>
              <a:t>(3.7x more)</a:t>
            </a:r>
          </a:p>
        </p:txBody>
      </p:sp>
      <p:sp>
        <p:nvSpPr>
          <p:cNvPr id="8" name="TextBox 7"/>
          <p:cNvSpPr txBox="1"/>
          <p:nvPr/>
        </p:nvSpPr>
        <p:spPr>
          <a:xfrm>
            <a:off x="548640" y="5166360"/>
            <a:ext cx="5120640" cy="47244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counted with the Qiskit transpiler only</a:t>
            </a:r>
          </a:p>
          <a:p>
            <a:pPr algn="l">
              <a:lnSpc>
                <a:spcPts val="1680"/>
              </a:lnSpc>
            </a:pPr>
            <a:r>
              <a:rPr sz="1400" b="0" i="1">
                <a:solidFill>
                  <a:srgbClr val="9AA3AA"/>
                </a:solidFill>
                <a:latin typeface="Arial"/>
              </a:rPr>
              <a:t>(no simulation, no hardware run)</a:t>
            </a:r>
          </a:p>
        </p:txBody>
      </p:sp>
      <p:pic>
        <p:nvPicPr>
          <p:cNvPr id="9" name="Picture 8" descr="Bar chart of two-qubit gate counts. One QAOA layer at 12 qubits: 66 on all-to-all connectivity, 216 routed on heavy-hex. The varQITE ZY circuit at 12 qubits: 66 against 237. One QAOA layer at 29 qubits: 406 against 1,498."/>
          <p:cNvPicPr>
            <a:picLocks noChangeAspect="1"/>
          </p:cNvPicPr>
          <p:nvPr/>
        </p:nvPicPr>
        <p:blipFill>
          <a:blip r:embed="rId2"/>
          <a:stretch>
            <a:fillRect/>
          </a:stretch>
        </p:blipFill>
        <p:spPr>
          <a:xfrm>
            <a:off x="5806440" y="1463040"/>
            <a:ext cx="5943600" cy="4114800"/>
          </a:xfrm>
          <a:prstGeom prst="rect">
            <a:avLst/>
          </a:prstGeom>
        </p:spPr>
      </p:pic>
      <p:sp>
        <p:nvSpPr>
          <p:cNvPr id="10" name="TextBox 9"/>
          <p:cNvSpPr txBox="1"/>
          <p:nvPr/>
        </p:nvSpPr>
        <p:spPr>
          <a:xfrm>
            <a:off x="548640" y="6428232"/>
            <a:ext cx="7315200" cy="228600"/>
          </a:xfrm>
          <a:prstGeom prst="rect">
            <a:avLst/>
          </a:prstGeom>
          <a:noFill/>
        </p:spPr>
        <p:txBody>
          <a:bodyPr wrap="none" lIns="0" rIns="0" tIns="0" bIns="0" anchor="t">
            <a:spAutoFit/>
          </a:bodyPr>
          <a:lstStyle/>
          <a:p>
            <a:pPr algn="l">
              <a:lnSpc>
                <a:spcPts val="1439"/>
              </a:lnSpc>
            </a:pPr>
            <a:r>
              <a:rPr sz="1200" b="0" i="0">
                <a:solidFill>
                  <a:srgbClr val="9AA3AA"/>
                </a:solidFill>
                <a:latin typeface="Arial"/>
              </a:rPr>
              <a:t>ZollerQu - Qollab x IonQ Hackathon 2026</a:t>
            </a:r>
          </a:p>
        </p:txBody>
      </p:sp>
      <p:sp>
        <p:nvSpPr>
          <p:cNvPr id="11" name="TextBox 10"/>
          <p:cNvSpPr txBox="1"/>
          <p:nvPr/>
        </p:nvSpPr>
        <p:spPr>
          <a:xfrm>
            <a:off x="10698480" y="6428232"/>
            <a:ext cx="941832" cy="228600"/>
          </a:xfrm>
          <a:prstGeom prst="rect">
            <a:avLst/>
          </a:prstGeom>
          <a:noFill/>
        </p:spPr>
        <p:txBody>
          <a:bodyPr wrap="none" lIns="0" rIns="0" tIns="0" bIns="0" anchor="t">
            <a:spAutoFit/>
          </a:bodyPr>
          <a:lstStyle/>
          <a:p>
            <a:pPr algn="r">
              <a:lnSpc>
                <a:spcPts val="1439"/>
              </a:lnSpc>
            </a:pPr>
            <a:r>
              <a:rPr sz="1200" b="0" i="0">
                <a:solidFill>
                  <a:srgbClr val="9AA3AA"/>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61B"/>
        </a:solidFill>
        <a:effectLst/>
      </p:bgPr>
    </p:bg>
    <p:spTree>
      <p:nvGrpSpPr>
        <p:cNvPr id="1" name=""/>
        <p:cNvGrpSpPr/>
        <p:nvPr/>
      </p:nvGrpSpPr>
      <p:grpSpPr/>
      <p:sp>
        <p:nvSpPr>
          <p:cNvPr id="2" name="TextBox 1"/>
          <p:cNvSpPr txBox="1"/>
          <p:nvPr/>
        </p:nvSpPr>
        <p:spPr>
          <a:xfrm>
            <a:off x="548640" y="411480"/>
            <a:ext cx="10972800" cy="320040"/>
          </a:xfrm>
          <a:prstGeom prst="rect">
            <a:avLst/>
          </a:prstGeom>
          <a:noFill/>
        </p:spPr>
        <p:txBody>
          <a:bodyPr wrap="none" lIns="0" rIns="0" tIns="0" bIns="0" anchor="t">
            <a:spAutoFit/>
          </a:bodyPr>
          <a:lstStyle/>
          <a:p>
            <a:pPr algn="l">
              <a:lnSpc>
                <a:spcPts val="2160"/>
              </a:lnSpc>
            </a:pPr>
            <a:r>
              <a:rPr sz="1800" b="0" i="0">
                <a:solidFill>
                  <a:srgbClr val="9FB4D1"/>
                </a:solidFill>
                <a:latin typeface="Arial"/>
              </a:rPr>
              <a:t>MAIN RESULT  ·  2 EQUAL DEVICES</a:t>
            </a:r>
          </a:p>
        </p:txBody>
      </p:sp>
      <p:sp>
        <p:nvSpPr>
          <p:cNvPr id="3" name="TextBox 2"/>
          <p:cNvSpPr txBox="1"/>
          <p:nvPr/>
        </p:nvSpPr>
        <p:spPr>
          <a:xfrm>
            <a:off x="548640" y="777240"/>
            <a:ext cx="11155680" cy="594360"/>
          </a:xfrm>
          <a:prstGeom prst="rect">
            <a:avLst/>
          </a:prstGeom>
          <a:noFill/>
        </p:spPr>
        <p:txBody>
          <a:bodyPr wrap="none" lIns="0" rIns="0" tIns="0" bIns="0" anchor="t">
            <a:spAutoFit/>
          </a:bodyPr>
          <a:lstStyle/>
          <a:p>
            <a:pPr algn="l">
              <a:lnSpc>
                <a:spcPts val="4320"/>
              </a:lnSpc>
            </a:pPr>
            <a:r>
              <a:rPr sz="3600" b="1" i="0">
                <a:solidFill>
                  <a:srgbClr val="FAFAFA"/>
                </a:solidFill>
                <a:latin typeface="Arial"/>
              </a:rPr>
              <a:t>28 % of shots are the exact best split</a:t>
            </a:r>
          </a:p>
        </p:txBody>
      </p:sp>
      <p:sp>
        <p:nvSpPr>
          <p:cNvPr id="4" name="TextBox 3"/>
          <p:cNvSpPr txBox="1"/>
          <p:nvPr/>
        </p:nvSpPr>
        <p:spPr>
          <a:xfrm>
            <a:off x="548640" y="1645920"/>
            <a:ext cx="5120640" cy="1264920"/>
          </a:xfrm>
          <a:prstGeom prst="rect">
            <a:avLst/>
          </a:prstGeom>
          <a:noFill/>
        </p:spPr>
        <p:txBody>
          <a:bodyPr wrap="none" lIns="0" rIns="0" tIns="0" bIns="0" anchor="t">
            <a:spAutoFit/>
          </a:bodyPr>
          <a:lstStyle/>
          <a:p>
            <a:pPr algn="l">
              <a:lnSpc>
                <a:spcPts val="9600"/>
              </a:lnSpc>
            </a:pPr>
            <a:r>
              <a:rPr sz="8000" b="1" i="0">
                <a:solidFill>
                  <a:srgbClr val="F89B33"/>
                </a:solidFill>
                <a:latin typeface="Arial"/>
              </a:rPr>
              <a:t>27.8 %</a:t>
            </a:r>
          </a:p>
        </p:txBody>
      </p:sp>
      <p:sp>
        <p:nvSpPr>
          <p:cNvPr id="5" name="TextBox 4"/>
          <p:cNvSpPr txBox="1"/>
          <p:nvPr/>
        </p:nvSpPr>
        <p:spPr>
          <a:xfrm>
            <a:off x="548640" y="2926080"/>
            <a:ext cx="5303520" cy="3505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of 1,000 shots, about 570x random guessing</a:t>
            </a:r>
          </a:p>
        </p:txBody>
      </p:sp>
      <p:sp>
        <p:nvSpPr>
          <p:cNvPr id="6" name="TextBox 5"/>
          <p:cNvSpPr txBox="1"/>
          <p:nvPr/>
        </p:nvSpPr>
        <p:spPr>
          <a:xfrm>
            <a:off x="548640" y="3364992"/>
            <a:ext cx="5303520" cy="3505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Most frequent answer: the exact optimum</a:t>
            </a:r>
          </a:p>
        </p:txBody>
      </p:sp>
      <p:sp>
        <p:nvSpPr>
          <p:cNvPr id="7" name="TextBox 6"/>
          <p:cNvSpPr txBox="1"/>
          <p:nvPr/>
        </p:nvSpPr>
        <p:spPr>
          <a:xfrm>
            <a:off x="548640" y="3840480"/>
            <a:ext cx="5303520" cy="47244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IonQ Forte 1 noise model (Qollab), 11 Oct 2026:</a:t>
            </a:r>
          </a:p>
          <a:p>
            <a:pPr algn="l">
              <a:lnSpc>
                <a:spcPts val="1680"/>
              </a:lnSpc>
            </a:pPr>
            <a:r>
              <a:rPr sz="1400" b="0" i="1">
                <a:solidFill>
                  <a:srgbClr val="9AA3AA"/>
                </a:solidFill>
                <a:latin typeface="Arial"/>
              </a:rPr>
              <a:t>varQITE ZY, 12 qubits, 66 two-qubit gates</a:t>
            </a:r>
          </a:p>
        </p:txBody>
      </p:sp>
      <p:sp>
        <p:nvSpPr>
          <p:cNvPr id="8" name="TextBox 7"/>
          <p:cNvSpPr txBox="1"/>
          <p:nvPr/>
        </p:nvSpPr>
        <p:spPr>
          <a:xfrm>
            <a:off x="548640" y="4526280"/>
            <a:ext cx="5303520" cy="6553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Noiseless: 75.0 %. Noise costs 47 points,</a:t>
            </a:r>
          </a:p>
          <a:p>
            <a:pPr algn="l">
              <a:lnSpc>
                <a:spcPts val="2400"/>
              </a:lnSpc>
            </a:pPr>
            <a:r>
              <a:rPr sz="2000" b="0" i="0">
                <a:solidFill>
                  <a:srgbClr val="FAFAFA"/>
                </a:solidFill>
                <a:latin typeface="Arial"/>
              </a:rPr>
              <a:t>about 2x what we estimated.</a:t>
            </a:r>
          </a:p>
        </p:txBody>
      </p:sp>
      <p:sp>
        <p:nvSpPr>
          <p:cNvPr id="9" name="TextBox 8"/>
          <p:cNvSpPr txBox="1"/>
          <p:nvPr/>
        </p:nvSpPr>
        <p:spPr>
          <a:xfrm>
            <a:off x="548640" y="5303520"/>
            <a:ext cx="5303520" cy="594360"/>
          </a:xfrm>
          <a:prstGeom prst="rect">
            <a:avLst/>
          </a:prstGeom>
          <a:noFill/>
        </p:spPr>
        <p:txBody>
          <a:bodyPr wrap="none" lIns="0" rIns="0" tIns="0" bIns="0" anchor="t">
            <a:spAutoFit/>
          </a:bodyPr>
          <a:lstStyle/>
          <a:p>
            <a:pPr algn="l">
              <a:lnSpc>
                <a:spcPts val="2160"/>
              </a:lnSpc>
            </a:pPr>
            <a:r>
              <a:rPr sz="1800" b="0" i="0">
                <a:solidFill>
                  <a:srgbClr val="9AA3AA"/>
                </a:solidFill>
                <a:latin typeface="Arial"/>
              </a:rPr>
              <a:t>Classical, same 1,000 tries: annealing finds it</a:t>
            </a:r>
          </a:p>
          <a:p>
            <a:pPr algn="l">
              <a:lnSpc>
                <a:spcPts val="2160"/>
              </a:lnSpc>
            </a:pPr>
            <a:r>
              <a:rPr sz="1800" b="0" i="0">
                <a:solidFill>
                  <a:srgbClr val="9AA3AA"/>
                </a:solidFill>
                <a:latin typeface="Arial"/>
              </a:rPr>
              <a:t>in 50 % of runs, local search in 51 %.</a:t>
            </a:r>
          </a:p>
        </p:txBody>
      </p:sp>
      <p:pic>
        <p:nvPicPr>
          <p:cNvPr id="10" name="Picture 9" descr="Bar chart on a log scale of the share of shots that are the exact best split: random guessing 0.049 %, IonQ Forte 1 noise model 27.8 %, noiseless simulation 75.0 %. A dashed line marks our estimate of 54 %."/>
          <p:cNvPicPr>
            <a:picLocks noChangeAspect="1"/>
          </p:cNvPicPr>
          <p:nvPr/>
        </p:nvPicPr>
        <p:blipFill>
          <a:blip r:embed="rId2"/>
          <a:stretch>
            <a:fillRect/>
          </a:stretch>
        </p:blipFill>
        <p:spPr>
          <a:xfrm>
            <a:off x="5989320" y="1417320"/>
            <a:ext cx="5760720" cy="4297680"/>
          </a:xfrm>
          <a:prstGeom prst="rect">
            <a:avLst/>
          </a:prstGeom>
        </p:spPr>
      </p:pic>
      <p:sp>
        <p:nvSpPr>
          <p:cNvPr id="11" name="TextBox 10"/>
          <p:cNvSpPr txBox="1"/>
          <p:nvPr/>
        </p:nvSpPr>
        <p:spPr>
          <a:xfrm>
            <a:off x="5989320" y="5806440"/>
            <a:ext cx="5760720" cy="25908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random and noiseless: noiseless simulation; classical: classical</a:t>
            </a:r>
          </a:p>
        </p:txBody>
      </p:sp>
      <p:sp>
        <p:nvSpPr>
          <p:cNvPr id="12" name="TextBox 11"/>
          <p:cNvSpPr txBox="1"/>
          <p:nvPr/>
        </p:nvSpPr>
        <p:spPr>
          <a:xfrm>
            <a:off x="548640" y="6428232"/>
            <a:ext cx="7315200" cy="228600"/>
          </a:xfrm>
          <a:prstGeom prst="rect">
            <a:avLst/>
          </a:prstGeom>
          <a:noFill/>
        </p:spPr>
        <p:txBody>
          <a:bodyPr wrap="none" lIns="0" rIns="0" tIns="0" bIns="0" anchor="t">
            <a:spAutoFit/>
          </a:bodyPr>
          <a:lstStyle/>
          <a:p>
            <a:pPr algn="l">
              <a:lnSpc>
                <a:spcPts val="1439"/>
              </a:lnSpc>
            </a:pPr>
            <a:r>
              <a:rPr sz="1200" b="0" i="0">
                <a:solidFill>
                  <a:srgbClr val="9AA3AA"/>
                </a:solidFill>
                <a:latin typeface="Arial"/>
              </a:rPr>
              <a:t>ZollerQu - Qollab x IonQ Hackathon 2026</a:t>
            </a:r>
          </a:p>
        </p:txBody>
      </p:sp>
      <p:sp>
        <p:nvSpPr>
          <p:cNvPr id="13" name="TextBox 12"/>
          <p:cNvSpPr txBox="1"/>
          <p:nvPr/>
        </p:nvSpPr>
        <p:spPr>
          <a:xfrm>
            <a:off x="10698480" y="6428232"/>
            <a:ext cx="941832" cy="228600"/>
          </a:xfrm>
          <a:prstGeom prst="rect">
            <a:avLst/>
          </a:prstGeom>
          <a:noFill/>
        </p:spPr>
        <p:txBody>
          <a:bodyPr wrap="none" lIns="0" rIns="0" tIns="0" bIns="0" anchor="t">
            <a:spAutoFit/>
          </a:bodyPr>
          <a:lstStyle/>
          <a:p>
            <a:pPr algn="r">
              <a:lnSpc>
                <a:spcPts val="1439"/>
              </a:lnSpc>
            </a:pPr>
            <a:r>
              <a:rPr sz="1200" b="0" i="0">
                <a:solidFill>
                  <a:srgbClr val="9AA3AA"/>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61B"/>
        </a:solidFill>
        <a:effectLst/>
      </p:bgPr>
    </p:bg>
    <p:spTree>
      <p:nvGrpSpPr>
        <p:cNvPr id="1" name=""/>
        <p:cNvGrpSpPr/>
        <p:nvPr/>
      </p:nvGrpSpPr>
      <p:grpSpPr/>
      <p:sp>
        <p:nvSpPr>
          <p:cNvPr id="2" name="TextBox 1"/>
          <p:cNvSpPr txBox="1"/>
          <p:nvPr/>
        </p:nvSpPr>
        <p:spPr>
          <a:xfrm>
            <a:off x="548640" y="411480"/>
            <a:ext cx="10972800" cy="320040"/>
          </a:xfrm>
          <a:prstGeom prst="rect">
            <a:avLst/>
          </a:prstGeom>
          <a:noFill/>
        </p:spPr>
        <p:txBody>
          <a:bodyPr wrap="none" lIns="0" rIns="0" tIns="0" bIns="0" anchor="t">
            <a:spAutoFit/>
          </a:bodyPr>
          <a:lstStyle/>
          <a:p>
            <a:pPr algn="l">
              <a:lnSpc>
                <a:spcPts val="2160"/>
              </a:lnSpc>
            </a:pPr>
            <a:r>
              <a:rPr sz="1800" b="0" i="0">
                <a:solidFill>
                  <a:srgbClr val="9FB4D1"/>
                </a:solidFill>
                <a:latin typeface="Arial"/>
              </a:rPr>
              <a:t>SCALING  ·  HONEST COMPARISON</a:t>
            </a:r>
          </a:p>
        </p:txBody>
      </p:sp>
      <p:sp>
        <p:nvSpPr>
          <p:cNvPr id="3" name="TextBox 2"/>
          <p:cNvSpPr txBox="1"/>
          <p:nvPr/>
        </p:nvSpPr>
        <p:spPr>
          <a:xfrm>
            <a:off x="548640" y="777240"/>
            <a:ext cx="11155680" cy="594360"/>
          </a:xfrm>
          <a:prstGeom prst="rect">
            <a:avLst/>
          </a:prstGeom>
          <a:noFill/>
        </p:spPr>
        <p:txBody>
          <a:bodyPr wrap="none" lIns="0" rIns="0" tIns="0" bIns="0" anchor="t">
            <a:spAutoFit/>
          </a:bodyPr>
          <a:lstStyle/>
          <a:p>
            <a:pPr algn="l">
              <a:lnSpc>
                <a:spcPts val="4320"/>
              </a:lnSpc>
            </a:pPr>
            <a:r>
              <a:rPr sz="3600" b="1" i="0">
                <a:solidFill>
                  <a:srgbClr val="FAFAFA"/>
                </a:solidFill>
                <a:latin typeface="Arial"/>
              </a:rPr>
              <a:t>Bigger meshes: classical methods win</a:t>
            </a:r>
          </a:p>
        </p:txBody>
      </p:sp>
      <p:pic>
        <p:nvPicPr>
          <p:cNvPr id="4" name="Picture 3" descr="Two line charts, for two equal devices and for CPU plus GPU, of the share of runs with 1,000 tries that find a near-best split, at 12, 16, 20 and 29 qubits. The QAOA line falls from above 90 percent at 12 qubits to below 1 percent at 29 qubits. Local search and simulated annealing also fall but stay higher; spectral bisection stays at 50 percent or more."/>
          <p:cNvPicPr>
            <a:picLocks noChangeAspect="1"/>
          </p:cNvPicPr>
          <p:nvPr/>
        </p:nvPicPr>
        <p:blipFill>
          <a:blip r:embed="rId2"/>
          <a:stretch>
            <a:fillRect/>
          </a:stretch>
        </p:blipFill>
        <p:spPr>
          <a:xfrm>
            <a:off x="365760" y="1417320"/>
            <a:ext cx="7040879" cy="4206240"/>
          </a:xfrm>
          <a:prstGeom prst="rect">
            <a:avLst/>
          </a:prstGeom>
        </p:spPr>
      </p:pic>
      <p:sp>
        <p:nvSpPr>
          <p:cNvPr id="5" name="TextBox 4"/>
          <p:cNvSpPr txBox="1"/>
          <p:nvPr/>
        </p:nvSpPr>
        <p:spPr>
          <a:xfrm>
            <a:off x="411480" y="5669280"/>
            <a:ext cx="7040880" cy="47244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server simulation, noiseless, 10 Oct 2026 (cases 2 and 9, seeds 7-9);</a:t>
            </a:r>
          </a:p>
          <a:p>
            <a:pPr algn="l">
              <a:lnSpc>
                <a:spcPts val="1680"/>
              </a:lnSpc>
            </a:pPr>
            <a:r>
              <a:rPr sz="1400" b="0" i="1">
                <a:solidFill>
                  <a:srgbClr val="9AA3AA"/>
                </a:solidFill>
                <a:latin typeface="Arial"/>
              </a:rPr>
              <a:t>QAOA = our best setting per size; the other lines are classical</a:t>
            </a:r>
          </a:p>
        </p:txBody>
      </p:sp>
      <p:pic>
        <p:nvPicPr>
          <p:cNvPr id="6" name="Picture 5" descr="Horizontal bar chart on a log scale of tries per optimum: random guessing 2,048, simulated annealing 1,181, local search 1,111, IonQ noise model 3.6, noiseless 1.3."/>
          <p:cNvPicPr>
            <a:picLocks noChangeAspect="1"/>
          </p:cNvPicPr>
          <p:nvPr/>
        </p:nvPicPr>
        <p:blipFill>
          <a:blip r:embed="rId3"/>
          <a:stretch>
            <a:fillRect/>
          </a:stretch>
        </p:blipFill>
        <p:spPr>
          <a:xfrm>
            <a:off x="7543800" y="1417320"/>
            <a:ext cx="4297680" cy="3017520"/>
          </a:xfrm>
          <a:prstGeom prst="rect">
            <a:avLst/>
          </a:prstGeom>
        </p:spPr>
      </p:pic>
      <p:sp>
        <p:nvSpPr>
          <p:cNvPr id="7" name="TextBox 6"/>
          <p:cNvSpPr txBox="1"/>
          <p:nvPr/>
        </p:nvSpPr>
        <p:spPr>
          <a:xfrm>
            <a:off x="7589520" y="4480560"/>
            <a:ext cx="4297680" cy="47244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12 qubits: IonQ Forte 1 noise model (Qollab),</a:t>
            </a:r>
          </a:p>
          <a:p>
            <a:pPr algn="l">
              <a:lnSpc>
                <a:spcPts val="1680"/>
              </a:lnSpc>
            </a:pPr>
            <a:r>
              <a:rPr sz="1400" b="0" i="1">
                <a:solidFill>
                  <a:srgbClr val="9AA3AA"/>
                </a:solidFill>
                <a:latin typeface="Arial"/>
              </a:rPr>
              <a:t>classical</a:t>
            </a:r>
          </a:p>
        </p:txBody>
      </p:sp>
      <p:sp>
        <p:nvSpPr>
          <p:cNvPr id="8" name="TextBox 7"/>
          <p:cNvSpPr txBox="1"/>
          <p:nvPr/>
        </p:nvSpPr>
        <p:spPr>
          <a:xfrm>
            <a:off x="7589520" y="5029200"/>
            <a:ext cx="4297680" cy="86868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Caveats: varQITE first needed 7,581</a:t>
            </a:r>
          </a:p>
          <a:p>
            <a:pPr algn="l">
              <a:lnSpc>
                <a:spcPts val="2160"/>
              </a:lnSpc>
            </a:pPr>
            <a:r>
              <a:rPr sz="1800" b="0" i="0">
                <a:solidFill>
                  <a:srgbClr val="FAFAFA"/>
                </a:solidFill>
                <a:latin typeface="Arial"/>
              </a:rPr>
              <a:t>noiseless training circuits. A shot is not</a:t>
            </a:r>
          </a:p>
          <a:p>
            <a:pPr algn="l">
              <a:lnSpc>
                <a:spcPts val="2160"/>
              </a:lnSpc>
            </a:pPr>
            <a:r>
              <a:rPr sz="1800" b="0" i="0">
                <a:solidFill>
                  <a:srgbClr val="FAFAFA"/>
                </a:solidFill>
                <a:latin typeface="Arial"/>
              </a:rPr>
              <a:t>the same work as a classical evaluation.</a:t>
            </a:r>
          </a:p>
        </p:txBody>
      </p:sp>
      <p:sp>
        <p:nvSpPr>
          <p:cNvPr id="9" name="TextBox 8"/>
          <p:cNvSpPr txBox="1"/>
          <p:nvPr/>
        </p:nvSpPr>
        <p:spPr>
          <a:xfrm>
            <a:off x="548640" y="6428232"/>
            <a:ext cx="7315200" cy="228600"/>
          </a:xfrm>
          <a:prstGeom prst="rect">
            <a:avLst/>
          </a:prstGeom>
          <a:noFill/>
        </p:spPr>
        <p:txBody>
          <a:bodyPr wrap="none" lIns="0" rIns="0" tIns="0" bIns="0" anchor="t">
            <a:spAutoFit/>
          </a:bodyPr>
          <a:lstStyle/>
          <a:p>
            <a:pPr algn="l">
              <a:lnSpc>
                <a:spcPts val="1439"/>
              </a:lnSpc>
            </a:pPr>
            <a:r>
              <a:rPr sz="1200" b="0" i="0">
                <a:solidFill>
                  <a:srgbClr val="9AA3AA"/>
                </a:solidFill>
                <a:latin typeface="Arial"/>
              </a:rPr>
              <a:t>ZollerQu - Qollab x IonQ Hackathon 2026</a:t>
            </a:r>
          </a:p>
        </p:txBody>
      </p:sp>
      <p:sp>
        <p:nvSpPr>
          <p:cNvPr id="10" name="TextBox 9"/>
          <p:cNvSpPr txBox="1"/>
          <p:nvPr/>
        </p:nvSpPr>
        <p:spPr>
          <a:xfrm>
            <a:off x="10698480" y="6428232"/>
            <a:ext cx="941832" cy="228600"/>
          </a:xfrm>
          <a:prstGeom prst="rect">
            <a:avLst/>
          </a:prstGeom>
          <a:noFill/>
        </p:spPr>
        <p:txBody>
          <a:bodyPr wrap="none" lIns="0" rIns="0" tIns="0" bIns="0" anchor="t">
            <a:spAutoFit/>
          </a:bodyPr>
          <a:lstStyle/>
          <a:p>
            <a:pPr algn="r">
              <a:lnSpc>
                <a:spcPts val="1439"/>
              </a:lnSpc>
            </a:pPr>
            <a:r>
              <a:rPr sz="1200" b="0" i="0">
                <a:solidFill>
                  <a:srgbClr val="9AA3AA"/>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61B"/>
        </a:solidFill>
        <a:effectLst/>
      </p:bgPr>
    </p:bg>
    <p:spTree>
      <p:nvGrpSpPr>
        <p:cNvPr id="1" name=""/>
        <p:cNvGrpSpPr/>
        <p:nvPr/>
      </p:nvGrpSpPr>
      <p:grpSpPr/>
      <p:sp>
        <p:nvSpPr>
          <p:cNvPr id="2" name="TextBox 1"/>
          <p:cNvSpPr txBox="1"/>
          <p:nvPr/>
        </p:nvSpPr>
        <p:spPr>
          <a:xfrm>
            <a:off x="548640" y="411480"/>
            <a:ext cx="10972800" cy="320040"/>
          </a:xfrm>
          <a:prstGeom prst="rect">
            <a:avLst/>
          </a:prstGeom>
          <a:noFill/>
        </p:spPr>
        <p:txBody>
          <a:bodyPr wrap="none" lIns="0" rIns="0" tIns="0" bIns="0" anchor="t">
            <a:spAutoFit/>
          </a:bodyPr>
          <a:lstStyle/>
          <a:p>
            <a:pPr algn="l">
              <a:lnSpc>
                <a:spcPts val="2160"/>
              </a:lnSpc>
            </a:pPr>
            <a:r>
              <a:rPr sz="1800" b="0" i="0">
                <a:solidFill>
                  <a:srgbClr val="9FB4D1"/>
                </a:solidFill>
                <a:latin typeface="Arial"/>
              </a:rPr>
              <a:t>IMPROVING QAOA  ·  HPC</a:t>
            </a:r>
          </a:p>
        </p:txBody>
      </p:sp>
      <p:sp>
        <p:nvSpPr>
          <p:cNvPr id="3" name="TextBox 2"/>
          <p:cNvSpPr txBox="1"/>
          <p:nvPr/>
        </p:nvSpPr>
        <p:spPr>
          <a:xfrm>
            <a:off x="548640" y="777240"/>
            <a:ext cx="11155680" cy="533400"/>
          </a:xfrm>
          <a:prstGeom prst="rect">
            <a:avLst/>
          </a:prstGeom>
          <a:noFill/>
        </p:spPr>
        <p:txBody>
          <a:bodyPr wrap="none" lIns="0" rIns="0" tIns="0" bIns="0" anchor="t">
            <a:spAutoFit/>
          </a:bodyPr>
          <a:lstStyle/>
          <a:p>
            <a:pPr algn="l">
              <a:lnSpc>
                <a:spcPts val="3840"/>
              </a:lnSpc>
            </a:pPr>
            <a:r>
              <a:rPr sz="3200" b="1" i="0">
                <a:solidFill>
                  <a:srgbClr val="FAFAFA"/>
                </a:solidFill>
                <a:latin typeface="Arial"/>
              </a:rPr>
              <a:t>Tuning QAOA itself: about 20x more near-best answers</a:t>
            </a:r>
          </a:p>
        </p:txBody>
      </p:sp>
      <p:sp>
        <p:nvSpPr>
          <p:cNvPr id="4" name="TextBox 3"/>
          <p:cNvSpPr txBox="1"/>
          <p:nvPr/>
        </p:nvSpPr>
        <p:spPr>
          <a:xfrm>
            <a:off x="548640" y="1463040"/>
            <a:ext cx="4297680" cy="350520"/>
          </a:xfrm>
          <a:prstGeom prst="rect">
            <a:avLst/>
          </a:prstGeom>
          <a:noFill/>
        </p:spPr>
        <p:txBody>
          <a:bodyPr wrap="none" lIns="0" rIns="0" tIns="0" bIns="0" anchor="t">
            <a:spAutoFit/>
          </a:bodyPr>
          <a:lstStyle/>
          <a:p>
            <a:pPr algn="l">
              <a:lnSpc>
                <a:spcPts val="2400"/>
              </a:lnSpc>
            </a:pPr>
            <a:r>
              <a:rPr sz="2000" b="1" i="0">
                <a:solidFill>
                  <a:srgbClr val="9FB4D1"/>
                </a:solidFill>
                <a:latin typeface="Arial"/>
              </a:rPr>
              <a:t>QAOA types we built</a:t>
            </a:r>
          </a:p>
        </p:txBody>
      </p:sp>
      <p:sp>
        <p:nvSpPr>
          <p:cNvPr id="5" name="TextBox 4"/>
          <p:cNvSpPr txBox="1"/>
          <p:nvPr/>
        </p:nvSpPr>
        <p:spPr>
          <a:xfrm>
            <a:off x="548640" y="1874519"/>
            <a:ext cx="4343400" cy="2240279"/>
          </a:xfrm>
          <a:prstGeom prst="rect">
            <a:avLst/>
          </a:prstGeom>
          <a:noFill/>
        </p:spPr>
        <p:txBody>
          <a:bodyPr wrap="none" lIns="0" rIns="0" tIns="0" bIns="0" anchor="t">
            <a:spAutoFit/>
          </a:bodyPr>
          <a:lstStyle/>
          <a:p>
            <a:pPr algn="l">
              <a:lnSpc>
                <a:spcPts val="1920"/>
              </a:lnSpc>
            </a:pPr>
            <a:r>
              <a:rPr sz="1600" b="0" i="0">
                <a:solidFill>
                  <a:srgbClr val="FAFAFA"/>
                </a:solidFill>
                <a:latin typeface="Arial"/>
              </a:rPr>
              <a:t>standard QAOA, all angles tuned</a:t>
            </a:r>
          </a:p>
          <a:p>
            <a:pPr algn="l">
              <a:lnSpc>
                <a:spcPts val="1920"/>
              </a:lnSpc>
            </a:pPr>
            <a:r>
              <a:rPr sz="1600" b="0" i="0">
                <a:solidFill>
                  <a:srgbClr val="FAFAFA"/>
                </a:solidFill>
                <a:latin typeface="Arial"/>
              </a:rPr>
              <a:t>   (5 optimisers: COBYLA, Nelder-Mead,</a:t>
            </a:r>
          </a:p>
          <a:p>
            <a:pPr algn="l">
              <a:lnSpc>
                <a:spcPts val="1920"/>
              </a:lnSpc>
            </a:pPr>
            <a:r>
              <a:rPr sz="1600" b="0" i="0">
                <a:solidFill>
                  <a:srgbClr val="FAFAFA"/>
                </a:solidFill>
                <a:latin typeface="Arial"/>
              </a:rPr>
              <a:t>   Powell, L-BFGS-B, SPSA)</a:t>
            </a:r>
          </a:p>
          <a:p>
            <a:pPr algn="l">
              <a:lnSpc>
                <a:spcPts val="1920"/>
              </a:lnSpc>
            </a:pPr>
            <a:r>
              <a:rPr sz="1600" b="0" i="0">
                <a:solidFill>
                  <a:srgbClr val="FAFAFA"/>
                </a:solidFill>
                <a:latin typeface="Arial"/>
              </a:rPr>
              <a:t>LR-QAOA (linear ramp)</a:t>
            </a:r>
          </a:p>
          <a:p>
            <a:pPr algn="l">
              <a:lnSpc>
                <a:spcPts val="1920"/>
              </a:lnSpc>
            </a:pPr>
            <a:r>
              <a:rPr sz="1600" b="0" i="0">
                <a:solidFill>
                  <a:srgbClr val="FAFAFA"/>
                </a:solidFill>
                <a:latin typeface="Arial"/>
              </a:rPr>
              <a:t>warm-start QAOA (spectral split)</a:t>
            </a:r>
          </a:p>
          <a:p>
            <a:pPr algn="l">
              <a:lnSpc>
                <a:spcPts val="1920"/>
              </a:lnSpc>
            </a:pPr>
            <a:r>
              <a:rPr sz="1600" b="0" i="0">
                <a:solidFill>
                  <a:srgbClr val="FAFAFA"/>
                </a:solidFill>
                <a:latin typeface="Arial"/>
              </a:rPr>
              <a:t>CVaR-QAOA</a:t>
            </a:r>
          </a:p>
          <a:p>
            <a:pPr algn="l">
              <a:lnSpc>
                <a:spcPts val="1920"/>
              </a:lnSpc>
            </a:pPr>
            <a:r>
              <a:rPr sz="1600" b="0" i="0">
                <a:solidFill>
                  <a:srgbClr val="FAFAFA"/>
                </a:solidFill>
                <a:latin typeface="Arial"/>
              </a:rPr>
              <a:t>symmetry-reduced QAOA</a:t>
            </a:r>
          </a:p>
          <a:p>
            <a:pPr algn="l">
              <a:lnSpc>
                <a:spcPts val="1920"/>
              </a:lnSpc>
            </a:pPr>
            <a:r>
              <a:rPr sz="1600" b="0" i="0">
                <a:solidFill>
                  <a:srgbClr val="FAFAFA"/>
                </a:solidFill>
                <a:latin typeface="Arial"/>
              </a:rPr>
              <a:t>Iceberg-protected QAOA (error detection)</a:t>
            </a:r>
          </a:p>
          <a:p>
            <a:pPr algn="l">
              <a:lnSpc>
                <a:spcPts val="1920"/>
              </a:lnSpc>
            </a:pPr>
            <a:r>
              <a:rPr sz="1600" b="0" i="0">
                <a:solidFill>
                  <a:srgbClr val="FAFAFA"/>
                </a:solidFill>
                <a:latin typeface="Arial"/>
              </a:rPr>
              <a:t>device-choice QAOA (many devices)</a:t>
            </a:r>
          </a:p>
        </p:txBody>
      </p:sp>
      <p:sp>
        <p:nvSpPr>
          <p:cNvPr id="6" name="TextBox 5"/>
          <p:cNvSpPr txBox="1"/>
          <p:nvPr/>
        </p:nvSpPr>
        <p:spPr>
          <a:xfrm>
            <a:off x="548640" y="5257800"/>
            <a:ext cx="4297680" cy="47244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settings chosen on 18 separate calibration</a:t>
            </a:r>
          </a:p>
          <a:p>
            <a:pPr algn="l">
              <a:lnSpc>
                <a:spcPts val="1680"/>
              </a:lnSpc>
            </a:pPr>
            <a:r>
              <a:rPr sz="1400" b="0" i="1">
                <a:solidFill>
                  <a:srgbClr val="9AA3AA"/>
                </a:solidFill>
                <a:latin typeface="Arial"/>
              </a:rPr>
              <a:t>meshes, then frozen; scored on unseen meshes</a:t>
            </a:r>
          </a:p>
        </p:txBody>
      </p:sp>
      <p:pic>
        <p:nvPicPr>
          <p:cNvPr id="7" name="Picture 6" descr="Two line charts on a log scale. Left: share of near-best shots at 12 qubits against the number of QAOA layers, rising for tuned QAOA to 7.1 percent for equal devices and 19.5 percent for CPU plus GPU at 8 layers, above LR-QAOA, with crosses for the earlier setting at 2 layers. Right: tuned QAOA with 6 layers at 12, 16 and 20 qubits, falling with size but far above crosses for the earlier best setting at 20 qubits and above random guessing."/>
          <p:cNvPicPr>
            <a:picLocks noChangeAspect="1"/>
          </p:cNvPicPr>
          <p:nvPr/>
        </p:nvPicPr>
        <p:blipFill>
          <a:blip r:embed="rId2"/>
          <a:stretch>
            <a:fillRect/>
          </a:stretch>
        </p:blipFill>
        <p:spPr>
          <a:xfrm>
            <a:off x="4892040" y="1326078"/>
            <a:ext cx="6949439" cy="3867514"/>
          </a:xfrm>
          <a:prstGeom prst="rect">
            <a:avLst/>
          </a:prstGeom>
        </p:spPr>
      </p:pic>
      <p:sp>
        <p:nvSpPr>
          <p:cNvPr id="8" name="TextBox 7"/>
          <p:cNvSpPr txBox="1"/>
          <p:nvPr/>
        </p:nvSpPr>
        <p:spPr>
          <a:xfrm>
            <a:off x="4983480" y="5074920"/>
            <a:ext cx="6858000" cy="685800"/>
          </a:xfrm>
          <a:prstGeom prst="rect">
            <a:avLst/>
          </a:prstGeom>
          <a:noFill/>
        </p:spPr>
        <p:txBody>
          <a:bodyPr wrap="none" lIns="0" rIns="0" tIns="0" bIns="0" anchor="t">
            <a:spAutoFit/>
          </a:bodyPr>
          <a:lstStyle/>
          <a:p>
            <a:pPr algn="l">
              <a:lnSpc>
                <a:spcPts val="1680"/>
              </a:lnSpc>
            </a:pPr>
            <a:r>
              <a:rPr sz="1400" b="0" i="0">
                <a:solidFill>
                  <a:srgbClr val="FAFAFA"/>
                </a:solidFill>
                <a:latin typeface="Arial"/>
              </a:rPr>
              <a:t>12 qubits, 8 layers: 7.1 % / 19.5 % near-best (before 0.36 % / 1.08 %)</a:t>
            </a:r>
          </a:p>
          <a:p>
            <a:pPr algn="l">
              <a:lnSpc>
                <a:spcPts val="1680"/>
              </a:lnSpc>
            </a:pPr>
            <a:r>
              <a:rPr sz="1400" b="0" i="0">
                <a:solidFill>
                  <a:srgbClr val="FAFAFA"/>
                </a:solidFill>
                <a:latin typeface="Arial"/>
              </a:rPr>
              <a:t>20 qubits, 6 layers: 0.62 % / 1.69 % (before 0.014 % / 0.035 %)</a:t>
            </a:r>
          </a:p>
          <a:p>
            <a:pPr algn="l">
              <a:lnSpc>
                <a:spcPts val="1680"/>
              </a:lnSpc>
            </a:pPr>
            <a:r>
              <a:rPr sz="1400" b="0" i="0">
                <a:solidFill>
                  <a:srgbClr val="FAFAFA"/>
                </a:solidFill>
                <a:latin typeface="Arial"/>
              </a:rPr>
              <a:t>29 qubits, 8 layers, found in 1,000 tries: 88 % / 100 % (spectral 50 % / 100 %)</a:t>
            </a:r>
          </a:p>
        </p:txBody>
      </p:sp>
      <p:sp>
        <p:nvSpPr>
          <p:cNvPr id="9" name="TextBox 8"/>
          <p:cNvSpPr txBox="1"/>
          <p:nvPr/>
        </p:nvSpPr>
        <p:spPr>
          <a:xfrm>
            <a:off x="4983480" y="5897880"/>
            <a:ext cx="6858000" cy="47244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per shot, equal devices / CPU + GPU; noiseless simulation, HPC server, 11 Oct 2026;</a:t>
            </a:r>
          </a:p>
          <a:p>
            <a:pPr algn="l">
              <a:lnSpc>
                <a:spcPts val="1680"/>
              </a:lnSpc>
            </a:pPr>
            <a:r>
              <a:rPr sz="1400" b="0" i="1">
                <a:solidFill>
                  <a:srgbClr val="9AA3AA"/>
                </a:solidFill>
                <a:latin typeface="Arial"/>
              </a:rPr>
              <a:t>deeper circuits lose more under noise (0.5 % per gate estimate: best at 5 layers)</a:t>
            </a:r>
          </a:p>
        </p:txBody>
      </p:sp>
      <p:sp>
        <p:nvSpPr>
          <p:cNvPr id="10" name="TextBox 9"/>
          <p:cNvSpPr txBox="1"/>
          <p:nvPr/>
        </p:nvSpPr>
        <p:spPr>
          <a:xfrm>
            <a:off x="548640" y="6428232"/>
            <a:ext cx="7315200" cy="228600"/>
          </a:xfrm>
          <a:prstGeom prst="rect">
            <a:avLst/>
          </a:prstGeom>
          <a:noFill/>
        </p:spPr>
        <p:txBody>
          <a:bodyPr wrap="none" lIns="0" rIns="0" tIns="0" bIns="0" anchor="t">
            <a:spAutoFit/>
          </a:bodyPr>
          <a:lstStyle/>
          <a:p>
            <a:pPr algn="l">
              <a:lnSpc>
                <a:spcPts val="1439"/>
              </a:lnSpc>
            </a:pPr>
            <a:r>
              <a:rPr sz="1200" b="0" i="0">
                <a:solidFill>
                  <a:srgbClr val="9AA3AA"/>
                </a:solidFill>
                <a:latin typeface="Arial"/>
              </a:rPr>
              <a:t>ZollerQu - Qollab x IonQ Hackathon 2026</a:t>
            </a:r>
          </a:p>
        </p:txBody>
      </p:sp>
      <p:sp>
        <p:nvSpPr>
          <p:cNvPr id="11" name="TextBox 10"/>
          <p:cNvSpPr txBox="1"/>
          <p:nvPr/>
        </p:nvSpPr>
        <p:spPr>
          <a:xfrm>
            <a:off x="10698480" y="6428232"/>
            <a:ext cx="941832" cy="228600"/>
          </a:xfrm>
          <a:prstGeom prst="rect">
            <a:avLst/>
          </a:prstGeom>
          <a:noFill/>
        </p:spPr>
        <p:txBody>
          <a:bodyPr wrap="none" lIns="0" rIns="0" tIns="0" bIns="0" anchor="t">
            <a:spAutoFit/>
          </a:bodyPr>
          <a:lstStyle/>
          <a:p>
            <a:pPr algn="r">
              <a:lnSpc>
                <a:spcPts val="1439"/>
              </a:lnSpc>
            </a:pPr>
            <a:r>
              <a:rPr sz="1200" b="0" i="0">
                <a:solidFill>
                  <a:srgbClr val="9AA3AA"/>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61B"/>
        </a:solidFill>
        <a:effectLst/>
      </p:bgPr>
    </p:bg>
    <p:spTree>
      <p:nvGrpSpPr>
        <p:cNvPr id="1" name=""/>
        <p:cNvGrpSpPr/>
        <p:nvPr/>
      </p:nvGrpSpPr>
      <p:grpSpPr/>
      <p:sp>
        <p:nvSpPr>
          <p:cNvPr id="2" name="TextBox 1"/>
          <p:cNvSpPr txBox="1"/>
          <p:nvPr/>
        </p:nvSpPr>
        <p:spPr>
          <a:xfrm>
            <a:off x="548640" y="411480"/>
            <a:ext cx="10972800" cy="320040"/>
          </a:xfrm>
          <a:prstGeom prst="rect">
            <a:avLst/>
          </a:prstGeom>
          <a:noFill/>
        </p:spPr>
        <p:txBody>
          <a:bodyPr wrap="none" lIns="0" rIns="0" tIns="0" bIns="0" anchor="t">
            <a:spAutoFit/>
          </a:bodyPr>
          <a:lstStyle/>
          <a:p>
            <a:pPr algn="l">
              <a:lnSpc>
                <a:spcPts val="2160"/>
              </a:lnSpc>
            </a:pPr>
            <a:r>
              <a:rPr sz="1800" b="0" i="0">
                <a:solidFill>
                  <a:srgbClr val="9FB4D1"/>
                </a:solidFill>
                <a:latin typeface="Arial"/>
              </a:rPr>
              <a:t>DEMO  ·  LIMITS  ·  NEXT STEPS</a:t>
            </a:r>
          </a:p>
        </p:txBody>
      </p:sp>
      <p:sp>
        <p:nvSpPr>
          <p:cNvPr id="3" name="TextBox 2"/>
          <p:cNvSpPr txBox="1"/>
          <p:nvPr/>
        </p:nvSpPr>
        <p:spPr>
          <a:xfrm>
            <a:off x="548640" y="777240"/>
            <a:ext cx="11155680" cy="594360"/>
          </a:xfrm>
          <a:prstGeom prst="rect">
            <a:avLst/>
          </a:prstGeom>
          <a:noFill/>
        </p:spPr>
        <p:txBody>
          <a:bodyPr wrap="none" lIns="0" rIns="0" tIns="0" bIns="0" anchor="t">
            <a:spAutoFit/>
          </a:bodyPr>
          <a:lstStyle/>
          <a:p>
            <a:pPr algn="l">
              <a:lnSpc>
                <a:spcPts val="4320"/>
              </a:lnSpc>
            </a:pPr>
            <a:r>
              <a:rPr sz="3600" b="1" i="0">
                <a:solidFill>
                  <a:srgbClr val="FAFAFA"/>
                </a:solidFill>
                <a:latin typeface="Arial"/>
              </a:rPr>
              <a:t>Run it on Qollab</a:t>
            </a:r>
          </a:p>
        </p:txBody>
      </p:sp>
      <p:pic>
        <p:nvPicPr>
          <p:cNvPr id="4" name="Picture 3" descr="Placeholder for a live Qollab screenshot. It shows lines of the recorded console output: running on ionq_simulator, 1,000 shots, measured P(optimum) 0.2780, and the two optimal splits measured 146 and 132 times."/>
          <p:cNvPicPr>
            <a:picLocks noChangeAspect="1"/>
          </p:cNvPicPr>
          <p:nvPr/>
        </p:nvPicPr>
        <p:blipFill>
          <a:blip r:embed="rId2"/>
          <a:stretch>
            <a:fillRect/>
          </a:stretch>
        </p:blipFill>
        <p:spPr>
          <a:xfrm>
            <a:off x="457200" y="1463040"/>
            <a:ext cx="5257800" cy="3200400"/>
          </a:xfrm>
          <a:prstGeom prst="rect">
            <a:avLst/>
          </a:prstGeom>
        </p:spPr>
      </p:pic>
      <p:sp>
        <p:nvSpPr>
          <p:cNvPr id="5" name="TextBox 4"/>
          <p:cNvSpPr txBox="1"/>
          <p:nvPr/>
        </p:nvSpPr>
        <p:spPr>
          <a:xfrm>
            <a:off x="548640" y="4754880"/>
            <a:ext cx="530352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Qollab project: [pending]      Video: [pending]</a:t>
            </a:r>
          </a:p>
        </p:txBody>
      </p:sp>
      <p:sp>
        <p:nvSpPr>
          <p:cNvPr id="6" name="TextBox 5"/>
          <p:cNvSpPr txBox="1"/>
          <p:nvPr/>
        </p:nvSpPr>
        <p:spPr>
          <a:xfrm>
            <a:off x="548640" y="5138928"/>
            <a:ext cx="530352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GitHub: Oussema-t/zollerqu-qollab (branch mesh)</a:t>
            </a:r>
          </a:p>
        </p:txBody>
      </p:sp>
      <p:sp>
        <p:nvSpPr>
          <p:cNvPr id="7" name="TextBox 6"/>
          <p:cNvSpPr txBox="1"/>
          <p:nvPr/>
        </p:nvSpPr>
        <p:spPr>
          <a:xfrm>
            <a:off x="6126480" y="1463040"/>
            <a:ext cx="5669280" cy="411479"/>
          </a:xfrm>
          <a:prstGeom prst="rect">
            <a:avLst/>
          </a:prstGeom>
          <a:noFill/>
        </p:spPr>
        <p:txBody>
          <a:bodyPr wrap="none" lIns="0" rIns="0" tIns="0" bIns="0" anchor="t">
            <a:spAutoFit/>
          </a:bodyPr>
          <a:lstStyle/>
          <a:p>
            <a:pPr algn="l">
              <a:lnSpc>
                <a:spcPts val="2879"/>
              </a:lnSpc>
            </a:pPr>
            <a:r>
              <a:rPr sz="2400" b="1" i="0">
                <a:solidFill>
                  <a:srgbClr val="9FB4D1"/>
                </a:solidFill>
                <a:latin typeface="Arial"/>
              </a:rPr>
              <a:t>Limits</a:t>
            </a:r>
          </a:p>
        </p:txBody>
      </p:sp>
      <p:sp>
        <p:nvSpPr>
          <p:cNvPr id="8" name="TextBox 7"/>
          <p:cNvSpPr txBox="1"/>
          <p:nvPr/>
        </p:nvSpPr>
        <p:spPr>
          <a:xfrm>
            <a:off x="6126480" y="1920240"/>
            <a:ext cx="5669280" cy="114300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1. A noisy simulator, not hardware.</a:t>
            </a:r>
          </a:p>
          <a:p>
            <a:pPr algn="l">
              <a:lnSpc>
                <a:spcPts val="2160"/>
              </a:lnSpc>
            </a:pPr>
            <a:r>
              <a:rPr sz="1800" b="0" i="0">
                <a:solidFill>
                  <a:srgbClr val="FAFAFA"/>
                </a:solidFill>
                <a:latin typeface="Arial"/>
              </a:rPr>
              <a:t>2. CPU + GPU: the varQITE circuit fails. One</a:t>
            </a:r>
          </a:p>
          <a:p>
            <a:pPr algn="l">
              <a:lnSpc>
                <a:spcPts val="2160"/>
              </a:lnSpc>
            </a:pPr>
            <a:r>
              <a:rPr sz="1800" b="0" i="0">
                <a:solidFill>
                  <a:srgbClr val="FAFAFA"/>
                </a:solidFill>
                <a:latin typeface="Arial"/>
              </a:rPr>
              <a:t>    qubit stays 50/50, and we proved why.</a:t>
            </a:r>
          </a:p>
          <a:p>
            <a:pPr algn="l">
              <a:lnSpc>
                <a:spcPts val="2160"/>
              </a:lnSpc>
            </a:pPr>
            <a:r>
              <a:rPr sz="1800" b="0" i="0">
                <a:solidFill>
                  <a:srgbClr val="FAFAFA"/>
                </a:solidFill>
                <a:latin typeface="Arial"/>
              </a:rPr>
              <a:t>3. Beyond 12 qubits, classical methods win.</a:t>
            </a:r>
          </a:p>
        </p:txBody>
      </p:sp>
      <p:sp>
        <p:nvSpPr>
          <p:cNvPr id="9" name="TextBox 8"/>
          <p:cNvSpPr txBox="1"/>
          <p:nvPr/>
        </p:nvSpPr>
        <p:spPr>
          <a:xfrm>
            <a:off x="6126480" y="3611880"/>
            <a:ext cx="5669280" cy="411479"/>
          </a:xfrm>
          <a:prstGeom prst="rect">
            <a:avLst/>
          </a:prstGeom>
          <a:noFill/>
        </p:spPr>
        <p:txBody>
          <a:bodyPr wrap="none" lIns="0" rIns="0" tIns="0" bIns="0" anchor="t">
            <a:spAutoFit/>
          </a:bodyPr>
          <a:lstStyle/>
          <a:p>
            <a:pPr algn="l">
              <a:lnSpc>
                <a:spcPts val="2879"/>
              </a:lnSpc>
            </a:pPr>
            <a:r>
              <a:rPr sz="2400" b="1" i="0">
                <a:solidFill>
                  <a:srgbClr val="9FB4D1"/>
                </a:solidFill>
                <a:latin typeface="Arial"/>
              </a:rPr>
              <a:t>Next steps</a:t>
            </a:r>
          </a:p>
        </p:txBody>
      </p:sp>
      <p:sp>
        <p:nvSpPr>
          <p:cNvPr id="10" name="TextBox 9"/>
          <p:cNvSpPr txBox="1"/>
          <p:nvPr/>
        </p:nvSpPr>
        <p:spPr>
          <a:xfrm>
            <a:off x="6126480" y="4069080"/>
            <a:ext cx="5669280" cy="86868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1. Run the other circuits on the noise model.</a:t>
            </a:r>
          </a:p>
          <a:p>
            <a:pPr algn="l">
              <a:lnSpc>
                <a:spcPts val="2160"/>
              </a:lnSpc>
            </a:pPr>
            <a:r>
              <a:rPr sz="1800" b="0" i="0">
                <a:solidFill>
                  <a:srgbClr val="FAFAFA"/>
                </a:solidFill>
                <a:latin typeface="Arial"/>
              </a:rPr>
              <a:t>2. Repair the circuit for unequal shares.</a:t>
            </a:r>
          </a:p>
          <a:p>
            <a:pPr algn="l">
              <a:lnSpc>
                <a:spcPts val="2160"/>
              </a:lnSpc>
            </a:pPr>
            <a:r>
              <a:rPr sz="1800" b="0" i="0">
                <a:solidFill>
                  <a:srgbClr val="FAFAFA"/>
                </a:solidFill>
                <a:latin typeface="Arial"/>
              </a:rPr>
              <a:t>3. Split between more than two devices.</a:t>
            </a:r>
          </a:p>
        </p:txBody>
      </p:sp>
      <p:sp>
        <p:nvSpPr>
          <p:cNvPr id="11" name="TextBox 10"/>
          <p:cNvSpPr txBox="1"/>
          <p:nvPr/>
        </p:nvSpPr>
        <p:spPr>
          <a:xfrm>
            <a:off x="548640" y="5760720"/>
            <a:ext cx="10972800" cy="350520"/>
          </a:xfrm>
          <a:prstGeom prst="rect">
            <a:avLst/>
          </a:prstGeom>
          <a:noFill/>
        </p:spPr>
        <p:txBody>
          <a:bodyPr wrap="none" lIns="0" rIns="0" tIns="0" bIns="0" anchor="t">
            <a:spAutoFit/>
          </a:bodyPr>
          <a:lstStyle/>
          <a:p>
            <a:pPr algn="l">
              <a:lnSpc>
                <a:spcPts val="2400"/>
              </a:lnSpc>
            </a:pPr>
            <a:r>
              <a:rPr sz="2000" b="0" i="0">
                <a:solidFill>
                  <a:srgbClr val="FAFAFA"/>
                </a:solidFill>
                <a:latin typeface="Arial"/>
              </a:rPr>
              <a:t>This effort is supported by Qollab &amp; IonQ</a:t>
            </a:r>
          </a:p>
        </p:txBody>
      </p:sp>
      <p:sp>
        <p:nvSpPr>
          <p:cNvPr id="12" name="TextBox 11"/>
          <p:cNvSpPr txBox="1"/>
          <p:nvPr/>
        </p:nvSpPr>
        <p:spPr>
          <a:xfrm>
            <a:off x="548640" y="6428232"/>
            <a:ext cx="7315200" cy="228600"/>
          </a:xfrm>
          <a:prstGeom prst="rect">
            <a:avLst/>
          </a:prstGeom>
          <a:noFill/>
        </p:spPr>
        <p:txBody>
          <a:bodyPr wrap="none" lIns="0" rIns="0" tIns="0" bIns="0" anchor="t">
            <a:spAutoFit/>
          </a:bodyPr>
          <a:lstStyle/>
          <a:p>
            <a:pPr algn="l">
              <a:lnSpc>
                <a:spcPts val="1439"/>
              </a:lnSpc>
            </a:pPr>
            <a:r>
              <a:rPr sz="1200" b="0" i="0">
                <a:solidFill>
                  <a:srgbClr val="9AA3AA"/>
                </a:solidFill>
                <a:latin typeface="Arial"/>
              </a:rPr>
              <a:t>ZollerQu - Qollab x IonQ Hackathon 2026</a:t>
            </a:r>
          </a:p>
        </p:txBody>
      </p:sp>
      <p:sp>
        <p:nvSpPr>
          <p:cNvPr id="13" name="TextBox 12"/>
          <p:cNvSpPr txBox="1"/>
          <p:nvPr/>
        </p:nvSpPr>
        <p:spPr>
          <a:xfrm>
            <a:off x="10698480" y="6428232"/>
            <a:ext cx="941832" cy="228600"/>
          </a:xfrm>
          <a:prstGeom prst="rect">
            <a:avLst/>
          </a:prstGeom>
          <a:noFill/>
        </p:spPr>
        <p:txBody>
          <a:bodyPr wrap="none" lIns="0" rIns="0" tIns="0" bIns="0" anchor="t">
            <a:spAutoFit/>
          </a:bodyPr>
          <a:lstStyle/>
          <a:p>
            <a:pPr algn="r">
              <a:lnSpc>
                <a:spcPts val="1439"/>
              </a:lnSpc>
            </a:pPr>
            <a:r>
              <a:rPr sz="1200" b="0" i="0">
                <a:solidFill>
                  <a:srgbClr val="9AA3A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61B"/>
        </a:solidFill>
        <a:effectLst/>
      </p:bgPr>
    </p:bg>
    <p:spTree>
      <p:nvGrpSpPr>
        <p:cNvPr id="1" name=""/>
        <p:cNvGrpSpPr/>
        <p:nvPr/>
      </p:nvGrpSpPr>
      <p:grpSpPr/>
      <p:sp>
        <p:nvSpPr>
          <p:cNvPr id="2" name="TextBox 1"/>
          <p:cNvSpPr txBox="1"/>
          <p:nvPr/>
        </p:nvSpPr>
        <p:spPr>
          <a:xfrm>
            <a:off x="548640" y="411480"/>
            <a:ext cx="10972800" cy="320040"/>
          </a:xfrm>
          <a:prstGeom prst="rect">
            <a:avLst/>
          </a:prstGeom>
          <a:noFill/>
        </p:spPr>
        <p:txBody>
          <a:bodyPr wrap="none" lIns="0" rIns="0" tIns="0" bIns="0" anchor="t">
            <a:spAutoFit/>
          </a:bodyPr>
          <a:lstStyle/>
          <a:p>
            <a:pPr algn="l">
              <a:lnSpc>
                <a:spcPts val="2160"/>
              </a:lnSpc>
            </a:pPr>
            <a:r>
              <a:rPr sz="1800" b="0" i="0">
                <a:solidFill>
                  <a:srgbClr val="9FB4D1"/>
                </a:solidFill>
                <a:latin typeface="Arial"/>
              </a:rPr>
              <a:t>APPENDIX</a:t>
            </a:r>
          </a:p>
        </p:txBody>
      </p:sp>
      <p:sp>
        <p:nvSpPr>
          <p:cNvPr id="3" name="TextBox 2"/>
          <p:cNvSpPr txBox="1"/>
          <p:nvPr/>
        </p:nvSpPr>
        <p:spPr>
          <a:xfrm>
            <a:off x="548640" y="777240"/>
            <a:ext cx="11155680" cy="594360"/>
          </a:xfrm>
          <a:prstGeom prst="rect">
            <a:avLst/>
          </a:prstGeom>
          <a:noFill/>
        </p:spPr>
        <p:txBody>
          <a:bodyPr wrap="none" lIns="0" rIns="0" tIns="0" bIns="0" anchor="t">
            <a:spAutoFit/>
          </a:bodyPr>
          <a:lstStyle/>
          <a:p>
            <a:pPr algn="l">
              <a:lnSpc>
                <a:spcPts val="4320"/>
              </a:lnSpc>
            </a:pPr>
            <a:r>
              <a:rPr sz="3600" b="1" i="0">
                <a:solidFill>
                  <a:srgbClr val="FAFAFA"/>
                </a:solidFill>
                <a:latin typeface="Arial"/>
              </a:rPr>
              <a:t>Both device scenarios at 12 qubits</a:t>
            </a:r>
          </a:p>
        </p:txBody>
      </p:sp>
      <p:sp>
        <p:nvSpPr>
          <p:cNvPr id="4" name="Rounded Rectangle 3"/>
          <p:cNvSpPr/>
          <p:nvPr/>
        </p:nvSpPr>
        <p:spPr>
          <a:xfrm>
            <a:off x="548640" y="1572768"/>
            <a:ext cx="11109960" cy="731520"/>
          </a:xfrm>
          <a:prstGeom prst="roundRect">
            <a:avLst>
              <a:gd name="adj" fmla="val 15000"/>
            </a:avLst>
          </a:prstGeom>
          <a:solidFill>
            <a:srgbClr val="1A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2011680" cy="320040"/>
          </a:xfrm>
          <a:prstGeom prst="rect">
            <a:avLst/>
          </a:prstGeom>
          <a:noFill/>
        </p:spPr>
        <p:txBody>
          <a:bodyPr wrap="none" lIns="0" rIns="0" tIns="0" bIns="0" anchor="t">
            <a:spAutoFit/>
          </a:bodyPr>
          <a:lstStyle/>
          <a:p>
            <a:pPr algn="l">
              <a:lnSpc>
                <a:spcPts val="2160"/>
              </a:lnSpc>
            </a:pPr>
            <a:r>
              <a:rPr sz="1800" b="1" i="0">
                <a:solidFill>
                  <a:srgbClr val="9FB4D1"/>
                </a:solidFill>
                <a:latin typeface="Arial"/>
              </a:rPr>
              <a:t>Scenario</a:t>
            </a:r>
          </a:p>
        </p:txBody>
      </p:sp>
      <p:sp>
        <p:nvSpPr>
          <p:cNvPr id="6" name="TextBox 5"/>
          <p:cNvSpPr txBox="1"/>
          <p:nvPr/>
        </p:nvSpPr>
        <p:spPr>
          <a:xfrm>
            <a:off x="2788920" y="1737360"/>
            <a:ext cx="3291840" cy="320040"/>
          </a:xfrm>
          <a:prstGeom prst="rect">
            <a:avLst/>
          </a:prstGeom>
          <a:noFill/>
        </p:spPr>
        <p:txBody>
          <a:bodyPr wrap="none" lIns="0" rIns="0" tIns="0" bIns="0" anchor="t">
            <a:spAutoFit/>
          </a:bodyPr>
          <a:lstStyle/>
          <a:p>
            <a:pPr algn="l">
              <a:lnSpc>
                <a:spcPts val="2160"/>
              </a:lnSpc>
            </a:pPr>
            <a:r>
              <a:rPr sz="1800" b="1" i="0">
                <a:solidFill>
                  <a:srgbClr val="9FB4D1"/>
                </a:solidFill>
                <a:latin typeface="Arial"/>
              </a:rPr>
              <a:t>Circuit (two-qubit gates)</a:t>
            </a:r>
          </a:p>
        </p:txBody>
      </p:sp>
      <p:sp>
        <p:nvSpPr>
          <p:cNvPr id="7" name="TextBox 6"/>
          <p:cNvSpPr txBox="1"/>
          <p:nvPr/>
        </p:nvSpPr>
        <p:spPr>
          <a:xfrm>
            <a:off x="6080760" y="1737360"/>
            <a:ext cx="1188720" cy="320040"/>
          </a:xfrm>
          <a:prstGeom prst="rect">
            <a:avLst/>
          </a:prstGeom>
          <a:noFill/>
        </p:spPr>
        <p:txBody>
          <a:bodyPr wrap="none" lIns="0" rIns="0" tIns="0" bIns="0" anchor="t">
            <a:spAutoFit/>
          </a:bodyPr>
          <a:lstStyle/>
          <a:p>
            <a:pPr algn="l">
              <a:lnSpc>
                <a:spcPts val="2160"/>
              </a:lnSpc>
            </a:pPr>
            <a:r>
              <a:rPr sz="1800" b="1" i="0">
                <a:solidFill>
                  <a:srgbClr val="9FB4D1"/>
                </a:solidFill>
                <a:latin typeface="Arial"/>
              </a:rPr>
              <a:t>Random</a:t>
            </a:r>
          </a:p>
        </p:txBody>
      </p:sp>
      <p:sp>
        <p:nvSpPr>
          <p:cNvPr id="8" name="TextBox 7"/>
          <p:cNvSpPr txBox="1"/>
          <p:nvPr/>
        </p:nvSpPr>
        <p:spPr>
          <a:xfrm>
            <a:off x="7269480" y="1737360"/>
            <a:ext cx="2331720" cy="320040"/>
          </a:xfrm>
          <a:prstGeom prst="rect">
            <a:avLst/>
          </a:prstGeom>
          <a:noFill/>
        </p:spPr>
        <p:txBody>
          <a:bodyPr wrap="none" lIns="0" rIns="0" tIns="0" bIns="0" anchor="t">
            <a:spAutoFit/>
          </a:bodyPr>
          <a:lstStyle/>
          <a:p>
            <a:pPr algn="l">
              <a:lnSpc>
                <a:spcPts val="2160"/>
              </a:lnSpc>
            </a:pPr>
            <a:r>
              <a:rPr sz="1800" b="1" i="0">
                <a:solidFill>
                  <a:srgbClr val="9FB4D1"/>
                </a:solidFill>
                <a:latin typeface="Arial"/>
              </a:rPr>
              <a:t>Noiseless</a:t>
            </a:r>
          </a:p>
        </p:txBody>
      </p:sp>
      <p:sp>
        <p:nvSpPr>
          <p:cNvPr id="9" name="TextBox 8"/>
          <p:cNvSpPr txBox="1"/>
          <p:nvPr/>
        </p:nvSpPr>
        <p:spPr>
          <a:xfrm>
            <a:off x="9646920" y="1737360"/>
            <a:ext cx="1965960" cy="320040"/>
          </a:xfrm>
          <a:prstGeom prst="rect">
            <a:avLst/>
          </a:prstGeom>
          <a:noFill/>
        </p:spPr>
        <p:txBody>
          <a:bodyPr wrap="none" lIns="0" rIns="0" tIns="0" bIns="0" anchor="t">
            <a:spAutoFit/>
          </a:bodyPr>
          <a:lstStyle/>
          <a:p>
            <a:pPr algn="l">
              <a:lnSpc>
                <a:spcPts val="2160"/>
              </a:lnSpc>
            </a:pPr>
            <a:r>
              <a:rPr sz="1800" b="1" i="0">
                <a:solidFill>
                  <a:srgbClr val="9FB4D1"/>
                </a:solidFill>
                <a:latin typeface="Arial"/>
              </a:rPr>
              <a:t>IonQ noise model</a:t>
            </a:r>
          </a:p>
        </p:txBody>
      </p:sp>
      <p:sp>
        <p:nvSpPr>
          <p:cNvPr id="10" name="Rounded Rectangle 9"/>
          <p:cNvSpPr/>
          <p:nvPr/>
        </p:nvSpPr>
        <p:spPr>
          <a:xfrm>
            <a:off x="548640" y="2441447"/>
            <a:ext cx="11109960" cy="731520"/>
          </a:xfrm>
          <a:prstGeom prst="roundRect">
            <a:avLst>
              <a:gd name="adj" fmla="val 15000"/>
            </a:avLst>
          </a:prstGeom>
          <a:solidFill>
            <a:srgbClr val="1A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606039"/>
            <a:ext cx="201168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2 equal devices</a:t>
            </a:r>
          </a:p>
        </p:txBody>
      </p:sp>
      <p:sp>
        <p:nvSpPr>
          <p:cNvPr id="12" name="TextBox 11"/>
          <p:cNvSpPr txBox="1"/>
          <p:nvPr/>
        </p:nvSpPr>
        <p:spPr>
          <a:xfrm>
            <a:off x="2788920" y="2606039"/>
            <a:ext cx="329184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varQITE ZY (66)</a:t>
            </a:r>
          </a:p>
        </p:txBody>
      </p:sp>
      <p:sp>
        <p:nvSpPr>
          <p:cNvPr id="13" name="TextBox 12"/>
          <p:cNvSpPr txBox="1"/>
          <p:nvPr/>
        </p:nvSpPr>
        <p:spPr>
          <a:xfrm>
            <a:off x="6080760" y="2606039"/>
            <a:ext cx="118872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0.049 %</a:t>
            </a:r>
          </a:p>
        </p:txBody>
      </p:sp>
      <p:sp>
        <p:nvSpPr>
          <p:cNvPr id="14" name="TextBox 13"/>
          <p:cNvSpPr txBox="1"/>
          <p:nvPr/>
        </p:nvSpPr>
        <p:spPr>
          <a:xfrm>
            <a:off x="7269480" y="2606039"/>
            <a:ext cx="233172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75.0 %</a:t>
            </a:r>
          </a:p>
        </p:txBody>
      </p:sp>
      <p:sp>
        <p:nvSpPr>
          <p:cNvPr id="15" name="TextBox 14"/>
          <p:cNvSpPr txBox="1"/>
          <p:nvPr/>
        </p:nvSpPr>
        <p:spPr>
          <a:xfrm>
            <a:off x="9646920" y="2606039"/>
            <a:ext cx="1965960" cy="320040"/>
          </a:xfrm>
          <a:prstGeom prst="rect">
            <a:avLst/>
          </a:prstGeom>
          <a:noFill/>
        </p:spPr>
        <p:txBody>
          <a:bodyPr wrap="none" lIns="0" rIns="0" tIns="0" bIns="0" anchor="t">
            <a:spAutoFit/>
          </a:bodyPr>
          <a:lstStyle/>
          <a:p>
            <a:pPr algn="l">
              <a:lnSpc>
                <a:spcPts val="2160"/>
              </a:lnSpc>
            </a:pPr>
            <a:r>
              <a:rPr sz="1800" b="1" i="0">
                <a:solidFill>
                  <a:srgbClr val="F89B33"/>
                </a:solidFill>
                <a:latin typeface="Arial"/>
              </a:rPr>
              <a:t>27.8 %</a:t>
            </a:r>
          </a:p>
        </p:txBody>
      </p:sp>
      <p:sp>
        <p:nvSpPr>
          <p:cNvPr id="16" name="Rounded Rectangle 15"/>
          <p:cNvSpPr/>
          <p:nvPr/>
        </p:nvSpPr>
        <p:spPr>
          <a:xfrm>
            <a:off x="548640" y="3310127"/>
            <a:ext cx="11109960" cy="731520"/>
          </a:xfrm>
          <a:prstGeom prst="roundRect">
            <a:avLst>
              <a:gd name="adj" fmla="val 15000"/>
            </a:avLst>
          </a:prstGeom>
          <a:solidFill>
            <a:srgbClr val="1A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474720"/>
            <a:ext cx="201168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CPU + GPU</a:t>
            </a:r>
          </a:p>
        </p:txBody>
      </p:sp>
      <p:sp>
        <p:nvSpPr>
          <p:cNvPr id="18" name="TextBox 17"/>
          <p:cNvSpPr txBox="1"/>
          <p:nvPr/>
        </p:nvSpPr>
        <p:spPr>
          <a:xfrm>
            <a:off x="2788920" y="3474720"/>
            <a:ext cx="329184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CVaR-QAOA, p = 2 (132)</a:t>
            </a:r>
          </a:p>
        </p:txBody>
      </p:sp>
      <p:sp>
        <p:nvSpPr>
          <p:cNvPr id="19" name="TextBox 18"/>
          <p:cNvSpPr txBox="1"/>
          <p:nvPr/>
        </p:nvSpPr>
        <p:spPr>
          <a:xfrm>
            <a:off x="6080760" y="3474720"/>
            <a:ext cx="118872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0.024 %</a:t>
            </a:r>
          </a:p>
        </p:txBody>
      </p:sp>
      <p:sp>
        <p:nvSpPr>
          <p:cNvPr id="20" name="TextBox 19"/>
          <p:cNvSpPr txBox="1"/>
          <p:nvPr/>
        </p:nvSpPr>
        <p:spPr>
          <a:xfrm>
            <a:off x="7269480" y="3474720"/>
            <a:ext cx="233172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0.58 %</a:t>
            </a:r>
          </a:p>
        </p:txBody>
      </p:sp>
      <p:sp>
        <p:nvSpPr>
          <p:cNvPr id="21" name="TextBox 20"/>
          <p:cNvSpPr txBox="1"/>
          <p:nvPr/>
        </p:nvSpPr>
        <p:spPr>
          <a:xfrm>
            <a:off x="9646920" y="3474720"/>
            <a:ext cx="196596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[pending]</a:t>
            </a:r>
          </a:p>
        </p:txBody>
      </p:sp>
      <p:sp>
        <p:nvSpPr>
          <p:cNvPr id="22" name="Rounded Rectangle 21"/>
          <p:cNvSpPr/>
          <p:nvPr/>
        </p:nvSpPr>
        <p:spPr>
          <a:xfrm>
            <a:off x="548640" y="4178808"/>
            <a:ext cx="11109960" cy="731520"/>
          </a:xfrm>
          <a:prstGeom prst="roundRect">
            <a:avLst>
              <a:gd name="adj" fmla="val 15000"/>
            </a:avLst>
          </a:prstGeom>
          <a:solidFill>
            <a:srgbClr val="1A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43400"/>
            <a:ext cx="201168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CPU + GPU</a:t>
            </a:r>
          </a:p>
        </p:txBody>
      </p:sp>
      <p:sp>
        <p:nvSpPr>
          <p:cNvPr id="24" name="TextBox 23"/>
          <p:cNvSpPr txBox="1"/>
          <p:nvPr/>
        </p:nvSpPr>
        <p:spPr>
          <a:xfrm>
            <a:off x="2788920" y="4343400"/>
            <a:ext cx="329184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varQITE ZY (66)</a:t>
            </a:r>
          </a:p>
        </p:txBody>
      </p:sp>
      <p:sp>
        <p:nvSpPr>
          <p:cNvPr id="25" name="TextBox 24"/>
          <p:cNvSpPr txBox="1"/>
          <p:nvPr/>
        </p:nvSpPr>
        <p:spPr>
          <a:xfrm>
            <a:off x="6080760" y="4343400"/>
            <a:ext cx="118872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0.024 %</a:t>
            </a:r>
          </a:p>
        </p:txBody>
      </p:sp>
      <p:sp>
        <p:nvSpPr>
          <p:cNvPr id="26" name="TextBox 25"/>
          <p:cNvSpPr txBox="1"/>
          <p:nvPr/>
        </p:nvSpPr>
        <p:spPr>
          <a:xfrm>
            <a:off x="7269480" y="4343400"/>
            <a:ext cx="233172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0.00 % (cap proved)</a:t>
            </a:r>
          </a:p>
        </p:txBody>
      </p:sp>
      <p:sp>
        <p:nvSpPr>
          <p:cNvPr id="27" name="TextBox 26"/>
          <p:cNvSpPr txBox="1"/>
          <p:nvPr/>
        </p:nvSpPr>
        <p:spPr>
          <a:xfrm>
            <a:off x="9646920" y="4343400"/>
            <a:ext cx="1965960" cy="320040"/>
          </a:xfrm>
          <a:prstGeom prst="rect">
            <a:avLst/>
          </a:prstGeom>
          <a:noFill/>
        </p:spPr>
        <p:txBody>
          <a:bodyPr wrap="none" lIns="0" rIns="0" tIns="0" bIns="0" anchor="t">
            <a:spAutoFit/>
          </a:bodyPr>
          <a:lstStyle/>
          <a:p>
            <a:pPr algn="l">
              <a:lnSpc>
                <a:spcPts val="2160"/>
              </a:lnSpc>
            </a:pPr>
            <a:r>
              <a:rPr sz="1800" b="0" i="0">
                <a:solidFill>
                  <a:srgbClr val="FAFAFA"/>
                </a:solidFill>
                <a:latin typeface="Arial"/>
              </a:rPr>
              <a:t>[pending]</a:t>
            </a:r>
          </a:p>
        </p:txBody>
      </p:sp>
      <p:sp>
        <p:nvSpPr>
          <p:cNvPr id="28" name="TextBox 27"/>
          <p:cNvSpPr txBox="1"/>
          <p:nvPr/>
        </p:nvSpPr>
        <p:spPr>
          <a:xfrm>
            <a:off x="548640" y="5349240"/>
            <a:ext cx="10972800" cy="320040"/>
          </a:xfrm>
          <a:prstGeom prst="rect">
            <a:avLst/>
          </a:prstGeom>
          <a:noFill/>
        </p:spPr>
        <p:txBody>
          <a:bodyPr wrap="none" lIns="0" rIns="0" tIns="0" bIns="0" anchor="t">
            <a:spAutoFit/>
          </a:bodyPr>
          <a:lstStyle/>
          <a:p>
            <a:pPr algn="l">
              <a:lnSpc>
                <a:spcPts val="2160"/>
              </a:lnSpc>
            </a:pPr>
            <a:r>
              <a:rPr sz="1800" b="0" i="0">
                <a:solidFill>
                  <a:srgbClr val="9AA3AA"/>
                </a:solidFill>
                <a:latin typeface="Arial"/>
              </a:rPr>
              <a:t>Share of shots that are the exact best split. The noisy runs for CPU + GPU are still to be made.</a:t>
            </a:r>
          </a:p>
        </p:txBody>
      </p:sp>
      <p:sp>
        <p:nvSpPr>
          <p:cNvPr id="29" name="TextBox 28"/>
          <p:cNvSpPr txBox="1"/>
          <p:nvPr/>
        </p:nvSpPr>
        <p:spPr>
          <a:xfrm>
            <a:off x="548640" y="5806440"/>
            <a:ext cx="10972800" cy="259080"/>
          </a:xfrm>
          <a:prstGeom prst="rect">
            <a:avLst/>
          </a:prstGeom>
          <a:noFill/>
        </p:spPr>
        <p:txBody>
          <a:bodyPr wrap="none" lIns="0" rIns="0" tIns="0" bIns="0" anchor="t">
            <a:spAutoFit/>
          </a:bodyPr>
          <a:lstStyle/>
          <a:p>
            <a:pPr algn="l">
              <a:lnSpc>
                <a:spcPts val="1680"/>
              </a:lnSpc>
            </a:pPr>
            <a:r>
              <a:rPr sz="1400" b="0" i="1">
                <a:solidFill>
                  <a:srgbClr val="9AA3AA"/>
                </a:solidFill>
                <a:latin typeface="Arial"/>
              </a:rPr>
              <a:t>random, noiseless: noiseless simulation; last column: IonQ Forte 1 noise model (Qollab), 11 Oct 2026</a:t>
            </a:r>
          </a:p>
        </p:txBody>
      </p:sp>
      <p:sp>
        <p:nvSpPr>
          <p:cNvPr id="30" name="TextBox 29"/>
          <p:cNvSpPr txBox="1"/>
          <p:nvPr/>
        </p:nvSpPr>
        <p:spPr>
          <a:xfrm>
            <a:off x="548640" y="6428232"/>
            <a:ext cx="7315200" cy="228600"/>
          </a:xfrm>
          <a:prstGeom prst="rect">
            <a:avLst/>
          </a:prstGeom>
          <a:noFill/>
        </p:spPr>
        <p:txBody>
          <a:bodyPr wrap="none" lIns="0" rIns="0" tIns="0" bIns="0" anchor="t">
            <a:spAutoFit/>
          </a:bodyPr>
          <a:lstStyle/>
          <a:p>
            <a:pPr algn="l">
              <a:lnSpc>
                <a:spcPts val="1439"/>
              </a:lnSpc>
            </a:pPr>
            <a:r>
              <a:rPr sz="1200" b="0" i="0">
                <a:solidFill>
                  <a:srgbClr val="9AA3AA"/>
                </a:solidFill>
                <a:latin typeface="Arial"/>
              </a:rPr>
              <a:t>ZollerQu - Qollab x IonQ Hackathon 2026</a:t>
            </a:r>
          </a:p>
        </p:txBody>
      </p:sp>
      <p:sp>
        <p:nvSpPr>
          <p:cNvPr id="31" name="TextBox 30"/>
          <p:cNvSpPr txBox="1"/>
          <p:nvPr/>
        </p:nvSpPr>
        <p:spPr>
          <a:xfrm>
            <a:off x="10698480" y="6428232"/>
            <a:ext cx="941832" cy="228600"/>
          </a:xfrm>
          <a:prstGeom prst="rect">
            <a:avLst/>
          </a:prstGeom>
          <a:noFill/>
        </p:spPr>
        <p:txBody>
          <a:bodyPr wrap="none" lIns="0" rIns="0" tIns="0" bIns="0" anchor="t">
            <a:spAutoFit/>
          </a:bodyPr>
          <a:lstStyle/>
          <a:p>
            <a:pPr algn="r">
              <a:lnSpc>
                <a:spcPts val="1439"/>
              </a:lnSpc>
            </a:pPr>
            <a:r>
              <a:rPr sz="1200" b="0" i="0">
                <a:solidFill>
                  <a:srgbClr val="9AA3AA"/>
                </a:solidFill>
                <a:latin typeface="Arial"/>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ZollerQu - mesh partitioning on IonQ</dc:title>
  <dc:subject/>
  <dc:creator>Oussama Turki, Tushar Pandey (Team ZollerQu)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